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0" r:id="rId4"/>
    <p:sldId id="261" r:id="rId5"/>
    <p:sldId id="262" r:id="rId6"/>
    <p:sldId id="26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9573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Step 6 is the deformation stage. We compare a baseline scan, T0, with a later scan, Tn, and measure how the tunnel surface moved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Step 6 is the sixth of seven steps. It runs after T0 and Tn are cleaned and registered, and does four things: measure displacement, quantify it, classify risk, and optionally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M3C2: at each point we project the T0-to-Tn change onto the surface normal, giving a signed distance. Negative means inward. Only values above the </a:t>
            </a:r>
            <a:r>
              <a:rPr dirty="0" err="1"/>
              <a:t>LoD</a:t>
            </a:r>
            <a:r>
              <a:rPr dirty="0"/>
              <a:t>, the noise limit, count as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data, not a mock-up. Both views show three damage zones: crown at twenty metres, sidewall at forty-five, local damage at sixty-five, matching ground truth. Peak: minus forty-four millimetres.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parameters per section: crown settlement, lateral convergence, ovality and eccentricity. Each has a caution and a critical threshold that drive the colour-coding.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Sections are flagged versus T0. The local gate stops a uniform bias painting the whole tunnel; ovality and eccentricity must also be local anomalies. Dimension changes use the absolute threshold. One classifier feeds every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6583680" y="1088136"/>
            <a:ext cx="5852160" cy="4681728"/>
          </a:xfrm>
          <a:prstGeom prst="ellipse">
            <a:avLst/>
          </a:prstGeom>
          <a:solidFill>
            <a:srgbClr val="0F2A43"/>
          </a:solidFill>
          <a:ln w="25400">
            <a:solidFill>
              <a:srgbClr val="163B5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7223760" y="1600200"/>
            <a:ext cx="4572000" cy="3657600"/>
          </a:xfrm>
          <a:prstGeom prst="ellipse">
            <a:avLst/>
          </a:prstGeom>
          <a:solidFill>
            <a:srgbClr val="0F2A43"/>
          </a:solidFill>
          <a:ln w="25400">
            <a:solidFill>
              <a:srgbClr val="163B5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7863840" y="2112264"/>
            <a:ext cx="3291840" cy="2633472"/>
          </a:xfrm>
          <a:prstGeom prst="ellipse">
            <a:avLst/>
          </a:prstGeom>
          <a:solidFill>
            <a:srgbClr val="0F2A43"/>
          </a:solidFill>
          <a:ln w="25400">
            <a:solidFill>
              <a:srgbClr val="163B5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Shape 4"/>
          <p:cNvSpPr/>
          <p:nvPr/>
        </p:nvSpPr>
        <p:spPr>
          <a:xfrm>
            <a:off x="8503920" y="2624328"/>
            <a:ext cx="2011680" cy="1609344"/>
          </a:xfrm>
          <a:prstGeom prst="ellipse">
            <a:avLst/>
          </a:prstGeom>
          <a:solidFill>
            <a:srgbClr val="0F2A43"/>
          </a:solidFill>
          <a:ln w="381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TUNNEL ANALYSIS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6 — T0 vs Tn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Deformation Analysis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and what the results mean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M3C2 displacement</a:t>
            </a: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r>
              <a:rPr lang="en-US" sz="1400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deformation parameters</a:t>
            </a: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r>
              <a:rPr lang="en-US" sz="1400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per-section warnings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Step 6 fits &amp; what it solves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448671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4486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Load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98479" y="1508760"/>
            <a:ext cx="1448671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Text 5"/>
          <p:cNvSpPr/>
          <p:nvPr/>
        </p:nvSpPr>
        <p:spPr>
          <a:xfrm>
            <a:off x="2198479" y="1508760"/>
            <a:ext cx="14486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Denoise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56878" y="1508760"/>
            <a:ext cx="1448671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7"/>
          <p:cNvSpPr/>
          <p:nvPr/>
        </p:nvSpPr>
        <p:spPr>
          <a:xfrm>
            <a:off x="3756878" y="1508760"/>
            <a:ext cx="14486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Register T0/Tn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15277" y="1508760"/>
            <a:ext cx="1448671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5315277" y="1508760"/>
            <a:ext cx="14486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Centerline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73675" y="1508760"/>
            <a:ext cx="1448671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1"/>
          <p:cNvSpPr/>
          <p:nvPr/>
        </p:nvSpPr>
        <p:spPr>
          <a:xfrm>
            <a:off x="6873675" y="1508760"/>
            <a:ext cx="14486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2D Sections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32074" y="1508760"/>
            <a:ext cx="1448671" cy="640080"/>
          </a:xfrm>
          <a:prstGeom prst="roundRect">
            <a:avLst>
              <a:gd name="adj" fmla="val 857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5" name="Text 13"/>
          <p:cNvSpPr/>
          <p:nvPr/>
        </p:nvSpPr>
        <p:spPr>
          <a:xfrm>
            <a:off x="8432074" y="1508760"/>
            <a:ext cx="14486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Deformation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990473" y="1508760"/>
            <a:ext cx="1448671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Text 15"/>
          <p:cNvSpPr/>
          <p:nvPr/>
        </p:nvSpPr>
        <p:spPr>
          <a:xfrm>
            <a:off x="9990473" y="1508760"/>
            <a:ext cx="14486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Warnings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2860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runs only after T0 + Tn are denoised and registered to a common frame.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2880360"/>
            <a:ext cx="518007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20" name="Shape 18"/>
          <p:cNvSpPr/>
          <p:nvPr/>
        </p:nvSpPr>
        <p:spPr>
          <a:xfrm>
            <a:off x="640080" y="2880360"/>
            <a:ext cx="91440" cy="13716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Text 19"/>
          <p:cNvSpPr/>
          <p:nvPr/>
        </p:nvSpPr>
        <p:spPr>
          <a:xfrm>
            <a:off x="914400" y="3044952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 surface displacement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14400" y="3447288"/>
            <a:ext cx="47228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Tn cloud against the T0 baseline to see how far each point / section moved (mm).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368796" y="2880360"/>
            <a:ext cx="518007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24" name="Shape 22"/>
          <p:cNvSpPr/>
          <p:nvPr/>
        </p:nvSpPr>
        <p:spPr>
          <a:xfrm>
            <a:off x="6368796" y="2880360"/>
            <a:ext cx="91440" cy="13716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5" name="Text 23"/>
          <p:cNvSpPr/>
          <p:nvPr/>
        </p:nvSpPr>
        <p:spPr>
          <a:xfrm>
            <a:off x="6643116" y="3044952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Quantify deformation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643116" y="3447288"/>
            <a:ext cx="47228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Crown settlement, lateral convergence, ovality and eccentricity for each cross-section.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0080" y="4572000"/>
            <a:ext cx="518007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28" name="Shape 26"/>
          <p:cNvSpPr/>
          <p:nvPr/>
        </p:nvSpPr>
        <p:spPr>
          <a:xfrm>
            <a:off x="640080" y="4572000"/>
            <a:ext cx="91440" cy="13716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9" name="Text 27"/>
          <p:cNvSpPr/>
          <p:nvPr/>
        </p:nvSpPr>
        <p:spPr>
          <a:xfrm>
            <a:off x="914400" y="4736592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 risk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14400" y="5138928"/>
            <a:ext cx="47228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every section OK / CAUTION / CRITICAL, tied to its local chainage.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368796" y="4572000"/>
            <a:ext cx="518007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32" name="Shape 30"/>
          <p:cNvSpPr/>
          <p:nvPr/>
        </p:nvSpPr>
        <p:spPr>
          <a:xfrm>
            <a:off x="6368796" y="4572000"/>
            <a:ext cx="91440" cy="13716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3" name="Text 31"/>
          <p:cNvSpPr/>
          <p:nvPr/>
        </p:nvSpPr>
        <p:spPr>
          <a:xfrm>
            <a:off x="6643116" y="4736592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(Extension) Trend &amp; forecast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643116" y="5138928"/>
            <a:ext cx="47228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3+ epochs: deformation trend over time and time-to-threshold prediction.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— HOW IT COMPUTES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M3C2: signed displacement + level-of-detection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7665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822960" y="1892808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822960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80136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 normal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11226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corepoint, estimate the local surface normal within normal_radius.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70632"/>
            <a:ext cx="67665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Shape 8"/>
          <p:cNvSpPr/>
          <p:nvPr/>
        </p:nvSpPr>
        <p:spPr>
          <a:xfrm>
            <a:off x="822960" y="2971800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822960" y="2971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28803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Signed distance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19125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the T0→Tn change onto that normal inside cylinder cyl_radius → distance_mm (negative = inward).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49624"/>
            <a:ext cx="67665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Shape 13"/>
          <p:cNvSpPr/>
          <p:nvPr/>
        </p:nvSpPr>
        <p:spPr>
          <a:xfrm>
            <a:off x="822960" y="4050792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4"/>
          <p:cNvSpPr/>
          <p:nvPr/>
        </p:nvSpPr>
        <p:spPr>
          <a:xfrm>
            <a:off x="822960" y="4050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95935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LoD (detection limit)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27024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lod_mm = uncertainty from roughness / noise. Only |distance| &gt; LoD counts as REAL deformation.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928616"/>
            <a:ext cx="67665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0" name="Shape 18"/>
          <p:cNvSpPr/>
          <p:nvPr/>
        </p:nvSpPr>
        <p:spPr>
          <a:xfrm>
            <a:off x="822960" y="5129784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Text 19"/>
          <p:cNvSpPr/>
          <p:nvPr/>
        </p:nvSpPr>
        <p:spPr>
          <a:xfrm>
            <a:off x="822960" y="5129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08760" y="503834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significant mask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53492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points above LoD → removes noise, prevents false alarms.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72400" y="1691640"/>
            <a:ext cx="3776472" cy="3657600"/>
          </a:xfrm>
          <a:prstGeom prst="roundRect">
            <a:avLst>
              <a:gd name="adj" fmla="val 2000"/>
            </a:avLst>
          </a:prstGeom>
          <a:solidFill>
            <a:srgbClr val="0F2A43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25" name="Text 23"/>
          <p:cNvSpPr/>
          <p:nvPr/>
        </p:nvSpPr>
        <p:spPr>
          <a:xfrm>
            <a:off x="804672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mean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46720" y="2286000"/>
            <a:ext cx="322783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distance_mm &lt; 0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moved INWARD (settlement / convergence).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|distance| ≤ LoD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the noise band → no conclusion.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quality_warning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if &gt;50% of corepoints have no Tn neighbour (partial scan) → coverage alert.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RESULT — TEST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M3C2 deformation map: T0 → Tn</a:t>
            </a:r>
            <a:endParaRPr lang="en-US" sz="2800" dirty="0"/>
          </a:p>
        </p:txBody>
      </p:sp>
      <p:pic>
        <p:nvPicPr>
          <p:cNvPr id="4" name="Image 0" descr="step6_figures/m3c2_3d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00800" cy="33101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56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cloud coloured by displacement (PyVista off-screen)</a:t>
            </a:r>
            <a:endParaRPr lang="en-US" sz="1100" dirty="0"/>
          </a:p>
        </p:txBody>
      </p:sp>
      <p:pic>
        <p:nvPicPr>
          <p:cNvPr id="6" name="Image 1" descr="step6_figures/m3c2_map_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600200"/>
            <a:ext cx="4572000" cy="181051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178040" y="3657600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8" name="Text 4"/>
          <p:cNvSpPr/>
          <p:nvPr/>
        </p:nvSpPr>
        <p:spPr>
          <a:xfrm>
            <a:off x="7406640" y="37947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local damage zones (match ground truth):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Crown settlement @ chainage ~20 m (blue, crown)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Sidewall convergence @ ~45 m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damage @ ~65 m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5349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15,456 corepoints · method = M3C2 · real peak displacement −44.5 mm. Not a mock-up — computed from the dataset.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OUTPUTS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deformation parameters &amp; warning thresholds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18007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109728" cy="17830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960120" y="1828800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Crown settlement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249424"/>
            <a:ext cx="46314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of the tunnel crown vs T0.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2862072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BF1D2"/>
          </a:solidFill>
          <a:ln w="12700">
            <a:solidFill>
              <a:srgbClr val="E0A10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7"/>
          <p:cNvSpPr/>
          <p:nvPr/>
        </p:nvSpPr>
        <p:spPr>
          <a:xfrm>
            <a:off x="960120" y="286207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 mm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34640" y="2862072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7D7DC"/>
          </a:solidFill>
          <a:ln w="12700">
            <a:solidFill>
              <a:srgbClr val="D7263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2834640" y="286207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25 mm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68796" y="1645920"/>
            <a:ext cx="518007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3" name="Shape 11"/>
          <p:cNvSpPr/>
          <p:nvPr/>
        </p:nvSpPr>
        <p:spPr>
          <a:xfrm>
            <a:off x="6368796" y="1645920"/>
            <a:ext cx="109728" cy="17830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2"/>
          <p:cNvSpPr/>
          <p:nvPr/>
        </p:nvSpPr>
        <p:spPr>
          <a:xfrm>
            <a:off x="6688836" y="1828800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Lateral convergence (dW)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88836" y="2249424"/>
            <a:ext cx="46314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Narrowing of the width between sidewalls.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88836" y="2862072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BF1D2"/>
          </a:solidFill>
          <a:ln w="12700">
            <a:solidFill>
              <a:srgbClr val="E0A10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Text 15"/>
          <p:cNvSpPr/>
          <p:nvPr/>
        </p:nvSpPr>
        <p:spPr>
          <a:xfrm>
            <a:off x="6688836" y="286207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 mm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563356" y="2862072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7D7DC"/>
          </a:solidFill>
          <a:ln w="12700">
            <a:solidFill>
              <a:srgbClr val="D7263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9" name="Text 17"/>
          <p:cNvSpPr/>
          <p:nvPr/>
        </p:nvSpPr>
        <p:spPr>
          <a:xfrm>
            <a:off x="8563356" y="286207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25 mm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749040"/>
            <a:ext cx="518007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21" name="Shape 19"/>
          <p:cNvSpPr/>
          <p:nvPr/>
        </p:nvSpPr>
        <p:spPr>
          <a:xfrm>
            <a:off x="640080" y="3749040"/>
            <a:ext cx="109728" cy="17830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2" name="Text 20"/>
          <p:cNvSpPr/>
          <p:nvPr/>
        </p:nvSpPr>
        <p:spPr>
          <a:xfrm>
            <a:off x="960120" y="3931920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Ovality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4352544"/>
            <a:ext cx="46314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Distortion away from the ideal circle.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60120" y="4965192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BF1D2"/>
          </a:solidFill>
          <a:ln w="12700">
            <a:solidFill>
              <a:srgbClr val="E0A10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5" name="Text 23"/>
          <p:cNvSpPr/>
          <p:nvPr/>
        </p:nvSpPr>
        <p:spPr>
          <a:xfrm>
            <a:off x="960120" y="49651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0.5 %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834640" y="4965192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7D7DC"/>
          </a:solidFill>
          <a:ln w="12700">
            <a:solidFill>
              <a:srgbClr val="D7263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7" name="Text 25"/>
          <p:cNvSpPr/>
          <p:nvPr/>
        </p:nvSpPr>
        <p:spPr>
          <a:xfrm>
            <a:off x="2834640" y="49651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1.0 %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68796" y="3749040"/>
            <a:ext cx="518007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29" name="Shape 27"/>
          <p:cNvSpPr/>
          <p:nvPr/>
        </p:nvSpPr>
        <p:spPr>
          <a:xfrm>
            <a:off x="6368796" y="3749040"/>
            <a:ext cx="109728" cy="17830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Text 28"/>
          <p:cNvSpPr/>
          <p:nvPr/>
        </p:nvSpPr>
        <p:spPr>
          <a:xfrm>
            <a:off x="6688836" y="3931920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Eccentricity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688836" y="4352544"/>
            <a:ext cx="46314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of the section centre vs the axis.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88836" y="4965192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BF1D2"/>
          </a:solidFill>
          <a:ln w="12700">
            <a:solidFill>
              <a:srgbClr val="E0A10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3" name="Text 31"/>
          <p:cNvSpPr/>
          <p:nvPr/>
        </p:nvSpPr>
        <p:spPr>
          <a:xfrm>
            <a:off x="6688836" y="49651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 mm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563356" y="4965192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7D7DC"/>
          </a:solidFill>
          <a:ln w="12700">
            <a:solidFill>
              <a:srgbClr val="D7263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5" name="Text 33"/>
          <p:cNvSpPr/>
          <p:nvPr/>
        </p:nvSpPr>
        <p:spPr>
          <a:xfrm>
            <a:off x="8563356" y="49651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25 mm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Per-section thresholds (vs T0)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6858000" cy="272491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0A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8A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 / dH / dR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 / height / radius change vs T0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10 mm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25 mm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dOval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Ovality change vs T0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0.5 %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1.0 %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Eccentricity change vs T0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10 mm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25 mm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Clearance-envelope intrusion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violation = CRITICAL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45920"/>
            <a:ext cx="3730752" cy="39319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6" name="Text 3"/>
          <p:cNvSpPr/>
          <p:nvPr/>
        </p:nvSpPr>
        <p:spPr>
          <a:xfrm>
            <a:off x="8046720" y="1828800"/>
            <a:ext cx="3273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“Local gate” — stops blanket alarms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046720" y="2286000"/>
            <a:ext cx="32735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dOval, dEcc, single-scan: 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only when the value exceeds the threshold AND is a local anomaly (v ≥ median + 3·MAD). Suppresses a uniform registration bias painting the whole tunnel red.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dW, dH, dR: 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threshold (no local gate) — a real dimension change is real deformation, even across a wide band.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classifier shared by 2D / ruler / 3D / dashboard → every view stays consistent.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830</Words>
  <Application>Microsoft Office PowerPoint</Application>
  <PresentationFormat>Widescreen</PresentationFormat>
  <Paragraphs>119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6 — T0 vs Tn Deformation Analysis</dc:title>
  <dc:subject>PptxGenJS Presentation</dc:subject>
  <dc:creator>SSL Tunnel Analysis</dc:creator>
  <cp:lastModifiedBy>Duy Hoang Anh Nguyen</cp:lastModifiedBy>
  <cp:revision>2</cp:revision>
  <dcterms:created xsi:type="dcterms:W3CDTF">2026-06-17T19:15:44Z</dcterms:created>
  <dcterms:modified xsi:type="dcterms:W3CDTF">2026-06-17T20:05:41Z</dcterms:modified>
</cp:coreProperties>
</file>