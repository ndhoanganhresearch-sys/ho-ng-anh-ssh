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Sections</c:v>
                </c:pt>
              </c:strCache>
            </c:strRef>
          </c:tx>
          <c:spPr>
            <a:solidFill>
              <a:srgbClr val="2EA86A"/>
            </a:solidFill>
            <a:effectLst/>
          </c:spPr>
          <c:invertIfNegative val="0"/>
          <c:dLbls>
            <c:numFmt formatCode="#,##0" sourceLinked="0"/>
            <c:txPr>
              <a:bodyPr/>
              <a:lstStyle/>
              <a:p>
                <a:pPr>
                  <a:defRPr b="1" i="0" strike="noStrike" sz="13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2EA86A"/>
              </a:solidFill>
              <a:effectLst/>
            </c:spPr>
          </c:dPt>
          <c:dPt>
            <c:idx val="1"/>
            <c:invertIfNegative val="0"/>
            <c:bubble3D val="0"/>
            <c:spPr>
              <a:solidFill>
                <a:srgbClr val="E0A100"/>
              </a:solidFill>
              <a:effectLst/>
            </c:spPr>
          </c:dPt>
          <c:dPt>
            <c:idx val="2"/>
            <c:invertIfNegative val="0"/>
            <c:bubble3D val="0"/>
            <c:spPr>
              <a:solidFill>
                <a:srgbClr val="D7263D"/>
              </a:solidFill>
              <a:effectLst/>
            </c:spPr>
          </c:dPt>
          <c:cat>
            <c:multiLvlStrRef>
              <c:f>Sheet1!$A$2:$A$4</c:f>
              <c:multiLvlStrCache>
                <c:ptCount val="3"/>
                <c:lvl>
                  <c:pt idx="0">
                    <c:v>OK</c:v>
                  </c:pt>
                  <c:pt idx="1">
                    <c:v>CAUTION</c:v>
                  </c:pt>
                  <c:pt idx="2">
                    <c:v>CRITICAL</c:v>
                  </c:pt>
                </c:lvl>
              </c:multiLvlStrCache>
            </c:multiLvlStrRef>
          </c:cat>
          <c:val>
            <c:numRef>
              <c:f>Sheet1!$B$2:$B$4</c:f>
              <c:numCache>
                <c:formatCode>General</c:formatCode>
                <c:ptCount val="3"/>
                <c:pt idx="0">
                  <c:v>33</c:v>
                </c:pt>
                <c:pt idx="1">
                  <c:v>9</c:v>
                </c:pt>
                <c:pt idx="2">
                  <c:v>38</c:v>
                </c:pt>
              </c:numCache>
            </c:numRef>
          </c:val>
        </c:ser>
        <c:dLbls>
          <c:numFmt formatCode="#,##0" sourceLinked="0"/>
          <c:txPr>
            <a:bodyPr/>
            <a:lstStyle/>
            <a:p>
              <a:pPr>
                <a:defRPr b="1" i="0" strike="noStrike" sz="13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max_abs_mm (peak)</c:v>
                </c:pt>
              </c:strCache>
            </c:strRef>
          </c:tx>
          <c:spPr>
            <a:solidFill>
              <a:srgbClr val="D7263D"/>
            </a:solidFill>
            <a:ln w="38100" cap="flat">
              <a:solidFill>
                <a:srgbClr val="D726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7263D"/>
              </a:solidFill>
              <a:ln w="9525" cap="flat">
                <a:solidFill>
                  <a:srgbClr val="D7263D"/>
                </a:solidFill>
                <a:prstDash val="solid"/>
                <a:round/>
              </a:ln>
              <a:effectLst/>
            </c:spPr>
          </c:marker>
          <c:cat>
            <c:multiLvlStrRef>
              <c:f>Sheet1!$A$2:$A$7</c:f>
              <c:multiLvlStrCache>
                <c:ptCount val="6"/>
                <c:lvl>
                  <c:pt idx="0">
                    <c:v>T0</c:v>
                  </c:pt>
                  <c:pt idx="1">
                    <c:v>T1</c:v>
                  </c:pt>
                  <c:pt idx="2">
                    <c:v>T2</c:v>
                  </c:pt>
                  <c:pt idx="3">
                    <c:v>T3</c:v>
                  </c:pt>
                  <c:pt idx="4">
                    <c:v>T4</c:v>
                  </c:pt>
                  <c:pt idx="5">
                    <c:v>T5</c:v>
                  </c:pt>
                </c:lvl>
              </c:multiLvlStrCache>
            </c:multiLvlStrRef>
          </c:cat>
          <c:val>
            <c:numRef>
              <c:f>Sheet1!$B$2:$B$7</c:f>
              <c:numCache>
                <c:formatCode>General</c:formatCode>
                <c:ptCount val="6"/>
                <c:pt idx="0">
                  <c:v>0</c:v>
                </c:pt>
                <c:pt idx="1">
                  <c:v>6.3</c:v>
                </c:pt>
                <c:pt idx="2">
                  <c:v>12.6</c:v>
                </c:pt>
                <c:pt idx="3">
                  <c:v>19.9</c:v>
                </c:pt>
                <c:pt idx="4">
                  <c:v>29.7</c:v>
                </c:pt>
                <c:pt idx="5">
                  <c:v>44.5</c:v>
                </c:pt>
              </c:numCache>
            </c:numRef>
          </c:val>
          <c:smooth val="1"/>
        </c:ser>
        <c:ser>
          <c:idx val="1"/>
          <c:order val="1"/>
          <c:tx>
            <c:strRef>
              <c:f>Sheet1!$C$1</c:f>
              <c:strCache>
                <c:ptCount val="1"/>
                <c:pt idx="0">
                  <c:v>p95_abs_mm (whole cloud)</c:v>
                </c:pt>
              </c:strCache>
            </c:strRef>
          </c:tx>
          <c:spPr>
            <a:solidFill>
              <a:srgbClr val="64748B"/>
            </a:solidFill>
            <a:ln w="38100" cap="flat">
              <a:solidFill>
                <a:srgbClr val="64748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64748B"/>
              </a:solidFill>
              <a:ln w="9525" cap="flat">
                <a:solidFill>
                  <a:srgbClr val="64748B"/>
                </a:solidFill>
                <a:prstDash val="solid"/>
                <a:round/>
              </a:ln>
              <a:effectLst/>
            </c:spPr>
          </c:marker>
          <c:cat>
            <c:multiLvlStrRef>
              <c:f>Sheet1!$A$2:$A$7</c:f>
              <c:multiLvlStrCache>
                <c:ptCount val="6"/>
                <c:lvl>
                  <c:pt idx="0">
                    <c:v>T0</c:v>
                  </c:pt>
                  <c:pt idx="1">
                    <c:v>T1</c:v>
                  </c:pt>
                  <c:pt idx="2">
                    <c:v>T2</c:v>
                  </c:pt>
                  <c:pt idx="3">
                    <c:v>T3</c:v>
                  </c:pt>
                  <c:pt idx="4">
                    <c:v>T4</c:v>
                  </c:pt>
                  <c:pt idx="5">
                    <c:v>T5</c:v>
                  </c:pt>
                </c:lvl>
              </c:multiLvlStrCache>
            </c:multiLvlStrRef>
          </c:cat>
          <c:val>
            <c:numRef>
              <c:f>Sheet1!$C$2:$C$7</c:f>
              <c:numCache>
                <c:formatCode>General</c:formatCode>
                <c:ptCount val="6"/>
                <c:pt idx="0">
                  <c:v>0</c:v>
                </c:pt>
                <c:pt idx="1">
                  <c:v>0.6</c:v>
                </c:pt>
                <c:pt idx="2">
                  <c:v>3.4</c:v>
                </c:pt>
                <c:pt idx="3">
                  <c:v>7.5</c:v>
                </c:pt>
                <c:pt idx="4">
                  <c:v>12.9</c:v>
                </c:pt>
                <c:pt idx="5">
                  <c:v>20.4</c:v>
                </c:pt>
              </c:numCache>
            </c:numRef>
          </c:val>
          <c:smooth val="1"/>
        </c:ser>
        <c:ser>
          <c:idx val="2"/>
          <c:order val="2"/>
          <c:tx>
            <c:strRef>
              <c:f>Sheet1!$D$1</c:f>
              <c:strCache>
                <c:ptCount val="1"/>
                <c:pt idx="0">
                  <c:v>median_mm (whole cloud)</c:v>
                </c:pt>
              </c:strCache>
            </c:strRef>
          </c:tx>
          <c:spPr>
            <a:solidFill>
              <a:srgbClr val="B6C2CE"/>
            </a:solidFill>
            <a:ln w="38100" cap="flat">
              <a:solidFill>
                <a:srgbClr val="B6C2C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6C2CE"/>
              </a:solidFill>
              <a:ln w="9525" cap="flat">
                <a:solidFill>
                  <a:srgbClr val="B6C2CE"/>
                </a:solidFill>
                <a:prstDash val="solid"/>
                <a:round/>
              </a:ln>
              <a:effectLst/>
            </c:spPr>
          </c:marker>
          <c:cat>
            <c:multiLvlStrRef>
              <c:f>Sheet1!$A$2:$A$7</c:f>
              <c:multiLvlStrCache>
                <c:ptCount val="6"/>
                <c:lvl>
                  <c:pt idx="0">
                    <c:v>T0</c:v>
                  </c:pt>
                  <c:pt idx="1">
                    <c:v>T1</c:v>
                  </c:pt>
                  <c:pt idx="2">
                    <c:v>T2</c:v>
                  </c:pt>
                  <c:pt idx="3">
                    <c:v>T3</c:v>
                  </c:pt>
                  <c:pt idx="4">
                    <c:v>T4</c:v>
                  </c:pt>
                  <c:pt idx="5">
                    <c:v>T5</c:v>
                  </c:pt>
                </c:lvl>
              </c:multiLvlStrCache>
            </c:multiLvlStrRef>
          </c:cat>
          <c:val>
            <c:numRef>
              <c:f>Sheet1!$D$2:$D$7</c:f>
              <c:numCache>
                <c:formatCode>General</c:formatCode>
                <c:ptCount val="6"/>
                <c:pt idx="0">
                  <c:v>0</c:v>
                </c:pt>
                <c:pt idx="1">
                  <c:v>0</c:v>
                </c:pt>
                <c:pt idx="2">
                  <c:v>0</c:v>
                </c:pt>
                <c:pt idx="3">
                  <c:v>0</c:v>
                </c:pt>
                <c:pt idx="4">
                  <c:v>0</c:v>
                </c:pt>
                <c:pt idx="5">
                  <c:v>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sz="1100" b="0" i="0" u="none" strike="noStrike">
                    <a:solidFill>
                      <a:srgbClr val="64748B"/>
                    </a:solidFill>
                    <a:latin typeface="Arial"/>
                  </a:defRPr>
                </a:pPr>
                <a:r>
                  <a:rPr sz="1100" b="0" i="0" u="none" strike="noStrike">
                    <a:solidFill>
                      <a:srgbClr val="64748B"/>
                    </a:solidFill>
                    <a:latin typeface="Arial"/>
                  </a:rPr>
                  <a:t>displacement (mm)</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E293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In this short deck I'll explain Step 6 of the SSL Tunnel Analysis tool: the deformation analysis stage. The idea is simple. We take a baseline scan called T0 and a later monitoring scan called Tn, and we measure exactly how the tunnel surface has moved between them. By the end you'll know how the computation works and how to read every number it produces.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First, where Step 6 sits. The tool is a seven-step pipeline. Steps one to five load, clean, register and slice the point cloud. Step 6 is where we actually measure deformation, and Step 7 raises the warnings. Step 6 only makes sense once T0 and Tn are cleaned and registered to a common frame. It does four things: measure surface displacement, quantify it as engineering parameters, classify risk per section, and, as an extension with more epochs, forecast the trend over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define the two scans. T0 is the reference, the baseline we treat as the undeformed tunnel; every displacement is measured relative to it. Tn is a later monitoring scan, perhaps a month or a quarter on. The single most important rule here: registration must happen before Step 6. The two scans usually sit in different coordinate frames, so without alignment the difference you measure is just setup error, not deformation. And crucially, registration aligns on the stable majority; it must not absorb the local deformation we are trying to detect. We verified it keeps thirty-two of a sixty-millimetre ground-truth settlement.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T0-to-Tn pipeline inside Step 6. Step 6.1 loads both epochs. Step 6.3 computes the M3C2 displacement map. Steps five and six extract the per-section parameters against the T0 reference, and Step 7 classifies each section. For a simple two-scan job, that is the whole story. If you have several epochs, you additionally unlock the trend chart and the forecast, which we'll touch on near the end.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heart of the measurement: the M3C2 algorithm. At each point we estimate the local surface normal. We then project the change from T0 to Tn onto that normal, giving a signed distance in millimetres; negative means the surface moved inward. The key safeguard is the level of detection, or LoD: the uncertainty from surface roughness and noise. Only displacements larger than the LoD are treated as real, which is what the significant mask captures. And if more than half the points have no neighbour in Tn, a quality warning flags that the scan coverage is incomplete.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not mock-ups; they are computed live from a real test dataset. On the left is the 3D cloud coloured by displacement, rendered off-screen. On the right is the same data unrolled into a chainage-versus-angle map. You can clearly see three localized damage zones: crown settlement around chainage twenty metres, sidewall convergence near forty-five, and local damage around sixty-five, and those match the dataset's ground truth exactly. Fifteen thousand corepoints, with a real peak displacement of minus forty-four millimetres.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6 condenses the displacement field into four engineering parameters per cross-section. Crown settlement is the lowering of the tunnel top. Lateral convergence is the narrowing between the sidewalls. Ovality measures distortion away from a perfect circle, and eccentricity is the shift of the section's centre from the axis. Each has a caution and a critical threshold: ten and twenty-five millimetres for the linear ones, and half a percent and one percent for ovality. These thresholds drive the colour-coding you see throughout the tool.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Warnings are assigned per section, comparing Tn against T0. The table lists the thresholds: dimension changes and eccentricity at ten and twenty-five millimetres, ovality at half and one percent, and any clearance intrusion is automatically critical. The clever part is on the right: the local gate. For ovality, eccentricity and single-scan metrics, we only raise a flag if the value is also a local anomaly, three MADs above the median. This stops a uniform registration bias from painting the whole tunnel red. Direct dimension changes, however, use the absolute threshold, because a real width change is real even over a long stretch. One shared classifier feeds every view, so the 2D, 3D, ruler and dashboard always agree.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how a real result reads. On the complex test dataset of eighty sections, the tool flagged thirty-eight critical, nine caution, and thirty-three OK. The measured maximum crown settlement was ninety-two millimetres against a ground truth of about ninety, a close match. And recall over the known deformation band was one hundred percent: every one of the seventeen affected sections was flagged. So the tool both measures the magnitude correctly and localizes the damage.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you have three or more epochs, two more features open up. The trend chart on the left plots displacement over time. Notice the crucial point: we track the max_abs peak, the red line, because the median stays near zero even when the peak reaches forty-four millimetres, since a local defect is diluted across the whole cloud. The forecast then fits that trend, here about fifteen millimetres per epoch with an R-squared of one, and predicts when it will cross the caution and critical thresholds. But trust the forecast only when R-squared is at least zero point five.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few rules for reading results correctly. The sign tells direction; negative is inward, and you must always read it together with chainage to know where. Treat the LoD as a filter; anything below it is just noise. Watch for the coverage warning on partial scans. Remember registration preserves local deformation rather than cancelling it. Always favour the local peak over global averages. And only trust a forecast with a good fit and enough epochs.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summarise in one sentence: Step 6 compares Tn against the T0 baseline to measure surface displacement with M3C2 and the level of detection, quantifies deformation per section, and flags caution or critical tied to the local chainage. The checklist on screen is your practical guide: clean and register first, trust only points above the LoD, read displacement with chainage, prefer the local peak, and remember the trend and forecast need at least three epochs. Thank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4B8A6"/>
          </a:solidFill>
          <a:ln/>
        </p:spPr>
      </p:sp>
      <p:sp>
        <p:nvSpPr>
          <p:cNvPr id="3" name="Shape 1"/>
          <p:cNvSpPr/>
          <p:nvPr/>
        </p:nvSpPr>
        <p:spPr>
          <a:xfrm>
            <a:off x="6583680" y="1088136"/>
            <a:ext cx="5852160" cy="4681728"/>
          </a:xfrm>
          <a:prstGeom prst="ellipse">
            <a:avLst/>
          </a:prstGeom>
          <a:solidFill>
            <a:srgbClr val="0F2A43"/>
          </a:solidFill>
          <a:ln w="25400">
            <a:solidFill>
              <a:srgbClr val="163B5C"/>
            </a:solidFill>
            <a:prstDash val="solid"/>
          </a:ln>
        </p:spPr>
      </p:sp>
      <p:sp>
        <p:nvSpPr>
          <p:cNvPr id="4" name="Shape 2"/>
          <p:cNvSpPr/>
          <p:nvPr/>
        </p:nvSpPr>
        <p:spPr>
          <a:xfrm>
            <a:off x="7223760" y="1600200"/>
            <a:ext cx="4572000" cy="3657600"/>
          </a:xfrm>
          <a:prstGeom prst="ellipse">
            <a:avLst/>
          </a:prstGeom>
          <a:solidFill>
            <a:srgbClr val="0F2A43"/>
          </a:solidFill>
          <a:ln w="25400">
            <a:solidFill>
              <a:srgbClr val="163B5C"/>
            </a:solidFill>
            <a:prstDash val="solid"/>
          </a:ln>
        </p:spPr>
      </p:sp>
      <p:sp>
        <p:nvSpPr>
          <p:cNvPr id="5" name="Shape 3"/>
          <p:cNvSpPr/>
          <p:nvPr/>
        </p:nvSpPr>
        <p:spPr>
          <a:xfrm>
            <a:off x="7863840" y="2112264"/>
            <a:ext cx="3291840" cy="2633472"/>
          </a:xfrm>
          <a:prstGeom prst="ellipse">
            <a:avLst/>
          </a:prstGeom>
          <a:solidFill>
            <a:srgbClr val="0F2A43"/>
          </a:solidFill>
          <a:ln w="25400">
            <a:solidFill>
              <a:srgbClr val="163B5C"/>
            </a:solidFill>
            <a:prstDash val="solid"/>
          </a:ln>
        </p:spPr>
      </p:sp>
      <p:sp>
        <p:nvSpPr>
          <p:cNvPr id="6" name="Shape 4"/>
          <p:cNvSpPr/>
          <p:nvPr/>
        </p:nvSpPr>
        <p:spPr>
          <a:xfrm>
            <a:off x="8503920" y="2624328"/>
            <a:ext cx="2011680" cy="1609344"/>
          </a:xfrm>
          <a:prstGeom prst="ellipse">
            <a:avLst/>
          </a:prstGeom>
          <a:solidFill>
            <a:srgbClr val="0F2A43"/>
          </a:solidFill>
          <a:ln w="38100">
            <a:solidFill>
              <a:srgbClr val="14B8A6"/>
            </a:solidFill>
            <a:prstDash val="solid"/>
          </a:ln>
        </p:spPr>
      </p:sp>
      <p:sp>
        <p:nvSpPr>
          <p:cNvPr id="7" name="Text 5"/>
          <p:cNvSpPr/>
          <p:nvPr/>
        </p:nvSpPr>
        <p:spPr>
          <a:xfrm>
            <a:off x="822960" y="1371600"/>
            <a:ext cx="7772400" cy="365760"/>
          </a:xfrm>
          <a:prstGeom prst="rect">
            <a:avLst/>
          </a:prstGeom>
          <a:noFill/>
          <a:ln/>
        </p:spPr>
        <p:txBody>
          <a:bodyPr wrap="square" lIns="0" tIns="0" rIns="0" bIns="0" rtlCol="0" anchor="ctr"/>
          <a:lstStyle/>
          <a:p>
            <a:pPr indent="0" marL="0">
              <a:buNone/>
            </a:pPr>
            <a:r>
              <a:rPr lang="en-US" sz="1400" b="1" spc="300" kern="0" dirty="0">
                <a:solidFill>
                  <a:srgbClr val="14B8A6"/>
                </a:solidFill>
                <a:latin typeface="Calibri" pitchFamily="34" charset="0"/>
                <a:ea typeface="Calibri" pitchFamily="34" charset="-122"/>
                <a:cs typeface="Calibri" pitchFamily="34" charset="-120"/>
              </a:rPr>
              <a:t>SSL TUNNEL ANALYSIS</a:t>
            </a:r>
            <a:endParaRPr lang="en-US" sz="1400" dirty="0"/>
          </a:p>
        </p:txBody>
      </p:sp>
      <p:sp>
        <p:nvSpPr>
          <p:cNvPr id="8" name="Text 6"/>
          <p:cNvSpPr/>
          <p:nvPr/>
        </p:nvSpPr>
        <p:spPr>
          <a:xfrm>
            <a:off x="822960" y="1828800"/>
            <a:ext cx="8686800" cy="155448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Georgia" pitchFamily="34" charset="0"/>
                <a:ea typeface="Georgia" pitchFamily="34" charset="-122"/>
                <a:cs typeface="Georgia" pitchFamily="34" charset="-120"/>
              </a:rPr>
              <a:t>Step 6 — T0 vs Tn</a:t>
            </a:r>
            <a:endParaRPr lang="en-US" sz="4200" dirty="0"/>
          </a:p>
          <a:p>
            <a:pPr indent="0" marL="0">
              <a:lnSpc>
                <a:spcPct val="105000"/>
              </a:lnSpc>
              <a:buNone/>
            </a:pPr>
            <a:r>
              <a:rPr lang="en-US" sz="4200" b="1" dirty="0">
                <a:solidFill>
                  <a:srgbClr val="FFFFFF"/>
                </a:solidFill>
                <a:latin typeface="Georgia" pitchFamily="34" charset="0"/>
                <a:ea typeface="Georgia" pitchFamily="34" charset="-122"/>
                <a:cs typeface="Georgia" pitchFamily="34" charset="-120"/>
              </a:rPr>
              <a:t>Deformation Analysis</a:t>
            </a:r>
            <a:endParaRPr lang="en-US" sz="4200" dirty="0"/>
          </a:p>
        </p:txBody>
      </p:sp>
      <p:sp>
        <p:nvSpPr>
          <p:cNvPr id="9" name="Text 7"/>
          <p:cNvSpPr/>
          <p:nvPr/>
        </p:nvSpPr>
        <p:spPr>
          <a:xfrm>
            <a:off x="822960" y="3520440"/>
            <a:ext cx="8686800" cy="457200"/>
          </a:xfrm>
          <a:prstGeom prst="rect">
            <a:avLst/>
          </a:prstGeom>
          <a:noFill/>
          <a:ln/>
        </p:spPr>
        <p:txBody>
          <a:bodyPr wrap="square" lIns="0" tIns="0" rIns="0" bIns="0" rtlCol="0" anchor="ctr"/>
          <a:lstStyle/>
          <a:p>
            <a:pPr indent="0" marL="0">
              <a:buNone/>
            </a:pPr>
            <a:r>
              <a:rPr lang="en-US" sz="1800" i="1" dirty="0">
                <a:solidFill>
                  <a:srgbClr val="CFE8F2"/>
                </a:solidFill>
                <a:latin typeface="Calibri" pitchFamily="34" charset="0"/>
                <a:ea typeface="Calibri" pitchFamily="34" charset="-122"/>
                <a:cs typeface="Calibri" pitchFamily="34" charset="-120"/>
              </a:rPr>
              <a:t>How it works and what the results mean</a:t>
            </a:r>
            <a:endParaRPr lang="en-US" sz="1800" dirty="0"/>
          </a:p>
        </p:txBody>
      </p:sp>
      <p:sp>
        <p:nvSpPr>
          <p:cNvPr id="10" name="Text 8"/>
          <p:cNvSpPr/>
          <p:nvPr/>
        </p:nvSpPr>
        <p:spPr>
          <a:xfrm>
            <a:off x="822960" y="4846320"/>
            <a:ext cx="10058400" cy="365760"/>
          </a:xfrm>
          <a:prstGeom prst="rect">
            <a:avLst/>
          </a:prstGeom>
          <a:noFill/>
          <a:ln/>
        </p:spPr>
        <p:txBody>
          <a:bodyPr wrap="square" lIns="0" tIns="0" rIns="0" bIns="0" rtlCol="0" anchor="ctr"/>
          <a:lstStyle/>
          <a:p>
            <a:pPr indent="0" marL="0">
              <a:buNone/>
            </a:pPr>
            <a:r>
              <a:rPr lang="en-US" sz="1400" dirty="0">
                <a:solidFill>
                  <a:srgbClr val="CFE8F2"/>
                </a:solidFill>
                <a:latin typeface="Calibri" pitchFamily="34" charset="0"/>
                <a:ea typeface="Calibri" pitchFamily="34" charset="-122"/>
                <a:cs typeface="Calibri" pitchFamily="34" charset="-120"/>
              </a:rPr>
              <a:t>M3C2 displacement</a:t>
            </a:r>
            <a:pPr indent="0" marL="0">
              <a:buNone/>
            </a:pPr>
            <a:r>
              <a:rPr lang="en-US" sz="1400" dirty="0">
                <a:solidFill>
                  <a:srgbClr val="14B8A6"/>
                </a:solidFill>
                <a:latin typeface="Calibri" pitchFamily="34" charset="0"/>
                <a:ea typeface="Calibri" pitchFamily="34" charset="-122"/>
                <a:cs typeface="Calibri" pitchFamily="34" charset="-120"/>
              </a:rPr>
              <a:t>   •   </a:t>
            </a:r>
            <a:pPr indent="0" marL="0">
              <a:buNone/>
            </a:pPr>
            <a:r>
              <a:rPr lang="en-US" sz="1400" dirty="0">
                <a:solidFill>
                  <a:srgbClr val="CFE8F2"/>
                </a:solidFill>
                <a:latin typeface="Calibri" pitchFamily="34" charset="0"/>
                <a:ea typeface="Calibri" pitchFamily="34" charset="-122"/>
                <a:cs typeface="Calibri" pitchFamily="34" charset="-120"/>
              </a:rPr>
              <a:t>deformation parameters</a:t>
            </a:r>
            <a:pPr indent="0" marL="0">
              <a:buNone/>
            </a:pPr>
            <a:r>
              <a:rPr lang="en-US" sz="1400" dirty="0">
                <a:solidFill>
                  <a:srgbClr val="14B8A6"/>
                </a:solidFill>
                <a:latin typeface="Calibri" pitchFamily="34" charset="0"/>
                <a:ea typeface="Calibri" pitchFamily="34" charset="-122"/>
                <a:cs typeface="Calibri" pitchFamily="34" charset="-120"/>
              </a:rPr>
              <a:t>   •   </a:t>
            </a:r>
            <a:pPr indent="0" marL="0">
              <a:buNone/>
            </a:pPr>
            <a:r>
              <a:rPr lang="en-US" sz="1400" dirty="0">
                <a:solidFill>
                  <a:srgbClr val="CFE8F2"/>
                </a:solidFill>
                <a:latin typeface="Calibri" pitchFamily="34" charset="0"/>
                <a:ea typeface="Calibri" pitchFamily="34" charset="-122"/>
                <a:cs typeface="Calibri" pitchFamily="34" charset="-120"/>
              </a:rPr>
              <a:t>per-section warnings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200" b="1" spc="200" kern="0" dirty="0">
                <a:solidFill>
                  <a:srgbClr val="0E8C80"/>
                </a:solidFill>
                <a:latin typeface="Calibri" pitchFamily="34" charset="0"/>
                <a:ea typeface="Calibri" pitchFamily="34" charset="-122"/>
                <a:cs typeface="Calibri" pitchFamily="34" charset="-120"/>
              </a:rPr>
              <a:t>CONTEXT</a:t>
            </a:r>
            <a:endParaRPr lang="en-US" sz="1200" dirty="0"/>
          </a:p>
        </p:txBody>
      </p:sp>
      <p:sp>
        <p:nvSpPr>
          <p:cNvPr id="3" name="Text 1"/>
          <p:cNvSpPr/>
          <p:nvPr/>
        </p:nvSpPr>
        <p:spPr>
          <a:xfrm>
            <a:off x="640080" y="640080"/>
            <a:ext cx="10908792" cy="640080"/>
          </a:xfrm>
          <a:prstGeom prst="rect">
            <a:avLst/>
          </a:prstGeom>
          <a:noFill/>
          <a:ln/>
        </p:spPr>
        <p:txBody>
          <a:bodyPr wrap="square" lIns="0" tIns="0" rIns="0" bIns="0" rtlCol="0" anchor="ctr"/>
          <a:lstStyle/>
          <a:p>
            <a:pPr indent="0" marL="0">
              <a:buNone/>
            </a:pPr>
            <a:r>
              <a:rPr lang="en-US" sz="2800" b="1" dirty="0">
                <a:solidFill>
                  <a:srgbClr val="0F2A43"/>
                </a:solidFill>
                <a:latin typeface="Georgia" pitchFamily="34" charset="0"/>
                <a:ea typeface="Georgia" pitchFamily="34" charset="-122"/>
                <a:cs typeface="Georgia" pitchFamily="34" charset="-120"/>
              </a:rPr>
              <a:t>Where Step 6 fits &amp; what it solves</a:t>
            </a:r>
            <a:endParaRPr lang="en-US" sz="2800" dirty="0"/>
          </a:p>
        </p:txBody>
      </p:sp>
      <p:sp>
        <p:nvSpPr>
          <p:cNvPr id="4" name="Shape 2"/>
          <p:cNvSpPr/>
          <p:nvPr/>
        </p:nvSpPr>
        <p:spPr>
          <a:xfrm>
            <a:off x="640080" y="1508760"/>
            <a:ext cx="1448671" cy="640080"/>
          </a:xfrm>
          <a:prstGeom prst="roundRect">
            <a:avLst>
              <a:gd name="adj" fmla="val 8571"/>
            </a:avLst>
          </a:prstGeom>
          <a:solidFill>
            <a:srgbClr val="FFFFFF"/>
          </a:solidFill>
          <a:ln w="12700">
            <a:solidFill>
              <a:srgbClr val="D8E0E8"/>
            </a:solidFill>
            <a:prstDash val="solid"/>
          </a:ln>
        </p:spPr>
      </p:sp>
      <p:sp>
        <p:nvSpPr>
          <p:cNvPr id="5" name="Text 3"/>
          <p:cNvSpPr/>
          <p:nvPr/>
        </p:nvSpPr>
        <p:spPr>
          <a:xfrm>
            <a:off x="640080" y="1508760"/>
            <a:ext cx="1448671" cy="64008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1 Load</a:t>
            </a:r>
            <a:endParaRPr lang="en-US" sz="1200" dirty="0"/>
          </a:p>
        </p:txBody>
      </p:sp>
      <p:sp>
        <p:nvSpPr>
          <p:cNvPr id="6" name="Shape 4"/>
          <p:cNvSpPr/>
          <p:nvPr/>
        </p:nvSpPr>
        <p:spPr>
          <a:xfrm>
            <a:off x="2198479" y="1508760"/>
            <a:ext cx="1448671" cy="640080"/>
          </a:xfrm>
          <a:prstGeom prst="roundRect">
            <a:avLst>
              <a:gd name="adj" fmla="val 8571"/>
            </a:avLst>
          </a:prstGeom>
          <a:solidFill>
            <a:srgbClr val="FFFFFF"/>
          </a:solidFill>
          <a:ln w="12700">
            <a:solidFill>
              <a:srgbClr val="D8E0E8"/>
            </a:solidFill>
            <a:prstDash val="solid"/>
          </a:ln>
        </p:spPr>
      </p:sp>
      <p:sp>
        <p:nvSpPr>
          <p:cNvPr id="7" name="Text 5"/>
          <p:cNvSpPr/>
          <p:nvPr/>
        </p:nvSpPr>
        <p:spPr>
          <a:xfrm>
            <a:off x="2198479" y="1508760"/>
            <a:ext cx="1448671" cy="64008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2 Denoise</a:t>
            </a:r>
            <a:endParaRPr lang="en-US" sz="1200" dirty="0"/>
          </a:p>
        </p:txBody>
      </p:sp>
      <p:sp>
        <p:nvSpPr>
          <p:cNvPr id="8" name="Shape 6"/>
          <p:cNvSpPr/>
          <p:nvPr/>
        </p:nvSpPr>
        <p:spPr>
          <a:xfrm>
            <a:off x="3756878" y="1508760"/>
            <a:ext cx="1448671" cy="640080"/>
          </a:xfrm>
          <a:prstGeom prst="roundRect">
            <a:avLst>
              <a:gd name="adj" fmla="val 8571"/>
            </a:avLst>
          </a:prstGeom>
          <a:solidFill>
            <a:srgbClr val="FFFFFF"/>
          </a:solidFill>
          <a:ln w="12700">
            <a:solidFill>
              <a:srgbClr val="D8E0E8"/>
            </a:solidFill>
            <a:prstDash val="solid"/>
          </a:ln>
        </p:spPr>
      </p:sp>
      <p:sp>
        <p:nvSpPr>
          <p:cNvPr id="9" name="Text 7"/>
          <p:cNvSpPr/>
          <p:nvPr/>
        </p:nvSpPr>
        <p:spPr>
          <a:xfrm>
            <a:off x="3756878" y="1508760"/>
            <a:ext cx="1448671" cy="64008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3 Register T0/Tn</a:t>
            </a:r>
            <a:endParaRPr lang="en-US" sz="1200" dirty="0"/>
          </a:p>
        </p:txBody>
      </p:sp>
      <p:sp>
        <p:nvSpPr>
          <p:cNvPr id="10" name="Shape 8"/>
          <p:cNvSpPr/>
          <p:nvPr/>
        </p:nvSpPr>
        <p:spPr>
          <a:xfrm>
            <a:off x="5315277" y="1508760"/>
            <a:ext cx="1448671" cy="640080"/>
          </a:xfrm>
          <a:prstGeom prst="roundRect">
            <a:avLst>
              <a:gd name="adj" fmla="val 8571"/>
            </a:avLst>
          </a:prstGeom>
          <a:solidFill>
            <a:srgbClr val="FFFFFF"/>
          </a:solidFill>
          <a:ln w="12700">
            <a:solidFill>
              <a:srgbClr val="D8E0E8"/>
            </a:solidFill>
            <a:prstDash val="solid"/>
          </a:ln>
        </p:spPr>
      </p:sp>
      <p:sp>
        <p:nvSpPr>
          <p:cNvPr id="11" name="Text 9"/>
          <p:cNvSpPr/>
          <p:nvPr/>
        </p:nvSpPr>
        <p:spPr>
          <a:xfrm>
            <a:off x="5315277" y="1508760"/>
            <a:ext cx="1448671" cy="64008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4 Centerline</a:t>
            </a:r>
            <a:endParaRPr lang="en-US" sz="1200" dirty="0"/>
          </a:p>
        </p:txBody>
      </p:sp>
      <p:sp>
        <p:nvSpPr>
          <p:cNvPr id="12" name="Shape 10"/>
          <p:cNvSpPr/>
          <p:nvPr/>
        </p:nvSpPr>
        <p:spPr>
          <a:xfrm>
            <a:off x="6873675" y="1508760"/>
            <a:ext cx="1448671" cy="640080"/>
          </a:xfrm>
          <a:prstGeom prst="roundRect">
            <a:avLst>
              <a:gd name="adj" fmla="val 8571"/>
            </a:avLst>
          </a:prstGeom>
          <a:solidFill>
            <a:srgbClr val="FFFFFF"/>
          </a:solidFill>
          <a:ln w="12700">
            <a:solidFill>
              <a:srgbClr val="D8E0E8"/>
            </a:solidFill>
            <a:prstDash val="solid"/>
          </a:ln>
        </p:spPr>
      </p:sp>
      <p:sp>
        <p:nvSpPr>
          <p:cNvPr id="13" name="Text 11"/>
          <p:cNvSpPr/>
          <p:nvPr/>
        </p:nvSpPr>
        <p:spPr>
          <a:xfrm>
            <a:off x="6873675" y="1508760"/>
            <a:ext cx="1448671" cy="64008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5 2D Sections</a:t>
            </a:r>
            <a:endParaRPr lang="en-US" sz="1200" dirty="0"/>
          </a:p>
        </p:txBody>
      </p:sp>
      <p:sp>
        <p:nvSpPr>
          <p:cNvPr id="14" name="Shape 12"/>
          <p:cNvSpPr/>
          <p:nvPr/>
        </p:nvSpPr>
        <p:spPr>
          <a:xfrm>
            <a:off x="8432074" y="1508760"/>
            <a:ext cx="1448671" cy="640080"/>
          </a:xfrm>
          <a:prstGeom prst="roundRect">
            <a:avLst>
              <a:gd name="adj" fmla="val 8571"/>
            </a:avLst>
          </a:prstGeom>
          <a:solidFill>
            <a:srgbClr val="14B8A6"/>
          </a:solidFill>
          <a:ln w="12700">
            <a:solidFill>
              <a:srgbClr val="14B8A6"/>
            </a:solidFill>
            <a:prstDash val="solid"/>
          </a:ln>
          <a:effectLst>
            <a:outerShdw sx="100000" sy="100000" kx="0" ky="0" algn="bl" rotWithShape="0" blurRad="88900" dist="38100" dir="8100000">
              <a:srgbClr val="000000">
                <a:alpha val="18000"/>
              </a:srgbClr>
            </a:outerShdw>
          </a:effectLst>
        </p:spPr>
      </p:sp>
      <p:sp>
        <p:nvSpPr>
          <p:cNvPr id="15" name="Text 13"/>
          <p:cNvSpPr/>
          <p:nvPr/>
        </p:nvSpPr>
        <p:spPr>
          <a:xfrm>
            <a:off x="8432074" y="1508760"/>
            <a:ext cx="1448671"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 Deformation</a:t>
            </a:r>
            <a:endParaRPr lang="en-US" sz="1200" dirty="0"/>
          </a:p>
        </p:txBody>
      </p:sp>
      <p:sp>
        <p:nvSpPr>
          <p:cNvPr id="16" name="Shape 14"/>
          <p:cNvSpPr/>
          <p:nvPr/>
        </p:nvSpPr>
        <p:spPr>
          <a:xfrm>
            <a:off x="9990473" y="1508760"/>
            <a:ext cx="1448671" cy="640080"/>
          </a:xfrm>
          <a:prstGeom prst="roundRect">
            <a:avLst>
              <a:gd name="adj" fmla="val 8571"/>
            </a:avLst>
          </a:prstGeom>
          <a:solidFill>
            <a:srgbClr val="FFFFFF"/>
          </a:solidFill>
          <a:ln w="12700">
            <a:solidFill>
              <a:srgbClr val="D8E0E8"/>
            </a:solidFill>
            <a:prstDash val="solid"/>
          </a:ln>
        </p:spPr>
      </p:sp>
      <p:sp>
        <p:nvSpPr>
          <p:cNvPr id="17" name="Text 15"/>
          <p:cNvSpPr/>
          <p:nvPr/>
        </p:nvSpPr>
        <p:spPr>
          <a:xfrm>
            <a:off x="9990473" y="1508760"/>
            <a:ext cx="1448671" cy="64008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7 Warnings</a:t>
            </a:r>
            <a:endParaRPr lang="en-US" sz="1200" dirty="0"/>
          </a:p>
        </p:txBody>
      </p:sp>
      <p:sp>
        <p:nvSpPr>
          <p:cNvPr id="18" name="Text 16"/>
          <p:cNvSpPr/>
          <p:nvPr/>
        </p:nvSpPr>
        <p:spPr>
          <a:xfrm>
            <a:off x="640080" y="2286000"/>
            <a:ext cx="10908792"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Step 6 runs only after T0 + Tn are denoised and registered to a common frame.</a:t>
            </a:r>
            <a:endParaRPr lang="en-US" sz="1300" dirty="0"/>
          </a:p>
        </p:txBody>
      </p:sp>
      <p:sp>
        <p:nvSpPr>
          <p:cNvPr id="19" name="Shape 17"/>
          <p:cNvSpPr/>
          <p:nvPr/>
        </p:nvSpPr>
        <p:spPr>
          <a:xfrm>
            <a:off x="640080" y="2880360"/>
            <a:ext cx="5180076"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20" name="Shape 18"/>
          <p:cNvSpPr/>
          <p:nvPr/>
        </p:nvSpPr>
        <p:spPr>
          <a:xfrm>
            <a:off x="640080" y="2880360"/>
            <a:ext cx="91440" cy="1371600"/>
          </a:xfrm>
          <a:prstGeom prst="rect">
            <a:avLst/>
          </a:prstGeom>
          <a:solidFill>
            <a:srgbClr val="14B8A6"/>
          </a:solidFill>
          <a:ln/>
        </p:spPr>
      </p:sp>
      <p:sp>
        <p:nvSpPr>
          <p:cNvPr id="21" name="Text 19"/>
          <p:cNvSpPr/>
          <p:nvPr/>
        </p:nvSpPr>
        <p:spPr>
          <a:xfrm>
            <a:off x="914400" y="3044952"/>
            <a:ext cx="4722876" cy="365760"/>
          </a:xfrm>
          <a:prstGeom prst="rect">
            <a:avLst/>
          </a:prstGeom>
          <a:noFill/>
          <a:ln/>
        </p:spPr>
        <p:txBody>
          <a:bodyPr wrap="square" lIns="0" tIns="0" rIns="0" bIns="0" rtlCol="0" anchor="ctr"/>
          <a:lstStyle/>
          <a:p>
            <a:pPr indent="0" marL="0">
              <a:buNone/>
            </a:pPr>
            <a:r>
              <a:rPr lang="en-US" sz="1700" b="1" dirty="0">
                <a:solidFill>
                  <a:srgbClr val="0F2A43"/>
                </a:solidFill>
                <a:latin typeface="Georgia" pitchFamily="34" charset="0"/>
                <a:ea typeface="Georgia" pitchFamily="34" charset="-122"/>
                <a:cs typeface="Georgia" pitchFamily="34" charset="-120"/>
              </a:rPr>
              <a:t>Measure surface displacement</a:t>
            </a:r>
            <a:endParaRPr lang="en-US" sz="1700" dirty="0"/>
          </a:p>
        </p:txBody>
      </p:sp>
      <p:sp>
        <p:nvSpPr>
          <p:cNvPr id="22" name="Text 20"/>
          <p:cNvSpPr/>
          <p:nvPr/>
        </p:nvSpPr>
        <p:spPr>
          <a:xfrm>
            <a:off x="914400" y="3447288"/>
            <a:ext cx="4722876" cy="73152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Compare the Tn cloud against the T0 baseline to see how far each point / section moved (mm).</a:t>
            </a:r>
            <a:endParaRPr lang="en-US" sz="1350" dirty="0"/>
          </a:p>
        </p:txBody>
      </p:sp>
      <p:sp>
        <p:nvSpPr>
          <p:cNvPr id="23" name="Shape 21"/>
          <p:cNvSpPr/>
          <p:nvPr/>
        </p:nvSpPr>
        <p:spPr>
          <a:xfrm>
            <a:off x="6368796" y="2880360"/>
            <a:ext cx="5180076"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24" name="Shape 22"/>
          <p:cNvSpPr/>
          <p:nvPr/>
        </p:nvSpPr>
        <p:spPr>
          <a:xfrm>
            <a:off x="6368796" y="2880360"/>
            <a:ext cx="91440" cy="1371600"/>
          </a:xfrm>
          <a:prstGeom prst="rect">
            <a:avLst/>
          </a:prstGeom>
          <a:solidFill>
            <a:srgbClr val="14B8A6"/>
          </a:solidFill>
          <a:ln/>
        </p:spPr>
      </p:sp>
      <p:sp>
        <p:nvSpPr>
          <p:cNvPr id="25" name="Text 23"/>
          <p:cNvSpPr/>
          <p:nvPr/>
        </p:nvSpPr>
        <p:spPr>
          <a:xfrm>
            <a:off x="6643116" y="3044952"/>
            <a:ext cx="4722876" cy="365760"/>
          </a:xfrm>
          <a:prstGeom prst="rect">
            <a:avLst/>
          </a:prstGeom>
          <a:noFill/>
          <a:ln/>
        </p:spPr>
        <p:txBody>
          <a:bodyPr wrap="square" lIns="0" tIns="0" rIns="0" bIns="0" rtlCol="0" anchor="ctr"/>
          <a:lstStyle/>
          <a:p>
            <a:pPr indent="0" marL="0">
              <a:buNone/>
            </a:pPr>
            <a:r>
              <a:rPr lang="en-US" sz="1700" b="1" dirty="0">
                <a:solidFill>
                  <a:srgbClr val="0F2A43"/>
                </a:solidFill>
                <a:latin typeface="Georgia" pitchFamily="34" charset="0"/>
                <a:ea typeface="Georgia" pitchFamily="34" charset="-122"/>
                <a:cs typeface="Georgia" pitchFamily="34" charset="-120"/>
              </a:rPr>
              <a:t>Quantify deformation</a:t>
            </a:r>
            <a:endParaRPr lang="en-US" sz="1700" dirty="0"/>
          </a:p>
        </p:txBody>
      </p:sp>
      <p:sp>
        <p:nvSpPr>
          <p:cNvPr id="26" name="Text 24"/>
          <p:cNvSpPr/>
          <p:nvPr/>
        </p:nvSpPr>
        <p:spPr>
          <a:xfrm>
            <a:off x="6643116" y="3447288"/>
            <a:ext cx="4722876" cy="73152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Crown settlement, lateral convergence, ovality and eccentricity for each cross-section.</a:t>
            </a:r>
            <a:endParaRPr lang="en-US" sz="1350" dirty="0"/>
          </a:p>
        </p:txBody>
      </p:sp>
      <p:sp>
        <p:nvSpPr>
          <p:cNvPr id="27" name="Shape 25"/>
          <p:cNvSpPr/>
          <p:nvPr/>
        </p:nvSpPr>
        <p:spPr>
          <a:xfrm>
            <a:off x="640080" y="4572000"/>
            <a:ext cx="5180076"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28" name="Shape 26"/>
          <p:cNvSpPr/>
          <p:nvPr/>
        </p:nvSpPr>
        <p:spPr>
          <a:xfrm>
            <a:off x="640080" y="4572000"/>
            <a:ext cx="91440" cy="1371600"/>
          </a:xfrm>
          <a:prstGeom prst="rect">
            <a:avLst/>
          </a:prstGeom>
          <a:solidFill>
            <a:srgbClr val="14B8A6"/>
          </a:solidFill>
          <a:ln/>
        </p:spPr>
      </p:sp>
      <p:sp>
        <p:nvSpPr>
          <p:cNvPr id="29" name="Text 27"/>
          <p:cNvSpPr/>
          <p:nvPr/>
        </p:nvSpPr>
        <p:spPr>
          <a:xfrm>
            <a:off x="914400" y="4736592"/>
            <a:ext cx="4722876" cy="365760"/>
          </a:xfrm>
          <a:prstGeom prst="rect">
            <a:avLst/>
          </a:prstGeom>
          <a:noFill/>
          <a:ln/>
        </p:spPr>
        <p:txBody>
          <a:bodyPr wrap="square" lIns="0" tIns="0" rIns="0" bIns="0" rtlCol="0" anchor="ctr"/>
          <a:lstStyle/>
          <a:p>
            <a:pPr indent="0" marL="0">
              <a:buNone/>
            </a:pPr>
            <a:r>
              <a:rPr lang="en-US" sz="1700" b="1" dirty="0">
                <a:solidFill>
                  <a:srgbClr val="0F2A43"/>
                </a:solidFill>
                <a:latin typeface="Georgia" pitchFamily="34" charset="0"/>
                <a:ea typeface="Georgia" pitchFamily="34" charset="-122"/>
                <a:cs typeface="Georgia" pitchFamily="34" charset="-120"/>
              </a:rPr>
              <a:t>Classify risk</a:t>
            </a:r>
            <a:endParaRPr lang="en-US" sz="1700" dirty="0"/>
          </a:p>
        </p:txBody>
      </p:sp>
      <p:sp>
        <p:nvSpPr>
          <p:cNvPr id="30" name="Text 28"/>
          <p:cNvSpPr/>
          <p:nvPr/>
        </p:nvSpPr>
        <p:spPr>
          <a:xfrm>
            <a:off x="914400" y="5138928"/>
            <a:ext cx="4722876" cy="73152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Label every section OK / CAUTION / CRITICAL, tied to its local chainage.</a:t>
            </a:r>
            <a:endParaRPr lang="en-US" sz="1350" dirty="0"/>
          </a:p>
        </p:txBody>
      </p:sp>
      <p:sp>
        <p:nvSpPr>
          <p:cNvPr id="31" name="Shape 29"/>
          <p:cNvSpPr/>
          <p:nvPr/>
        </p:nvSpPr>
        <p:spPr>
          <a:xfrm>
            <a:off x="6368796" y="4572000"/>
            <a:ext cx="5180076"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32" name="Shape 30"/>
          <p:cNvSpPr/>
          <p:nvPr/>
        </p:nvSpPr>
        <p:spPr>
          <a:xfrm>
            <a:off x="6368796" y="4572000"/>
            <a:ext cx="91440" cy="1371600"/>
          </a:xfrm>
          <a:prstGeom prst="rect">
            <a:avLst/>
          </a:prstGeom>
          <a:solidFill>
            <a:srgbClr val="14B8A6"/>
          </a:solidFill>
          <a:ln/>
        </p:spPr>
      </p:sp>
      <p:sp>
        <p:nvSpPr>
          <p:cNvPr id="33" name="Text 31"/>
          <p:cNvSpPr/>
          <p:nvPr/>
        </p:nvSpPr>
        <p:spPr>
          <a:xfrm>
            <a:off x="6643116" y="4736592"/>
            <a:ext cx="4722876" cy="365760"/>
          </a:xfrm>
          <a:prstGeom prst="rect">
            <a:avLst/>
          </a:prstGeom>
          <a:noFill/>
          <a:ln/>
        </p:spPr>
        <p:txBody>
          <a:bodyPr wrap="square" lIns="0" tIns="0" rIns="0" bIns="0" rtlCol="0" anchor="ctr"/>
          <a:lstStyle/>
          <a:p>
            <a:pPr indent="0" marL="0">
              <a:buNone/>
            </a:pPr>
            <a:r>
              <a:rPr lang="en-US" sz="1700" b="1" dirty="0">
                <a:solidFill>
                  <a:srgbClr val="0F2A43"/>
                </a:solidFill>
                <a:latin typeface="Georgia" pitchFamily="34" charset="0"/>
                <a:ea typeface="Georgia" pitchFamily="34" charset="-122"/>
                <a:cs typeface="Georgia" pitchFamily="34" charset="-120"/>
              </a:rPr>
              <a:t>(Extension) Trend &amp; forecast</a:t>
            </a:r>
            <a:endParaRPr lang="en-US" sz="1700" dirty="0"/>
          </a:p>
        </p:txBody>
      </p:sp>
      <p:sp>
        <p:nvSpPr>
          <p:cNvPr id="34" name="Text 32"/>
          <p:cNvSpPr/>
          <p:nvPr/>
        </p:nvSpPr>
        <p:spPr>
          <a:xfrm>
            <a:off x="6643116" y="5138928"/>
            <a:ext cx="4722876" cy="73152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With 3+ epochs: deformation trend over time and time-to-threshold prediction.</a:t>
            </a:r>
            <a:endParaRPr lang="en-US" sz="1350" dirty="0"/>
          </a:p>
        </p:txBody>
      </p:sp>
      <p:sp>
        <p:nvSpPr>
          <p:cNvPr id="35" name="Text 3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200" b="1" spc="200" kern="0" dirty="0">
                <a:solidFill>
                  <a:srgbClr val="0E8C80"/>
                </a:solidFill>
                <a:latin typeface="Calibri" pitchFamily="34" charset="0"/>
                <a:ea typeface="Calibri" pitchFamily="34" charset="-122"/>
                <a:cs typeface="Calibri" pitchFamily="34" charset="-120"/>
              </a:rPr>
              <a:t>CORE CONCEPT</a:t>
            </a:r>
            <a:endParaRPr lang="en-US" sz="1200" dirty="0"/>
          </a:p>
        </p:txBody>
      </p:sp>
      <p:sp>
        <p:nvSpPr>
          <p:cNvPr id="3" name="Text 1"/>
          <p:cNvSpPr/>
          <p:nvPr/>
        </p:nvSpPr>
        <p:spPr>
          <a:xfrm>
            <a:off x="640080" y="640080"/>
            <a:ext cx="10908792" cy="640080"/>
          </a:xfrm>
          <a:prstGeom prst="rect">
            <a:avLst/>
          </a:prstGeom>
          <a:noFill/>
          <a:ln/>
        </p:spPr>
        <p:txBody>
          <a:bodyPr wrap="square" lIns="0" tIns="0" rIns="0" bIns="0" rtlCol="0" anchor="ctr"/>
          <a:lstStyle/>
          <a:p>
            <a:pPr indent="0" marL="0">
              <a:buNone/>
            </a:pPr>
            <a:r>
              <a:rPr lang="en-US" sz="2800" b="1" dirty="0">
                <a:solidFill>
                  <a:srgbClr val="0F2A43"/>
                </a:solidFill>
                <a:latin typeface="Georgia" pitchFamily="34" charset="0"/>
                <a:ea typeface="Georgia" pitchFamily="34" charset="-122"/>
                <a:cs typeface="Georgia" pitchFamily="34" charset="-120"/>
              </a:rPr>
              <a:t>T0, Tn and why registration comes first</a:t>
            </a:r>
            <a:endParaRPr lang="en-US" sz="2800" dirty="0"/>
          </a:p>
        </p:txBody>
      </p:sp>
      <p:sp>
        <p:nvSpPr>
          <p:cNvPr id="4" name="Shape 2"/>
          <p:cNvSpPr/>
          <p:nvPr/>
        </p:nvSpPr>
        <p:spPr>
          <a:xfrm>
            <a:off x="640080" y="1554480"/>
            <a:ext cx="5180076" cy="1828800"/>
          </a:xfrm>
          <a:prstGeom prst="roundRect">
            <a:avLst>
              <a:gd name="adj" fmla="val 4000"/>
            </a:avLst>
          </a:prstGeom>
          <a:solidFill>
            <a:srgbClr val="0F2A43"/>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5" name="Text 3"/>
          <p:cNvSpPr/>
          <p:nvPr/>
        </p:nvSpPr>
        <p:spPr>
          <a:xfrm>
            <a:off x="960120" y="1783080"/>
            <a:ext cx="4539996" cy="365760"/>
          </a:xfrm>
          <a:prstGeom prst="rect">
            <a:avLst/>
          </a:prstGeom>
          <a:noFill/>
          <a:ln/>
        </p:spPr>
        <p:txBody>
          <a:bodyPr wrap="square" lIns="0" tIns="0" rIns="0" bIns="0" rtlCol="0" anchor="ctr"/>
          <a:lstStyle/>
          <a:p>
            <a:pPr indent="0" marL="0">
              <a:buNone/>
            </a:pPr>
            <a:r>
              <a:rPr lang="en-US" sz="1300" b="1" spc="150" kern="0" dirty="0">
                <a:solidFill>
                  <a:srgbClr val="14B8A6"/>
                </a:solidFill>
                <a:latin typeface="Calibri" pitchFamily="34" charset="0"/>
                <a:ea typeface="Calibri" pitchFamily="34" charset="-122"/>
                <a:cs typeface="Calibri" pitchFamily="34" charset="-120"/>
              </a:rPr>
              <a:t>T0 — REFERENCE</a:t>
            </a:r>
            <a:endParaRPr lang="en-US" sz="1300" dirty="0"/>
          </a:p>
        </p:txBody>
      </p:sp>
      <p:sp>
        <p:nvSpPr>
          <p:cNvPr id="6" name="Text 4"/>
          <p:cNvSpPr/>
          <p:nvPr/>
        </p:nvSpPr>
        <p:spPr>
          <a:xfrm>
            <a:off x="960120" y="2194560"/>
            <a:ext cx="4539996" cy="10058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Baseline scan, treated as the “clean / undeformed” tunnel. Every displacement is measured RELATIVE to T0.</a:t>
            </a:r>
            <a:endParaRPr lang="en-US" sz="1450" dirty="0"/>
          </a:p>
        </p:txBody>
      </p:sp>
      <p:sp>
        <p:nvSpPr>
          <p:cNvPr id="7" name="Shape 5"/>
          <p:cNvSpPr/>
          <p:nvPr/>
        </p:nvSpPr>
        <p:spPr>
          <a:xfrm>
            <a:off x="6368796" y="1554480"/>
            <a:ext cx="5180076" cy="1828800"/>
          </a:xfrm>
          <a:prstGeom prst="roundRect">
            <a:avLst>
              <a:gd name="adj" fmla="val 4000"/>
            </a:avLst>
          </a:prstGeom>
          <a:solidFill>
            <a:srgbClr val="14B8A6"/>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8" name="Text 6"/>
          <p:cNvSpPr/>
          <p:nvPr/>
        </p:nvSpPr>
        <p:spPr>
          <a:xfrm>
            <a:off x="6688836" y="1783080"/>
            <a:ext cx="4539996" cy="365760"/>
          </a:xfrm>
          <a:prstGeom prst="rect">
            <a:avLst/>
          </a:prstGeom>
          <a:noFill/>
          <a:ln/>
        </p:spPr>
        <p:txBody>
          <a:bodyPr wrap="square" lIns="0" tIns="0" rIns="0" bIns="0" rtlCol="0" anchor="ctr"/>
          <a:lstStyle/>
          <a:p>
            <a:pPr indent="0" marL="0">
              <a:buNone/>
            </a:pPr>
            <a:r>
              <a:rPr lang="en-US" sz="1300" b="1" spc="150" kern="0" dirty="0">
                <a:solidFill>
                  <a:srgbClr val="0F2A43"/>
                </a:solidFill>
                <a:latin typeface="Calibri" pitchFamily="34" charset="0"/>
                <a:ea typeface="Calibri" pitchFamily="34" charset="-122"/>
                <a:cs typeface="Calibri" pitchFamily="34" charset="-120"/>
              </a:rPr>
              <a:t>Tn — MONITORING</a:t>
            </a:r>
            <a:endParaRPr lang="en-US" sz="1300" dirty="0"/>
          </a:p>
        </p:txBody>
      </p:sp>
      <p:sp>
        <p:nvSpPr>
          <p:cNvPr id="9" name="Text 7"/>
          <p:cNvSpPr/>
          <p:nvPr/>
        </p:nvSpPr>
        <p:spPr>
          <a:xfrm>
            <a:off x="6688836" y="2194560"/>
            <a:ext cx="4539996" cy="1005840"/>
          </a:xfrm>
          <a:prstGeom prst="rect">
            <a:avLst/>
          </a:prstGeom>
          <a:noFill/>
          <a:ln/>
        </p:spPr>
        <p:txBody>
          <a:bodyPr wrap="square" lIns="0" tIns="0" rIns="0" bIns="0" rtlCol="0" anchor="ctr"/>
          <a:lstStyle/>
          <a:p>
            <a:pPr indent="0" marL="0">
              <a:buNone/>
            </a:pPr>
            <a:r>
              <a:rPr lang="en-US" sz="1450" dirty="0">
                <a:solidFill>
                  <a:srgbClr val="0F2A43"/>
                </a:solidFill>
                <a:latin typeface="Calibri" pitchFamily="34" charset="0"/>
                <a:ea typeface="Calibri" pitchFamily="34" charset="-122"/>
                <a:cs typeface="Calibri" pitchFamily="34" charset="-120"/>
              </a:rPr>
              <a:t>A later scan (month / quarter). Compared to T0 to get settlement, convergence, ovality and eccentricity at time n.</a:t>
            </a:r>
            <a:endParaRPr lang="en-US" sz="1450" dirty="0"/>
          </a:p>
        </p:txBody>
      </p:sp>
      <p:sp>
        <p:nvSpPr>
          <p:cNvPr id="10" name="Shape 8"/>
          <p:cNvSpPr/>
          <p:nvPr/>
        </p:nvSpPr>
        <p:spPr>
          <a:xfrm>
            <a:off x="640080" y="3611880"/>
            <a:ext cx="10908792" cy="2148840"/>
          </a:xfrm>
          <a:prstGeom prst="roundRect">
            <a:avLst>
              <a:gd name="adj" fmla="val 2553"/>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11" name="Text 9"/>
          <p:cNvSpPr/>
          <p:nvPr/>
        </p:nvSpPr>
        <p:spPr>
          <a:xfrm>
            <a:off x="960120" y="3794760"/>
            <a:ext cx="10268712" cy="365760"/>
          </a:xfrm>
          <a:prstGeom prst="rect">
            <a:avLst/>
          </a:prstGeom>
          <a:noFill/>
          <a:ln/>
        </p:spPr>
        <p:txBody>
          <a:bodyPr wrap="square" lIns="0" tIns="0" rIns="0" bIns="0" rtlCol="0" anchor="ctr"/>
          <a:lstStyle/>
          <a:p>
            <a:pPr indent="0" marL="0">
              <a:buNone/>
            </a:pPr>
            <a:r>
              <a:rPr lang="en-US" sz="1800" b="1" dirty="0">
                <a:solidFill>
                  <a:srgbClr val="D7263D"/>
                </a:solidFill>
                <a:latin typeface="Georgia" pitchFamily="34" charset="0"/>
                <a:ea typeface="Georgia" pitchFamily="34" charset="-122"/>
                <a:cs typeface="Georgia" pitchFamily="34" charset="-120"/>
              </a:rPr>
              <a:t>⚠  Registration must run BEFORE Step 6</a:t>
            </a:r>
            <a:endParaRPr lang="en-US" sz="1800" dirty="0"/>
          </a:p>
        </p:txBody>
      </p:sp>
      <p:sp>
        <p:nvSpPr>
          <p:cNvPr id="12" name="Text 10"/>
          <p:cNvSpPr/>
          <p:nvPr/>
        </p:nvSpPr>
        <p:spPr>
          <a:xfrm>
            <a:off x="960120" y="4206240"/>
            <a:ext cx="10268712" cy="1463040"/>
          </a:xfrm>
          <a:prstGeom prst="rect">
            <a:avLst/>
          </a:prstGeom>
          <a:noFill/>
          <a:ln/>
        </p:spPr>
        <p:txBody>
          <a:bodyPr wrap="square" lIns="0" tIns="0" rIns="0" bIns="0" rtlCol="0" anchor="ctr"/>
          <a:lstStyle/>
          <a:p>
            <a:pPr indent="0" marL="0">
              <a:lnSpc>
                <a:spcPct val="115000"/>
              </a:lnSpc>
              <a:spcAft>
                <a:spcPts val="600"/>
              </a:spcAft>
              <a:buNone/>
            </a:pPr>
            <a:r>
              <a:rPr lang="en-US" sz="1400" dirty="0">
                <a:solidFill>
                  <a:srgbClr val="1E293B"/>
                </a:solidFill>
                <a:latin typeface="Calibri" pitchFamily="34" charset="0"/>
                <a:ea typeface="Calibri" pitchFamily="34" charset="-122"/>
                <a:cs typeface="Calibri" pitchFamily="34" charset="-120"/>
              </a:rPr>
              <a:t>The two scans usually sit in different coordinate frames (different setups). Without bringing Tn back into T0’s frame, the difference is setup error — not deformation.</a:t>
            </a:r>
            <a:endParaRPr lang="en-US" sz="1400" dirty="0"/>
          </a:p>
          <a:p>
            <a:pPr indent="0" marL="0">
              <a:lnSpc>
                <a:spcPct val="115000"/>
              </a:lnSpc>
              <a:spcAft>
                <a:spcPts val="600"/>
              </a:spcAft>
              <a:buNone/>
            </a:pPr>
            <a:r>
              <a:rPr lang="en-US" sz="1400" b="1" dirty="0">
                <a:solidFill>
                  <a:srgbClr val="1E293B"/>
                </a:solidFill>
                <a:latin typeface="Calibri" pitchFamily="34" charset="0"/>
                <a:ea typeface="Calibri" pitchFamily="34" charset="-122"/>
                <a:cs typeface="Calibri" pitchFamily="34" charset="-120"/>
              </a:rPr>
              <a:t>Key: registration aligns on the STABLE majority (trimmed-ICP / fixed targets) and must NOT absorb local deformation.</a:t>
            </a:r>
            <a:endParaRPr lang="en-US" sz="1400" dirty="0"/>
          </a:p>
          <a:p>
            <a:pPr indent="0" marL="0">
              <a:lnSpc>
                <a:spcPct val="115000"/>
              </a:lnSpc>
              <a:spcAft>
                <a:spcPts val="600"/>
              </a:spcAft>
              <a:buNone/>
            </a:pPr>
            <a:r>
              <a:rPr lang="en-US" sz="1400" i="1" dirty="0">
                <a:solidFill>
                  <a:srgbClr val="0E8C80"/>
                </a:solidFill>
                <a:latin typeface="Calibri" pitchFamily="34" charset="0"/>
                <a:ea typeface="Calibri" pitchFamily="34" charset="-122"/>
                <a:cs typeface="Calibri" pitchFamily="34" charset="-120"/>
              </a:rPr>
              <a:t>Verified: register_epochs keeps 32.6 mm of a 60 mm ground-truth local settlement (not flattened to 0).</a:t>
            </a:r>
            <a:endParaRPr lang="en-US" sz="1400" dirty="0"/>
          </a:p>
        </p:txBody>
      </p:sp>
      <p:sp>
        <p:nvSpPr>
          <p:cNvPr id="13" name="Text 11"/>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200" b="1" spc="200" kern="0" dirty="0">
                <a:solidFill>
                  <a:srgbClr val="0E8C80"/>
                </a:solidFill>
                <a:latin typeface="Calibri" pitchFamily="34" charset="0"/>
                <a:ea typeface="Calibri" pitchFamily="34" charset="-122"/>
                <a:cs typeface="Calibri" pitchFamily="34" charset="-120"/>
              </a:rPr>
              <a:t>WORKFLOW</a:t>
            </a:r>
            <a:endParaRPr lang="en-US" sz="1200" dirty="0"/>
          </a:p>
        </p:txBody>
      </p:sp>
      <p:sp>
        <p:nvSpPr>
          <p:cNvPr id="3" name="Text 1"/>
          <p:cNvSpPr/>
          <p:nvPr/>
        </p:nvSpPr>
        <p:spPr>
          <a:xfrm>
            <a:off x="640080" y="640080"/>
            <a:ext cx="10908792" cy="640080"/>
          </a:xfrm>
          <a:prstGeom prst="rect">
            <a:avLst/>
          </a:prstGeom>
          <a:noFill/>
          <a:ln/>
        </p:spPr>
        <p:txBody>
          <a:bodyPr wrap="square" lIns="0" tIns="0" rIns="0" bIns="0" rtlCol="0" anchor="ctr"/>
          <a:lstStyle/>
          <a:p>
            <a:pPr indent="0" marL="0">
              <a:buNone/>
            </a:pPr>
            <a:r>
              <a:rPr lang="en-US" sz="2800" b="1" dirty="0">
                <a:solidFill>
                  <a:srgbClr val="0F2A43"/>
                </a:solidFill>
                <a:latin typeface="Georgia" pitchFamily="34" charset="0"/>
                <a:ea typeface="Georgia" pitchFamily="34" charset="-122"/>
                <a:cs typeface="Georgia" pitchFamily="34" charset="-120"/>
              </a:rPr>
              <a:t>The T0 → Tn pipeline inside Step 6</a:t>
            </a:r>
            <a:endParaRPr lang="en-US" sz="2800" dirty="0"/>
          </a:p>
        </p:txBody>
      </p:sp>
      <p:sp>
        <p:nvSpPr>
          <p:cNvPr id="4" name="Shape 2"/>
          <p:cNvSpPr/>
          <p:nvPr/>
        </p:nvSpPr>
        <p:spPr>
          <a:xfrm>
            <a:off x="640080" y="1691640"/>
            <a:ext cx="2452878" cy="3291840"/>
          </a:xfrm>
          <a:prstGeom prst="roundRect">
            <a:avLst>
              <a:gd name="adj" fmla="val 2982"/>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5" name="Shape 3"/>
          <p:cNvSpPr/>
          <p:nvPr/>
        </p:nvSpPr>
        <p:spPr>
          <a:xfrm>
            <a:off x="1455039" y="2011680"/>
            <a:ext cx="822960" cy="822960"/>
          </a:xfrm>
          <a:prstGeom prst="ellipse">
            <a:avLst/>
          </a:prstGeom>
          <a:solidFill>
            <a:srgbClr val="0F2A43"/>
          </a:solidFill>
          <a:ln/>
        </p:spPr>
      </p:sp>
      <p:sp>
        <p:nvSpPr>
          <p:cNvPr id="6" name="Text 4"/>
          <p:cNvSpPr/>
          <p:nvPr/>
        </p:nvSpPr>
        <p:spPr>
          <a:xfrm>
            <a:off x="1455039" y="2011680"/>
            <a:ext cx="822960" cy="822960"/>
          </a:xfrm>
          <a:prstGeom prst="rect">
            <a:avLst/>
          </a:prstGeom>
          <a:noFill/>
          <a:ln/>
        </p:spPr>
        <p:txBody>
          <a:bodyPr wrap="square" lIns="0" tIns="0" rIns="0" bIns="0" rtlCol="0" anchor="ctr"/>
          <a:lstStyle/>
          <a:p>
            <a:pPr algn="ctr" indent="0" marL="0">
              <a:buNone/>
            </a:pPr>
            <a:r>
              <a:rPr lang="en-US" sz="1600" b="1" dirty="0">
                <a:solidFill>
                  <a:srgbClr val="14B8A6"/>
                </a:solidFill>
                <a:latin typeface="Georgia" pitchFamily="34" charset="0"/>
                <a:ea typeface="Georgia" pitchFamily="34" charset="-122"/>
                <a:cs typeface="Georgia" pitchFamily="34" charset="-120"/>
              </a:rPr>
              <a:t>6.1</a:t>
            </a:r>
            <a:endParaRPr lang="en-US" sz="1600" dirty="0"/>
          </a:p>
        </p:txBody>
      </p:sp>
      <p:sp>
        <p:nvSpPr>
          <p:cNvPr id="7" name="Text 5"/>
          <p:cNvSpPr/>
          <p:nvPr/>
        </p:nvSpPr>
        <p:spPr>
          <a:xfrm>
            <a:off x="822960" y="3017520"/>
            <a:ext cx="2087118" cy="457200"/>
          </a:xfrm>
          <a:prstGeom prst="rect">
            <a:avLst/>
          </a:prstGeom>
          <a:noFill/>
          <a:ln/>
        </p:spPr>
        <p:txBody>
          <a:bodyPr wrap="square" lIns="0" tIns="0" rIns="0" bIns="0" rtlCol="0" anchor="ctr"/>
          <a:lstStyle/>
          <a:p>
            <a:pPr algn="ctr" indent="0" marL="0">
              <a:buNone/>
            </a:pPr>
            <a:r>
              <a:rPr lang="en-US" sz="1600" b="1" dirty="0">
                <a:solidFill>
                  <a:srgbClr val="0F2A43"/>
                </a:solidFill>
                <a:latin typeface="Georgia" pitchFamily="34" charset="0"/>
                <a:ea typeface="Georgia" pitchFamily="34" charset="-122"/>
                <a:cs typeface="Georgia" pitchFamily="34" charset="-120"/>
              </a:rPr>
              <a:t>Load epochs</a:t>
            </a:r>
            <a:endParaRPr lang="en-US" sz="1600" dirty="0"/>
          </a:p>
        </p:txBody>
      </p:sp>
      <p:sp>
        <p:nvSpPr>
          <p:cNvPr id="8" name="Text 6"/>
          <p:cNvSpPr/>
          <p:nvPr/>
        </p:nvSpPr>
        <p:spPr>
          <a:xfrm>
            <a:off x="841248" y="3520440"/>
            <a:ext cx="2050542" cy="1325880"/>
          </a:xfrm>
          <a:prstGeom prst="rect">
            <a:avLst/>
          </a:prstGeom>
          <a:noFill/>
          <a:ln/>
        </p:spPr>
        <p:txBody>
          <a:bodyPr wrap="square" lIns="0" tIns="0" rIns="0" bIns="0" rtlCol="0" anchor="ctr"/>
          <a:lstStyle/>
          <a:p>
            <a:pPr algn="ctr" indent="0" marL="0">
              <a:buNone/>
            </a:pPr>
            <a:r>
              <a:rPr lang="en-US" sz="1250" dirty="0">
                <a:solidFill>
                  <a:srgbClr val="1E293B"/>
                </a:solidFill>
                <a:latin typeface="Calibri" pitchFamily="34" charset="0"/>
                <a:ea typeface="Calibri" pitchFamily="34" charset="-122"/>
                <a:cs typeface="Calibri" pitchFamily="34" charset="-120"/>
              </a:rPr>
              <a:t>Load T0 (reference) and Tn (monitoring) point clouds.</a:t>
            </a:r>
            <a:endParaRPr lang="en-US" sz="1250" dirty="0"/>
          </a:p>
        </p:txBody>
      </p:sp>
      <p:sp>
        <p:nvSpPr>
          <p:cNvPr id="9" name="Text 7"/>
          <p:cNvSpPr/>
          <p:nvPr/>
        </p:nvSpPr>
        <p:spPr>
          <a:xfrm>
            <a:off x="3129534" y="2971800"/>
            <a:ext cx="310896" cy="548640"/>
          </a:xfrm>
          <a:prstGeom prst="rect">
            <a:avLst/>
          </a:prstGeom>
          <a:noFill/>
          <a:ln/>
        </p:spPr>
        <p:txBody>
          <a:bodyPr wrap="square" lIns="0" tIns="0" rIns="0" bIns="0" rtlCol="0" anchor="ctr"/>
          <a:lstStyle/>
          <a:p>
            <a:pPr algn="ctr" indent="0" marL="0">
              <a:buNone/>
            </a:pPr>
            <a:r>
              <a:rPr lang="en-US" sz="2200" b="1" dirty="0">
                <a:solidFill>
                  <a:srgbClr val="14B8A6"/>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458718" y="1691640"/>
            <a:ext cx="2452878" cy="3291840"/>
          </a:xfrm>
          <a:prstGeom prst="roundRect">
            <a:avLst>
              <a:gd name="adj" fmla="val 2982"/>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11" name="Shape 9"/>
          <p:cNvSpPr/>
          <p:nvPr/>
        </p:nvSpPr>
        <p:spPr>
          <a:xfrm>
            <a:off x="4273677" y="2011680"/>
            <a:ext cx="822960" cy="822960"/>
          </a:xfrm>
          <a:prstGeom prst="ellipse">
            <a:avLst/>
          </a:prstGeom>
          <a:solidFill>
            <a:srgbClr val="0F2A43"/>
          </a:solidFill>
          <a:ln/>
        </p:spPr>
      </p:sp>
      <p:sp>
        <p:nvSpPr>
          <p:cNvPr id="12" name="Text 10"/>
          <p:cNvSpPr/>
          <p:nvPr/>
        </p:nvSpPr>
        <p:spPr>
          <a:xfrm>
            <a:off x="4273677" y="2011680"/>
            <a:ext cx="822960" cy="822960"/>
          </a:xfrm>
          <a:prstGeom prst="rect">
            <a:avLst/>
          </a:prstGeom>
          <a:noFill/>
          <a:ln/>
        </p:spPr>
        <p:txBody>
          <a:bodyPr wrap="square" lIns="0" tIns="0" rIns="0" bIns="0" rtlCol="0" anchor="ctr"/>
          <a:lstStyle/>
          <a:p>
            <a:pPr algn="ctr" indent="0" marL="0">
              <a:buNone/>
            </a:pPr>
            <a:r>
              <a:rPr lang="en-US" sz="1600" b="1" dirty="0">
                <a:solidFill>
                  <a:srgbClr val="14B8A6"/>
                </a:solidFill>
                <a:latin typeface="Georgia" pitchFamily="34" charset="0"/>
                <a:ea typeface="Georgia" pitchFamily="34" charset="-122"/>
                <a:cs typeface="Georgia" pitchFamily="34" charset="-120"/>
              </a:rPr>
              <a:t>6.3</a:t>
            </a:r>
            <a:endParaRPr lang="en-US" sz="1600" dirty="0"/>
          </a:p>
        </p:txBody>
      </p:sp>
      <p:sp>
        <p:nvSpPr>
          <p:cNvPr id="13" name="Text 11"/>
          <p:cNvSpPr/>
          <p:nvPr/>
        </p:nvSpPr>
        <p:spPr>
          <a:xfrm>
            <a:off x="3641598" y="3017520"/>
            <a:ext cx="2087118" cy="457200"/>
          </a:xfrm>
          <a:prstGeom prst="rect">
            <a:avLst/>
          </a:prstGeom>
          <a:noFill/>
          <a:ln/>
        </p:spPr>
        <p:txBody>
          <a:bodyPr wrap="square" lIns="0" tIns="0" rIns="0" bIns="0" rtlCol="0" anchor="ctr"/>
          <a:lstStyle/>
          <a:p>
            <a:pPr algn="ctr" indent="0" marL="0">
              <a:buNone/>
            </a:pPr>
            <a:r>
              <a:rPr lang="en-US" sz="1600" b="1" dirty="0">
                <a:solidFill>
                  <a:srgbClr val="0F2A43"/>
                </a:solidFill>
                <a:latin typeface="Georgia" pitchFamily="34" charset="0"/>
                <a:ea typeface="Georgia" pitchFamily="34" charset="-122"/>
                <a:cs typeface="Georgia" pitchFamily="34" charset="-120"/>
              </a:rPr>
              <a:t>M3C2 map</a:t>
            </a:r>
            <a:endParaRPr lang="en-US" sz="1600" dirty="0"/>
          </a:p>
        </p:txBody>
      </p:sp>
      <p:sp>
        <p:nvSpPr>
          <p:cNvPr id="14" name="Text 12"/>
          <p:cNvSpPr/>
          <p:nvPr/>
        </p:nvSpPr>
        <p:spPr>
          <a:xfrm>
            <a:off x="3659886" y="3520440"/>
            <a:ext cx="2050542" cy="1325880"/>
          </a:xfrm>
          <a:prstGeom prst="rect">
            <a:avLst/>
          </a:prstGeom>
          <a:noFill/>
          <a:ln/>
        </p:spPr>
        <p:txBody>
          <a:bodyPr wrap="square" lIns="0" tIns="0" rIns="0" bIns="0" rtlCol="0" anchor="ctr"/>
          <a:lstStyle/>
          <a:p>
            <a:pPr algn="ctr" indent="0" marL="0">
              <a:buNone/>
            </a:pPr>
            <a:r>
              <a:rPr lang="en-US" sz="1250" dirty="0">
                <a:solidFill>
                  <a:srgbClr val="1E293B"/>
                </a:solidFill>
                <a:latin typeface="Calibri" pitchFamily="34" charset="0"/>
                <a:ea typeface="Calibri" pitchFamily="34" charset="-122"/>
                <a:cs typeface="Calibri" pitchFamily="34" charset="-120"/>
              </a:rPr>
              <a:t>Signed surface displacement T0→Tn along normals + level-of-detection (LoD).</a:t>
            </a:r>
            <a:endParaRPr lang="en-US" sz="1250" dirty="0"/>
          </a:p>
        </p:txBody>
      </p:sp>
      <p:sp>
        <p:nvSpPr>
          <p:cNvPr id="15" name="Text 13"/>
          <p:cNvSpPr/>
          <p:nvPr/>
        </p:nvSpPr>
        <p:spPr>
          <a:xfrm>
            <a:off x="5948172" y="2971800"/>
            <a:ext cx="310896" cy="548640"/>
          </a:xfrm>
          <a:prstGeom prst="rect">
            <a:avLst/>
          </a:prstGeom>
          <a:noFill/>
          <a:ln/>
        </p:spPr>
        <p:txBody>
          <a:bodyPr wrap="square" lIns="0" tIns="0" rIns="0" bIns="0" rtlCol="0" anchor="ctr"/>
          <a:lstStyle/>
          <a:p>
            <a:pPr algn="ctr" indent="0" marL="0">
              <a:buNone/>
            </a:pPr>
            <a:r>
              <a:rPr lang="en-US" sz="2200" b="1" dirty="0">
                <a:solidFill>
                  <a:srgbClr val="14B8A6"/>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6277356" y="1691640"/>
            <a:ext cx="2452878" cy="3291840"/>
          </a:xfrm>
          <a:prstGeom prst="roundRect">
            <a:avLst>
              <a:gd name="adj" fmla="val 2982"/>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17" name="Shape 15"/>
          <p:cNvSpPr/>
          <p:nvPr/>
        </p:nvSpPr>
        <p:spPr>
          <a:xfrm>
            <a:off x="7092315" y="2011680"/>
            <a:ext cx="822960" cy="822960"/>
          </a:xfrm>
          <a:prstGeom prst="ellipse">
            <a:avLst/>
          </a:prstGeom>
          <a:solidFill>
            <a:srgbClr val="0F2A43"/>
          </a:solidFill>
          <a:ln/>
        </p:spPr>
      </p:sp>
      <p:sp>
        <p:nvSpPr>
          <p:cNvPr id="18" name="Text 16"/>
          <p:cNvSpPr/>
          <p:nvPr/>
        </p:nvSpPr>
        <p:spPr>
          <a:xfrm>
            <a:off x="7092315" y="2011680"/>
            <a:ext cx="822960" cy="822960"/>
          </a:xfrm>
          <a:prstGeom prst="rect">
            <a:avLst/>
          </a:prstGeom>
          <a:noFill/>
          <a:ln/>
        </p:spPr>
        <p:txBody>
          <a:bodyPr wrap="square" lIns="0" tIns="0" rIns="0" bIns="0" rtlCol="0" anchor="ctr"/>
          <a:lstStyle/>
          <a:p>
            <a:pPr algn="ctr" indent="0" marL="0">
              <a:buNone/>
            </a:pPr>
            <a:r>
              <a:rPr lang="en-US" sz="1600" b="1" dirty="0">
                <a:solidFill>
                  <a:srgbClr val="14B8A6"/>
                </a:solidFill>
                <a:latin typeface="Georgia" pitchFamily="34" charset="0"/>
                <a:ea typeface="Georgia" pitchFamily="34" charset="-122"/>
                <a:cs typeface="Georgia" pitchFamily="34" charset="-120"/>
              </a:rPr>
              <a:t>5–6</a:t>
            </a:r>
            <a:endParaRPr lang="en-US" sz="1600" dirty="0"/>
          </a:p>
        </p:txBody>
      </p:sp>
      <p:sp>
        <p:nvSpPr>
          <p:cNvPr id="19" name="Text 17"/>
          <p:cNvSpPr/>
          <p:nvPr/>
        </p:nvSpPr>
        <p:spPr>
          <a:xfrm>
            <a:off x="6460236" y="3017520"/>
            <a:ext cx="2087118" cy="457200"/>
          </a:xfrm>
          <a:prstGeom prst="rect">
            <a:avLst/>
          </a:prstGeom>
          <a:noFill/>
          <a:ln/>
        </p:spPr>
        <p:txBody>
          <a:bodyPr wrap="square" lIns="0" tIns="0" rIns="0" bIns="0" rtlCol="0" anchor="ctr"/>
          <a:lstStyle/>
          <a:p>
            <a:pPr algn="ctr" indent="0" marL="0">
              <a:buNone/>
            </a:pPr>
            <a:r>
              <a:rPr lang="en-US" sz="1600" b="1" dirty="0">
                <a:solidFill>
                  <a:srgbClr val="0F2A43"/>
                </a:solidFill>
                <a:latin typeface="Georgia" pitchFamily="34" charset="0"/>
                <a:ea typeface="Georgia" pitchFamily="34" charset="-122"/>
                <a:cs typeface="Georgia" pitchFamily="34" charset="-120"/>
              </a:rPr>
              <a:t>Parameters</a:t>
            </a:r>
            <a:endParaRPr lang="en-US" sz="1600" dirty="0"/>
          </a:p>
        </p:txBody>
      </p:sp>
      <p:sp>
        <p:nvSpPr>
          <p:cNvPr id="20" name="Text 18"/>
          <p:cNvSpPr/>
          <p:nvPr/>
        </p:nvSpPr>
        <p:spPr>
          <a:xfrm>
            <a:off x="6478524" y="3520440"/>
            <a:ext cx="2050542" cy="1325880"/>
          </a:xfrm>
          <a:prstGeom prst="rect">
            <a:avLst/>
          </a:prstGeom>
          <a:noFill/>
          <a:ln/>
        </p:spPr>
        <p:txBody>
          <a:bodyPr wrap="square" lIns="0" tIns="0" rIns="0" bIns="0" rtlCol="0" anchor="ctr"/>
          <a:lstStyle/>
          <a:p>
            <a:pPr algn="ctr" indent="0" marL="0">
              <a:buNone/>
            </a:pPr>
            <a:r>
              <a:rPr lang="en-US" sz="1250" dirty="0">
                <a:solidFill>
                  <a:srgbClr val="1E293B"/>
                </a:solidFill>
                <a:latin typeface="Calibri" pitchFamily="34" charset="0"/>
                <a:ea typeface="Calibri" pitchFamily="34" charset="-122"/>
                <a:cs typeface="Calibri" pitchFamily="34" charset="-120"/>
              </a:rPr>
              <a:t>Per-section deformation parameters measured against the T0 reference sections.</a:t>
            </a:r>
            <a:endParaRPr lang="en-US" sz="1250" dirty="0"/>
          </a:p>
        </p:txBody>
      </p:sp>
      <p:sp>
        <p:nvSpPr>
          <p:cNvPr id="21" name="Text 19"/>
          <p:cNvSpPr/>
          <p:nvPr/>
        </p:nvSpPr>
        <p:spPr>
          <a:xfrm>
            <a:off x="8766810" y="2971800"/>
            <a:ext cx="310896" cy="548640"/>
          </a:xfrm>
          <a:prstGeom prst="rect">
            <a:avLst/>
          </a:prstGeom>
          <a:noFill/>
          <a:ln/>
        </p:spPr>
        <p:txBody>
          <a:bodyPr wrap="square" lIns="0" tIns="0" rIns="0" bIns="0" rtlCol="0" anchor="ctr"/>
          <a:lstStyle/>
          <a:p>
            <a:pPr algn="ctr" indent="0" marL="0">
              <a:buNone/>
            </a:pPr>
            <a:r>
              <a:rPr lang="en-US" sz="2200" b="1" dirty="0">
                <a:solidFill>
                  <a:srgbClr val="14B8A6"/>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9095994" y="1691640"/>
            <a:ext cx="2452878" cy="3291840"/>
          </a:xfrm>
          <a:prstGeom prst="roundRect">
            <a:avLst>
              <a:gd name="adj" fmla="val 2982"/>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23" name="Shape 21"/>
          <p:cNvSpPr/>
          <p:nvPr/>
        </p:nvSpPr>
        <p:spPr>
          <a:xfrm>
            <a:off x="9910953" y="2011680"/>
            <a:ext cx="822960" cy="822960"/>
          </a:xfrm>
          <a:prstGeom prst="ellipse">
            <a:avLst/>
          </a:prstGeom>
          <a:solidFill>
            <a:srgbClr val="0F2A43"/>
          </a:solidFill>
          <a:ln/>
        </p:spPr>
      </p:sp>
      <p:sp>
        <p:nvSpPr>
          <p:cNvPr id="24" name="Text 22"/>
          <p:cNvSpPr/>
          <p:nvPr/>
        </p:nvSpPr>
        <p:spPr>
          <a:xfrm>
            <a:off x="9910953" y="2011680"/>
            <a:ext cx="822960" cy="822960"/>
          </a:xfrm>
          <a:prstGeom prst="rect">
            <a:avLst/>
          </a:prstGeom>
          <a:noFill/>
          <a:ln/>
        </p:spPr>
        <p:txBody>
          <a:bodyPr wrap="square" lIns="0" tIns="0" rIns="0" bIns="0" rtlCol="0" anchor="ctr"/>
          <a:lstStyle/>
          <a:p>
            <a:pPr algn="ctr" indent="0" marL="0">
              <a:buNone/>
            </a:pPr>
            <a:r>
              <a:rPr lang="en-US" sz="1600" b="1" dirty="0">
                <a:solidFill>
                  <a:srgbClr val="14B8A6"/>
                </a:solidFill>
                <a:latin typeface="Georgia" pitchFamily="34" charset="0"/>
                <a:ea typeface="Georgia" pitchFamily="34" charset="-122"/>
                <a:cs typeface="Georgia" pitchFamily="34" charset="-120"/>
              </a:rPr>
              <a:t>7</a:t>
            </a:r>
            <a:endParaRPr lang="en-US" sz="1600" dirty="0"/>
          </a:p>
        </p:txBody>
      </p:sp>
      <p:sp>
        <p:nvSpPr>
          <p:cNvPr id="25" name="Text 23"/>
          <p:cNvSpPr/>
          <p:nvPr/>
        </p:nvSpPr>
        <p:spPr>
          <a:xfrm>
            <a:off x="9278874" y="3017520"/>
            <a:ext cx="2087118" cy="457200"/>
          </a:xfrm>
          <a:prstGeom prst="rect">
            <a:avLst/>
          </a:prstGeom>
          <a:noFill/>
          <a:ln/>
        </p:spPr>
        <p:txBody>
          <a:bodyPr wrap="square" lIns="0" tIns="0" rIns="0" bIns="0" rtlCol="0" anchor="ctr"/>
          <a:lstStyle/>
          <a:p>
            <a:pPr algn="ctr" indent="0" marL="0">
              <a:buNone/>
            </a:pPr>
            <a:r>
              <a:rPr lang="en-US" sz="1600" b="1" dirty="0">
                <a:solidFill>
                  <a:srgbClr val="0F2A43"/>
                </a:solidFill>
                <a:latin typeface="Georgia" pitchFamily="34" charset="0"/>
                <a:ea typeface="Georgia" pitchFamily="34" charset="-122"/>
                <a:cs typeface="Georgia" pitchFamily="34" charset="-120"/>
              </a:rPr>
              <a:t>Warnings</a:t>
            </a:r>
            <a:endParaRPr lang="en-US" sz="1600" dirty="0"/>
          </a:p>
        </p:txBody>
      </p:sp>
      <p:sp>
        <p:nvSpPr>
          <p:cNvPr id="26" name="Text 24"/>
          <p:cNvSpPr/>
          <p:nvPr/>
        </p:nvSpPr>
        <p:spPr>
          <a:xfrm>
            <a:off x="9297162" y="3520440"/>
            <a:ext cx="2050542" cy="1325880"/>
          </a:xfrm>
          <a:prstGeom prst="rect">
            <a:avLst/>
          </a:prstGeom>
          <a:noFill/>
          <a:ln/>
        </p:spPr>
        <p:txBody>
          <a:bodyPr wrap="square" lIns="0" tIns="0" rIns="0" bIns="0" rtlCol="0" anchor="ctr"/>
          <a:lstStyle/>
          <a:p>
            <a:pPr algn="ctr" indent="0" marL="0">
              <a:buNone/>
            </a:pPr>
            <a:r>
              <a:rPr lang="en-US" sz="1250" dirty="0">
                <a:solidFill>
                  <a:srgbClr val="1E293B"/>
                </a:solidFill>
                <a:latin typeface="Calibri" pitchFamily="34" charset="0"/>
                <a:ea typeface="Calibri" pitchFamily="34" charset="-122"/>
                <a:cs typeface="Calibri" pitchFamily="34" charset="-120"/>
              </a:rPr>
              <a:t>Classify each section OK / CAUTION / CRITICAL, shared by every view.</a:t>
            </a:r>
            <a:endParaRPr lang="en-US" sz="1250" dirty="0"/>
          </a:p>
        </p:txBody>
      </p:sp>
      <p:sp>
        <p:nvSpPr>
          <p:cNvPr id="27" name="Text 25"/>
          <p:cNvSpPr/>
          <p:nvPr/>
        </p:nvSpPr>
        <p:spPr>
          <a:xfrm>
            <a:off x="640080" y="5257800"/>
            <a:ext cx="10908792"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For a 2-scan T0/Tn pair this is the full workflow. Multiple epochs (T0…Tn) unlock the 6.2 trend chart and 6.5 forecast.</a:t>
            </a:r>
            <a:endParaRPr lang="en-US" sz="1300" dirty="0"/>
          </a:p>
        </p:txBody>
      </p:sp>
      <p:sp>
        <p:nvSpPr>
          <p:cNvPr id="28" name="Text 26"/>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200" b="1" spc="200" kern="0" dirty="0">
                <a:solidFill>
                  <a:srgbClr val="0E8C80"/>
                </a:solidFill>
                <a:latin typeface="Calibri" pitchFamily="34" charset="0"/>
                <a:ea typeface="Calibri" pitchFamily="34" charset="-122"/>
                <a:cs typeface="Calibri" pitchFamily="34" charset="-120"/>
              </a:rPr>
              <a:t>6.3 — HOW IT COMPUTES</a:t>
            </a:r>
            <a:endParaRPr lang="en-US" sz="1200" dirty="0"/>
          </a:p>
        </p:txBody>
      </p:sp>
      <p:sp>
        <p:nvSpPr>
          <p:cNvPr id="3" name="Text 1"/>
          <p:cNvSpPr/>
          <p:nvPr/>
        </p:nvSpPr>
        <p:spPr>
          <a:xfrm>
            <a:off x="640080" y="640080"/>
            <a:ext cx="10908792" cy="640080"/>
          </a:xfrm>
          <a:prstGeom prst="rect">
            <a:avLst/>
          </a:prstGeom>
          <a:noFill/>
          <a:ln/>
        </p:spPr>
        <p:txBody>
          <a:bodyPr wrap="square" lIns="0" tIns="0" rIns="0" bIns="0" rtlCol="0" anchor="ctr"/>
          <a:lstStyle/>
          <a:p>
            <a:pPr indent="0" marL="0">
              <a:buNone/>
            </a:pPr>
            <a:r>
              <a:rPr lang="en-US" sz="2800" b="1" dirty="0">
                <a:solidFill>
                  <a:srgbClr val="0F2A43"/>
                </a:solidFill>
                <a:latin typeface="Georgia" pitchFamily="34" charset="0"/>
                <a:ea typeface="Georgia" pitchFamily="34" charset="-122"/>
                <a:cs typeface="Georgia" pitchFamily="34" charset="-120"/>
              </a:rPr>
              <a:t>M3C2: signed displacement + level-of-detection</a:t>
            </a:r>
            <a:endParaRPr lang="en-US" sz="2800" dirty="0"/>
          </a:p>
        </p:txBody>
      </p:sp>
      <p:sp>
        <p:nvSpPr>
          <p:cNvPr id="4" name="Shape 2"/>
          <p:cNvSpPr/>
          <p:nvPr/>
        </p:nvSpPr>
        <p:spPr>
          <a:xfrm>
            <a:off x="640080" y="1691640"/>
            <a:ext cx="6766560" cy="914400"/>
          </a:xfrm>
          <a:prstGeom prst="roundRect">
            <a:avLst>
              <a:gd name="adj" fmla="val 6000"/>
            </a:avLst>
          </a:prstGeom>
          <a:solidFill>
            <a:srgbClr val="FFFFFF"/>
          </a:solidFill>
          <a:ln w="12700">
            <a:solidFill>
              <a:srgbClr val="E2E8F0"/>
            </a:solidFill>
            <a:prstDash val="solid"/>
          </a:ln>
        </p:spPr>
      </p:sp>
      <p:sp>
        <p:nvSpPr>
          <p:cNvPr id="5" name="Shape 3"/>
          <p:cNvSpPr/>
          <p:nvPr/>
        </p:nvSpPr>
        <p:spPr>
          <a:xfrm>
            <a:off x="822960" y="1892808"/>
            <a:ext cx="512064" cy="512064"/>
          </a:xfrm>
          <a:prstGeom prst="ellipse">
            <a:avLst/>
          </a:prstGeom>
          <a:solidFill>
            <a:srgbClr val="14B8A6"/>
          </a:solidFill>
          <a:ln/>
        </p:spPr>
      </p:sp>
      <p:sp>
        <p:nvSpPr>
          <p:cNvPr id="6" name="Text 4"/>
          <p:cNvSpPr/>
          <p:nvPr/>
        </p:nvSpPr>
        <p:spPr>
          <a:xfrm>
            <a:off x="822960" y="189280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508760" y="1801368"/>
            <a:ext cx="5760720" cy="320040"/>
          </a:xfrm>
          <a:prstGeom prst="rect">
            <a:avLst/>
          </a:prstGeom>
          <a:noFill/>
          <a:ln/>
        </p:spPr>
        <p:txBody>
          <a:bodyPr wrap="square" lIns="0" tIns="0" rIns="0" bIns="0" rtlCol="0" anchor="ctr"/>
          <a:lstStyle/>
          <a:p>
            <a:pPr indent="0" marL="0">
              <a:buNone/>
            </a:pPr>
            <a:r>
              <a:rPr lang="en-US" sz="1500" b="1" dirty="0">
                <a:solidFill>
                  <a:srgbClr val="0F2A43"/>
                </a:solidFill>
                <a:latin typeface="Georgia" pitchFamily="34" charset="0"/>
                <a:ea typeface="Georgia" pitchFamily="34" charset="-122"/>
                <a:cs typeface="Georgia" pitchFamily="34" charset="-120"/>
              </a:rPr>
              <a:t>Surface normal</a:t>
            </a:r>
            <a:endParaRPr lang="en-US" sz="1500" dirty="0"/>
          </a:p>
        </p:txBody>
      </p:sp>
      <p:sp>
        <p:nvSpPr>
          <p:cNvPr id="8" name="Text 6"/>
          <p:cNvSpPr/>
          <p:nvPr/>
        </p:nvSpPr>
        <p:spPr>
          <a:xfrm>
            <a:off x="1508760" y="2112264"/>
            <a:ext cx="5760720" cy="45720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At each corepoint, estimate the local surface normal within normal_radius.</a:t>
            </a:r>
            <a:endParaRPr lang="en-US" sz="1250" dirty="0"/>
          </a:p>
        </p:txBody>
      </p:sp>
      <p:sp>
        <p:nvSpPr>
          <p:cNvPr id="9" name="Shape 7"/>
          <p:cNvSpPr/>
          <p:nvPr/>
        </p:nvSpPr>
        <p:spPr>
          <a:xfrm>
            <a:off x="640080" y="2770632"/>
            <a:ext cx="6766560" cy="914400"/>
          </a:xfrm>
          <a:prstGeom prst="roundRect">
            <a:avLst>
              <a:gd name="adj" fmla="val 6000"/>
            </a:avLst>
          </a:prstGeom>
          <a:solidFill>
            <a:srgbClr val="FFFFFF"/>
          </a:solidFill>
          <a:ln w="12700">
            <a:solidFill>
              <a:srgbClr val="E2E8F0"/>
            </a:solidFill>
            <a:prstDash val="solid"/>
          </a:ln>
        </p:spPr>
      </p:sp>
      <p:sp>
        <p:nvSpPr>
          <p:cNvPr id="10" name="Shape 8"/>
          <p:cNvSpPr/>
          <p:nvPr/>
        </p:nvSpPr>
        <p:spPr>
          <a:xfrm>
            <a:off x="822960" y="2971800"/>
            <a:ext cx="512064" cy="512064"/>
          </a:xfrm>
          <a:prstGeom prst="ellipse">
            <a:avLst/>
          </a:prstGeom>
          <a:solidFill>
            <a:srgbClr val="14B8A6"/>
          </a:solidFill>
          <a:ln/>
        </p:spPr>
      </p:sp>
      <p:sp>
        <p:nvSpPr>
          <p:cNvPr id="11" name="Text 9"/>
          <p:cNvSpPr/>
          <p:nvPr/>
        </p:nvSpPr>
        <p:spPr>
          <a:xfrm>
            <a:off x="822960" y="297180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2" name="Text 10"/>
          <p:cNvSpPr/>
          <p:nvPr/>
        </p:nvSpPr>
        <p:spPr>
          <a:xfrm>
            <a:off x="1508760" y="2880360"/>
            <a:ext cx="5760720" cy="320040"/>
          </a:xfrm>
          <a:prstGeom prst="rect">
            <a:avLst/>
          </a:prstGeom>
          <a:noFill/>
          <a:ln/>
        </p:spPr>
        <p:txBody>
          <a:bodyPr wrap="square" lIns="0" tIns="0" rIns="0" bIns="0" rtlCol="0" anchor="ctr"/>
          <a:lstStyle/>
          <a:p>
            <a:pPr indent="0" marL="0">
              <a:buNone/>
            </a:pPr>
            <a:r>
              <a:rPr lang="en-US" sz="1500" b="1" dirty="0">
                <a:solidFill>
                  <a:srgbClr val="0F2A43"/>
                </a:solidFill>
                <a:latin typeface="Georgia" pitchFamily="34" charset="0"/>
                <a:ea typeface="Georgia" pitchFamily="34" charset="-122"/>
                <a:cs typeface="Georgia" pitchFamily="34" charset="-120"/>
              </a:rPr>
              <a:t>Signed distance</a:t>
            </a:r>
            <a:endParaRPr lang="en-US" sz="1500" dirty="0"/>
          </a:p>
        </p:txBody>
      </p:sp>
      <p:sp>
        <p:nvSpPr>
          <p:cNvPr id="13" name="Text 11"/>
          <p:cNvSpPr/>
          <p:nvPr/>
        </p:nvSpPr>
        <p:spPr>
          <a:xfrm>
            <a:off x="1508760" y="3191256"/>
            <a:ext cx="5760720" cy="45720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Project the T0→Tn change onto that normal inside cylinder cyl_radius → distance_mm (negative = inward).</a:t>
            </a:r>
            <a:endParaRPr lang="en-US" sz="1250" dirty="0"/>
          </a:p>
        </p:txBody>
      </p:sp>
      <p:sp>
        <p:nvSpPr>
          <p:cNvPr id="14" name="Shape 12"/>
          <p:cNvSpPr/>
          <p:nvPr/>
        </p:nvSpPr>
        <p:spPr>
          <a:xfrm>
            <a:off x="640080" y="3849624"/>
            <a:ext cx="6766560" cy="914400"/>
          </a:xfrm>
          <a:prstGeom prst="roundRect">
            <a:avLst>
              <a:gd name="adj" fmla="val 6000"/>
            </a:avLst>
          </a:prstGeom>
          <a:solidFill>
            <a:srgbClr val="FFFFFF"/>
          </a:solidFill>
          <a:ln w="12700">
            <a:solidFill>
              <a:srgbClr val="E2E8F0"/>
            </a:solidFill>
            <a:prstDash val="solid"/>
          </a:ln>
        </p:spPr>
      </p:sp>
      <p:sp>
        <p:nvSpPr>
          <p:cNvPr id="15" name="Shape 13"/>
          <p:cNvSpPr/>
          <p:nvPr/>
        </p:nvSpPr>
        <p:spPr>
          <a:xfrm>
            <a:off x="822960" y="4050792"/>
            <a:ext cx="512064" cy="512064"/>
          </a:xfrm>
          <a:prstGeom prst="ellipse">
            <a:avLst/>
          </a:prstGeom>
          <a:solidFill>
            <a:srgbClr val="14B8A6"/>
          </a:solidFill>
          <a:ln/>
        </p:spPr>
      </p:sp>
      <p:sp>
        <p:nvSpPr>
          <p:cNvPr id="16" name="Text 14"/>
          <p:cNvSpPr/>
          <p:nvPr/>
        </p:nvSpPr>
        <p:spPr>
          <a:xfrm>
            <a:off x="822960" y="40507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7" name="Text 15"/>
          <p:cNvSpPr/>
          <p:nvPr/>
        </p:nvSpPr>
        <p:spPr>
          <a:xfrm>
            <a:off x="1508760" y="3959352"/>
            <a:ext cx="5760720" cy="320040"/>
          </a:xfrm>
          <a:prstGeom prst="rect">
            <a:avLst/>
          </a:prstGeom>
          <a:noFill/>
          <a:ln/>
        </p:spPr>
        <p:txBody>
          <a:bodyPr wrap="square" lIns="0" tIns="0" rIns="0" bIns="0" rtlCol="0" anchor="ctr"/>
          <a:lstStyle/>
          <a:p>
            <a:pPr indent="0" marL="0">
              <a:buNone/>
            </a:pPr>
            <a:r>
              <a:rPr lang="en-US" sz="1500" b="1" dirty="0">
                <a:solidFill>
                  <a:srgbClr val="0F2A43"/>
                </a:solidFill>
                <a:latin typeface="Georgia" pitchFamily="34" charset="0"/>
                <a:ea typeface="Georgia" pitchFamily="34" charset="-122"/>
                <a:cs typeface="Georgia" pitchFamily="34" charset="-120"/>
              </a:rPr>
              <a:t>LoD (detection limit)</a:t>
            </a:r>
            <a:endParaRPr lang="en-US" sz="1500" dirty="0"/>
          </a:p>
        </p:txBody>
      </p:sp>
      <p:sp>
        <p:nvSpPr>
          <p:cNvPr id="18" name="Text 16"/>
          <p:cNvSpPr/>
          <p:nvPr/>
        </p:nvSpPr>
        <p:spPr>
          <a:xfrm>
            <a:off x="1508760" y="4270248"/>
            <a:ext cx="5760720" cy="45720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lod_mm = uncertainty from roughness / noise. Only |distance| &gt; LoD counts as REAL deformation.</a:t>
            </a:r>
            <a:endParaRPr lang="en-US" sz="1250" dirty="0"/>
          </a:p>
        </p:txBody>
      </p:sp>
      <p:sp>
        <p:nvSpPr>
          <p:cNvPr id="19" name="Shape 17"/>
          <p:cNvSpPr/>
          <p:nvPr/>
        </p:nvSpPr>
        <p:spPr>
          <a:xfrm>
            <a:off x="640080" y="4928616"/>
            <a:ext cx="6766560" cy="914400"/>
          </a:xfrm>
          <a:prstGeom prst="roundRect">
            <a:avLst>
              <a:gd name="adj" fmla="val 6000"/>
            </a:avLst>
          </a:prstGeom>
          <a:solidFill>
            <a:srgbClr val="FFFFFF"/>
          </a:solidFill>
          <a:ln w="12700">
            <a:solidFill>
              <a:srgbClr val="E2E8F0"/>
            </a:solidFill>
            <a:prstDash val="solid"/>
          </a:ln>
        </p:spPr>
      </p:sp>
      <p:sp>
        <p:nvSpPr>
          <p:cNvPr id="20" name="Shape 18"/>
          <p:cNvSpPr/>
          <p:nvPr/>
        </p:nvSpPr>
        <p:spPr>
          <a:xfrm>
            <a:off x="822960" y="5129784"/>
            <a:ext cx="512064" cy="512064"/>
          </a:xfrm>
          <a:prstGeom prst="ellipse">
            <a:avLst/>
          </a:prstGeom>
          <a:solidFill>
            <a:srgbClr val="14B8A6"/>
          </a:solidFill>
          <a:ln/>
        </p:spPr>
      </p:sp>
      <p:sp>
        <p:nvSpPr>
          <p:cNvPr id="21" name="Text 19"/>
          <p:cNvSpPr/>
          <p:nvPr/>
        </p:nvSpPr>
        <p:spPr>
          <a:xfrm>
            <a:off x="822960" y="512978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2" name="Text 20"/>
          <p:cNvSpPr/>
          <p:nvPr/>
        </p:nvSpPr>
        <p:spPr>
          <a:xfrm>
            <a:off x="1508760" y="5038344"/>
            <a:ext cx="5760720" cy="320040"/>
          </a:xfrm>
          <a:prstGeom prst="rect">
            <a:avLst/>
          </a:prstGeom>
          <a:noFill/>
          <a:ln/>
        </p:spPr>
        <p:txBody>
          <a:bodyPr wrap="square" lIns="0" tIns="0" rIns="0" bIns="0" rtlCol="0" anchor="ctr"/>
          <a:lstStyle/>
          <a:p>
            <a:pPr indent="0" marL="0">
              <a:buNone/>
            </a:pPr>
            <a:r>
              <a:rPr lang="en-US" sz="1500" b="1" dirty="0">
                <a:solidFill>
                  <a:srgbClr val="0F2A43"/>
                </a:solidFill>
                <a:latin typeface="Georgia" pitchFamily="34" charset="0"/>
                <a:ea typeface="Georgia" pitchFamily="34" charset="-122"/>
                <a:cs typeface="Georgia" pitchFamily="34" charset="-120"/>
              </a:rPr>
              <a:t>significant mask</a:t>
            </a:r>
            <a:endParaRPr lang="en-US" sz="1500" dirty="0"/>
          </a:p>
        </p:txBody>
      </p:sp>
      <p:sp>
        <p:nvSpPr>
          <p:cNvPr id="23" name="Text 21"/>
          <p:cNvSpPr/>
          <p:nvPr/>
        </p:nvSpPr>
        <p:spPr>
          <a:xfrm>
            <a:off x="1508760" y="5349240"/>
            <a:ext cx="5760720" cy="45720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Flags points above LoD → removes noise, prevents false alarms.</a:t>
            </a:r>
            <a:endParaRPr lang="en-US" sz="1250" dirty="0"/>
          </a:p>
        </p:txBody>
      </p:sp>
      <p:sp>
        <p:nvSpPr>
          <p:cNvPr id="24" name="Shape 22"/>
          <p:cNvSpPr/>
          <p:nvPr/>
        </p:nvSpPr>
        <p:spPr>
          <a:xfrm>
            <a:off x="7772400" y="1691640"/>
            <a:ext cx="3776472" cy="3657600"/>
          </a:xfrm>
          <a:prstGeom prst="roundRect">
            <a:avLst>
              <a:gd name="adj" fmla="val 2000"/>
            </a:avLst>
          </a:prstGeom>
          <a:solidFill>
            <a:srgbClr val="0F2A43"/>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25" name="Text 23"/>
          <p:cNvSpPr/>
          <p:nvPr/>
        </p:nvSpPr>
        <p:spPr>
          <a:xfrm>
            <a:off x="8046720" y="1874520"/>
            <a:ext cx="3291840" cy="365760"/>
          </a:xfrm>
          <a:prstGeom prst="rect">
            <a:avLst/>
          </a:prstGeom>
          <a:noFill/>
          <a:ln/>
        </p:spPr>
        <p:txBody>
          <a:bodyPr wrap="square" lIns="0" tIns="0" rIns="0" bIns="0" rtlCol="0" anchor="ctr"/>
          <a:lstStyle/>
          <a:p>
            <a:pPr indent="0" marL="0">
              <a:buNone/>
            </a:pPr>
            <a:r>
              <a:rPr lang="en-US" sz="1300" b="1" spc="150" kern="0" dirty="0">
                <a:solidFill>
                  <a:srgbClr val="14B8A6"/>
                </a:solidFill>
                <a:latin typeface="Calibri" pitchFamily="34" charset="0"/>
                <a:ea typeface="Calibri" pitchFamily="34" charset="-122"/>
                <a:cs typeface="Calibri" pitchFamily="34" charset="-120"/>
              </a:rPr>
              <a:t>What the numbers mean</a:t>
            </a:r>
            <a:endParaRPr lang="en-US" sz="1300" dirty="0"/>
          </a:p>
        </p:txBody>
      </p:sp>
      <p:sp>
        <p:nvSpPr>
          <p:cNvPr id="26" name="Text 24"/>
          <p:cNvSpPr/>
          <p:nvPr/>
        </p:nvSpPr>
        <p:spPr>
          <a:xfrm>
            <a:off x="8046720" y="2286000"/>
            <a:ext cx="3227832" cy="2926080"/>
          </a:xfrm>
          <a:prstGeom prst="rect">
            <a:avLst/>
          </a:prstGeom>
          <a:noFill/>
          <a:ln/>
        </p:spPr>
        <p:txBody>
          <a:bodyPr wrap="square" lIns="0" tIns="0" rIns="0" bIns="0" rtlCol="0" anchor="ctr"/>
          <a:lstStyle/>
          <a:p>
            <a:pPr indent="0" marL="0">
              <a:lnSpc>
                <a:spcPct val="110000"/>
              </a:lnSpc>
              <a:buNone/>
            </a:pPr>
            <a:r>
              <a:rPr lang="en-US" sz="1350" b="1" dirty="0">
                <a:solidFill>
                  <a:srgbClr val="FFFFFF"/>
                </a:solidFill>
                <a:latin typeface="Calibri" pitchFamily="34" charset="0"/>
                <a:ea typeface="Calibri" pitchFamily="34" charset="-122"/>
                <a:cs typeface="Calibri" pitchFamily="34" charset="-120"/>
              </a:rPr>
              <a:t>distance_mm &lt; 0</a:t>
            </a:r>
            <a:endParaRPr lang="en-US" sz="1350" dirty="0"/>
          </a:p>
          <a:p>
            <a:pPr indent="0" marL="0">
              <a:lnSpc>
                <a:spcPct val="110000"/>
              </a:lnSpc>
              <a:buNone/>
            </a:pPr>
            <a:r>
              <a:rPr lang="en-US" sz="1350" dirty="0">
                <a:solidFill>
                  <a:srgbClr val="CFE8F2"/>
                </a:solidFill>
                <a:latin typeface="Calibri" pitchFamily="34" charset="0"/>
                <a:ea typeface="Calibri" pitchFamily="34" charset="-122"/>
                <a:cs typeface="Calibri" pitchFamily="34" charset="-120"/>
              </a:rPr>
              <a:t>surface moved INWARD (settlement / convergence).</a:t>
            </a:r>
            <a:endParaRPr lang="en-US" sz="1350" dirty="0"/>
          </a:p>
          <a:p>
            <a:pPr indent="0" marL="0">
              <a:lnSpc>
                <a:spcPct val="110000"/>
              </a:lnSpc>
              <a:buNone/>
            </a:pPr>
            <a:endParaRPr lang="en-US" sz="1350" dirty="0"/>
          </a:p>
          <a:p>
            <a:pPr indent="0" marL="0">
              <a:lnSpc>
                <a:spcPct val="110000"/>
              </a:lnSpc>
              <a:buNone/>
            </a:pPr>
            <a:r>
              <a:rPr lang="en-US" sz="1350" b="1" dirty="0">
                <a:solidFill>
                  <a:srgbClr val="FFFFFF"/>
                </a:solidFill>
                <a:latin typeface="Calibri" pitchFamily="34" charset="0"/>
                <a:ea typeface="Calibri" pitchFamily="34" charset="-122"/>
                <a:cs typeface="Calibri" pitchFamily="34" charset="-120"/>
              </a:rPr>
              <a:t>|distance| ≤ LoD</a:t>
            </a:r>
            <a:endParaRPr lang="en-US" sz="1350" dirty="0"/>
          </a:p>
          <a:p>
            <a:pPr indent="0" marL="0">
              <a:lnSpc>
                <a:spcPct val="110000"/>
              </a:lnSpc>
              <a:buNone/>
            </a:pPr>
            <a:r>
              <a:rPr lang="en-US" sz="1350" dirty="0">
                <a:solidFill>
                  <a:srgbClr val="CFE8F2"/>
                </a:solidFill>
                <a:latin typeface="Calibri" pitchFamily="34" charset="0"/>
                <a:ea typeface="Calibri" pitchFamily="34" charset="-122"/>
                <a:cs typeface="Calibri" pitchFamily="34" charset="-120"/>
              </a:rPr>
              <a:t>within the noise band → no conclusion.</a:t>
            </a:r>
            <a:endParaRPr lang="en-US" sz="1350" dirty="0"/>
          </a:p>
          <a:p>
            <a:pPr indent="0" marL="0">
              <a:lnSpc>
                <a:spcPct val="110000"/>
              </a:lnSpc>
              <a:buNone/>
            </a:pPr>
            <a:endParaRPr lang="en-US" sz="1350" dirty="0"/>
          </a:p>
          <a:p>
            <a:pPr indent="0" marL="0">
              <a:lnSpc>
                <a:spcPct val="110000"/>
              </a:lnSpc>
              <a:buNone/>
            </a:pPr>
            <a:r>
              <a:rPr lang="en-US" sz="1350" b="1" dirty="0">
                <a:solidFill>
                  <a:srgbClr val="E0A100"/>
                </a:solidFill>
                <a:latin typeface="Calibri" pitchFamily="34" charset="0"/>
                <a:ea typeface="Calibri" pitchFamily="34" charset="-122"/>
                <a:cs typeface="Calibri" pitchFamily="34" charset="-120"/>
              </a:rPr>
              <a:t>quality_warning</a:t>
            </a:r>
            <a:endParaRPr lang="en-US" sz="1350" dirty="0"/>
          </a:p>
          <a:p>
            <a:pPr indent="0" marL="0">
              <a:lnSpc>
                <a:spcPct val="110000"/>
              </a:lnSpc>
              <a:buNone/>
            </a:pPr>
            <a:r>
              <a:rPr lang="en-US" sz="1350" dirty="0">
                <a:solidFill>
                  <a:srgbClr val="CFE8F2"/>
                </a:solidFill>
                <a:latin typeface="Calibri" pitchFamily="34" charset="0"/>
                <a:ea typeface="Calibri" pitchFamily="34" charset="-122"/>
                <a:cs typeface="Calibri" pitchFamily="34" charset="-120"/>
              </a:rPr>
              <a:t>fires if &gt;50% of corepoints have no Tn neighbour (partial scan) → coverage alert.</a:t>
            </a:r>
            <a:endParaRPr lang="en-US" sz="1350" dirty="0"/>
          </a:p>
        </p:txBody>
      </p:sp>
      <p:sp>
        <p:nvSpPr>
          <p:cNvPr id="27" name="Text 25"/>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200" b="1" spc="200" kern="0" dirty="0">
                <a:solidFill>
                  <a:srgbClr val="0E8C80"/>
                </a:solidFill>
                <a:latin typeface="Calibri" pitchFamily="34" charset="0"/>
                <a:ea typeface="Calibri" pitchFamily="34" charset="-122"/>
                <a:cs typeface="Calibri" pitchFamily="34" charset="-120"/>
              </a:rPr>
              <a:t>REAL RESULT — TEST DATA</a:t>
            </a:r>
            <a:endParaRPr lang="en-US" sz="1200" dirty="0"/>
          </a:p>
        </p:txBody>
      </p:sp>
      <p:sp>
        <p:nvSpPr>
          <p:cNvPr id="3" name="Text 1"/>
          <p:cNvSpPr/>
          <p:nvPr/>
        </p:nvSpPr>
        <p:spPr>
          <a:xfrm>
            <a:off x="640080" y="640080"/>
            <a:ext cx="10908792" cy="640080"/>
          </a:xfrm>
          <a:prstGeom prst="rect">
            <a:avLst/>
          </a:prstGeom>
          <a:noFill/>
          <a:ln/>
        </p:spPr>
        <p:txBody>
          <a:bodyPr wrap="square" lIns="0" tIns="0" rIns="0" bIns="0" rtlCol="0" anchor="ctr"/>
          <a:lstStyle/>
          <a:p>
            <a:pPr indent="0" marL="0">
              <a:buNone/>
            </a:pPr>
            <a:r>
              <a:rPr lang="en-US" sz="2800" b="1" dirty="0">
                <a:solidFill>
                  <a:srgbClr val="0F2A43"/>
                </a:solidFill>
                <a:latin typeface="Georgia" pitchFamily="34" charset="0"/>
                <a:ea typeface="Georgia" pitchFamily="34" charset="-122"/>
                <a:cs typeface="Georgia" pitchFamily="34" charset="-120"/>
              </a:rPr>
              <a:t>M3C2 deformation map: T0 → Tn</a:t>
            </a:r>
            <a:endParaRPr lang="en-US" sz="2800" dirty="0"/>
          </a:p>
        </p:txBody>
      </p:sp>
      <p:pic>
        <p:nvPicPr>
          <p:cNvPr id="4" name="Image 0" descr="step6_figures/m3c2_3d_en.png">    </p:cNvPr>
          <p:cNvPicPr>
            <a:picLocks noChangeAspect="1"/>
          </p:cNvPicPr>
          <p:nvPr/>
        </p:nvPicPr>
        <p:blipFill>
          <a:blip r:embed="rId1"/>
          <a:stretch>
            <a:fillRect/>
          </a:stretch>
        </p:blipFill>
        <p:spPr>
          <a:xfrm>
            <a:off x="548640" y="1600200"/>
            <a:ext cx="6400800" cy="3310128"/>
          </a:xfrm>
          <a:prstGeom prst="rect">
            <a:avLst/>
          </a:prstGeom>
        </p:spPr>
      </p:pic>
      <p:sp>
        <p:nvSpPr>
          <p:cNvPr id="5" name="Text 2"/>
          <p:cNvSpPr/>
          <p:nvPr/>
        </p:nvSpPr>
        <p:spPr>
          <a:xfrm>
            <a:off x="548640" y="4956048"/>
            <a:ext cx="6400800" cy="32004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3D cloud coloured by displacement (PyVista off-screen)</a:t>
            </a:r>
            <a:endParaRPr lang="en-US" sz="1100" dirty="0"/>
          </a:p>
        </p:txBody>
      </p:sp>
      <p:pic>
        <p:nvPicPr>
          <p:cNvPr id="6" name="Image 1" descr="step6_figures/m3c2_map_en.png">    </p:cNvPr>
          <p:cNvPicPr>
            <a:picLocks noChangeAspect="1"/>
          </p:cNvPicPr>
          <p:nvPr/>
        </p:nvPicPr>
        <p:blipFill>
          <a:blip r:embed="rId2"/>
          <a:stretch>
            <a:fillRect/>
          </a:stretch>
        </p:blipFill>
        <p:spPr>
          <a:xfrm>
            <a:off x="7178040" y="1600200"/>
            <a:ext cx="4572000" cy="1810512"/>
          </a:xfrm>
          <a:prstGeom prst="rect">
            <a:avLst/>
          </a:prstGeom>
        </p:spPr>
      </p:pic>
      <p:sp>
        <p:nvSpPr>
          <p:cNvPr id="7" name="Shape 3"/>
          <p:cNvSpPr/>
          <p:nvPr/>
        </p:nvSpPr>
        <p:spPr>
          <a:xfrm>
            <a:off x="7178040" y="3657600"/>
            <a:ext cx="4572000" cy="1325880"/>
          </a:xfrm>
          <a:prstGeom prst="roundRect">
            <a:avLst>
              <a:gd name="adj" fmla="val 5517"/>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8" name="Text 4"/>
          <p:cNvSpPr/>
          <p:nvPr/>
        </p:nvSpPr>
        <p:spPr>
          <a:xfrm>
            <a:off x="7406640" y="3794760"/>
            <a:ext cx="4206240" cy="1097280"/>
          </a:xfrm>
          <a:prstGeom prst="rect">
            <a:avLst/>
          </a:prstGeom>
          <a:noFill/>
          <a:ln/>
        </p:spPr>
        <p:txBody>
          <a:bodyPr wrap="square" lIns="0" tIns="0" rIns="0" bIns="0" rtlCol="0" anchor="ctr"/>
          <a:lstStyle/>
          <a:p>
            <a:pPr indent="0" marL="0">
              <a:lnSpc>
                <a:spcPct val="112000"/>
              </a:lnSpc>
              <a:buNone/>
            </a:pPr>
            <a:r>
              <a:rPr lang="en-US" sz="1200" b="1" dirty="0">
                <a:solidFill>
                  <a:srgbClr val="0F2A43"/>
                </a:solidFill>
                <a:latin typeface="Calibri" pitchFamily="34" charset="0"/>
                <a:ea typeface="Calibri" pitchFamily="34" charset="-122"/>
                <a:cs typeface="Calibri" pitchFamily="34" charset="-120"/>
              </a:rPr>
              <a:t>3 local damage zones (match ground truth):</a:t>
            </a:r>
            <a:endParaRPr lang="en-US" sz="1200" dirty="0"/>
          </a:p>
          <a:p>
            <a:pPr indent="0" marL="0">
              <a:lnSpc>
                <a:spcPct val="112000"/>
              </a:lnSpc>
              <a:buNone/>
            </a:pPr>
            <a:r>
              <a:rPr lang="en-US" sz="1200" dirty="0">
                <a:solidFill>
                  <a:srgbClr val="1E293B"/>
                </a:solidFill>
                <a:latin typeface="Calibri" pitchFamily="34" charset="0"/>
                <a:ea typeface="Calibri" pitchFamily="34" charset="-122"/>
                <a:cs typeface="Calibri" pitchFamily="34" charset="-120"/>
              </a:rPr>
              <a:t>• Crown settlement @ chainage ~20 m (blue, crown)</a:t>
            </a:r>
            <a:endParaRPr lang="en-US" sz="1200" dirty="0"/>
          </a:p>
          <a:p>
            <a:pPr indent="0" marL="0">
              <a:lnSpc>
                <a:spcPct val="112000"/>
              </a:lnSpc>
              <a:buNone/>
            </a:pPr>
            <a:r>
              <a:rPr lang="en-US" sz="1200" dirty="0">
                <a:solidFill>
                  <a:srgbClr val="1E293B"/>
                </a:solidFill>
                <a:latin typeface="Calibri" pitchFamily="34" charset="0"/>
                <a:ea typeface="Calibri" pitchFamily="34" charset="-122"/>
                <a:cs typeface="Calibri" pitchFamily="34" charset="-120"/>
              </a:rPr>
              <a:t>• Sidewall convergence @ ~45 m</a:t>
            </a:r>
            <a:endParaRPr lang="en-US" sz="1200" dirty="0"/>
          </a:p>
          <a:p>
            <a:pPr indent="0" marL="0">
              <a:lnSpc>
                <a:spcPct val="112000"/>
              </a:lnSpc>
              <a:buNone/>
            </a:pPr>
            <a:r>
              <a:rPr lang="en-US" sz="1200" dirty="0">
                <a:solidFill>
                  <a:srgbClr val="1E293B"/>
                </a:solidFill>
                <a:latin typeface="Calibri" pitchFamily="34" charset="0"/>
                <a:ea typeface="Calibri" pitchFamily="34" charset="-122"/>
                <a:cs typeface="Calibri" pitchFamily="34" charset="-120"/>
              </a:rPr>
              <a:t>• Local damage @ ~65 m</a:t>
            </a:r>
            <a:endParaRPr lang="en-US" sz="1200" dirty="0"/>
          </a:p>
        </p:txBody>
      </p:sp>
      <p:sp>
        <p:nvSpPr>
          <p:cNvPr id="9" name="Text 5"/>
          <p:cNvSpPr/>
          <p:nvPr/>
        </p:nvSpPr>
        <p:spPr>
          <a:xfrm>
            <a:off x="548640" y="5349240"/>
            <a:ext cx="11091672" cy="457200"/>
          </a:xfrm>
          <a:prstGeom prst="rect">
            <a:avLst/>
          </a:prstGeom>
          <a:noFill/>
          <a:ln/>
        </p:spPr>
        <p:txBody>
          <a:bodyPr wrap="square" lIns="0" tIns="0" rIns="0" bIns="0" rtlCol="0" anchor="ctr"/>
          <a:lstStyle/>
          <a:p>
            <a:pPr indent="0" marL="0">
              <a:buNone/>
            </a:pPr>
            <a:r>
              <a:rPr lang="en-US" sz="1200" i="1" dirty="0">
                <a:solidFill>
                  <a:srgbClr val="0E8C80"/>
                </a:solidFill>
                <a:latin typeface="Calibri" pitchFamily="34" charset="0"/>
                <a:ea typeface="Calibri" pitchFamily="34" charset="-122"/>
                <a:cs typeface="Calibri" pitchFamily="34" charset="-120"/>
              </a:rPr>
              <a:t>15,456 corepoints · method = M3C2 · real peak displacement −44.5 mm. Not a mock-up — computed from the dataset.</a:t>
            </a:r>
            <a:endParaRPr lang="en-US" sz="1200" dirty="0"/>
          </a:p>
        </p:txBody>
      </p:sp>
      <p:sp>
        <p:nvSpPr>
          <p:cNvPr id="10" name="Text 6"/>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200" b="1" spc="200" kern="0" dirty="0">
                <a:solidFill>
                  <a:srgbClr val="0E8C80"/>
                </a:solidFill>
                <a:latin typeface="Calibri" pitchFamily="34" charset="0"/>
                <a:ea typeface="Calibri" pitchFamily="34" charset="-122"/>
                <a:cs typeface="Calibri" pitchFamily="34" charset="-120"/>
              </a:rPr>
              <a:t>MAIN OUTPUTS</a:t>
            </a:r>
            <a:endParaRPr lang="en-US" sz="1200" dirty="0"/>
          </a:p>
        </p:txBody>
      </p:sp>
      <p:sp>
        <p:nvSpPr>
          <p:cNvPr id="3" name="Text 1"/>
          <p:cNvSpPr/>
          <p:nvPr/>
        </p:nvSpPr>
        <p:spPr>
          <a:xfrm>
            <a:off x="640080" y="640080"/>
            <a:ext cx="10908792" cy="640080"/>
          </a:xfrm>
          <a:prstGeom prst="rect">
            <a:avLst/>
          </a:prstGeom>
          <a:noFill/>
          <a:ln/>
        </p:spPr>
        <p:txBody>
          <a:bodyPr wrap="square" lIns="0" tIns="0" rIns="0" bIns="0" rtlCol="0" anchor="ctr"/>
          <a:lstStyle/>
          <a:p>
            <a:pPr indent="0" marL="0">
              <a:buNone/>
            </a:pPr>
            <a:r>
              <a:rPr lang="en-US" sz="2800" b="1" dirty="0">
                <a:solidFill>
                  <a:srgbClr val="0F2A43"/>
                </a:solidFill>
                <a:latin typeface="Georgia" pitchFamily="34" charset="0"/>
                <a:ea typeface="Georgia" pitchFamily="34" charset="-122"/>
                <a:cs typeface="Georgia" pitchFamily="34" charset="-120"/>
              </a:rPr>
              <a:t>4 deformation parameters &amp; warning thresholds</a:t>
            </a:r>
            <a:endParaRPr lang="en-US" sz="2800" dirty="0"/>
          </a:p>
        </p:txBody>
      </p:sp>
      <p:sp>
        <p:nvSpPr>
          <p:cNvPr id="4" name="Shape 2"/>
          <p:cNvSpPr/>
          <p:nvPr/>
        </p:nvSpPr>
        <p:spPr>
          <a:xfrm>
            <a:off x="640080" y="1645920"/>
            <a:ext cx="5180076" cy="1783080"/>
          </a:xfrm>
          <a:prstGeom prst="roundRect">
            <a:avLst>
              <a:gd name="adj" fmla="val 4103"/>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5" name="Shape 3"/>
          <p:cNvSpPr/>
          <p:nvPr/>
        </p:nvSpPr>
        <p:spPr>
          <a:xfrm>
            <a:off x="640080" y="1645920"/>
            <a:ext cx="109728" cy="1783080"/>
          </a:xfrm>
          <a:prstGeom prst="rect">
            <a:avLst/>
          </a:prstGeom>
          <a:solidFill>
            <a:srgbClr val="14B8A6"/>
          </a:solidFill>
          <a:ln/>
        </p:spPr>
      </p:sp>
      <p:sp>
        <p:nvSpPr>
          <p:cNvPr id="6" name="Text 4"/>
          <p:cNvSpPr/>
          <p:nvPr/>
        </p:nvSpPr>
        <p:spPr>
          <a:xfrm>
            <a:off x="960120" y="1828800"/>
            <a:ext cx="4631436" cy="365760"/>
          </a:xfrm>
          <a:prstGeom prst="rect">
            <a:avLst/>
          </a:prstGeom>
          <a:noFill/>
          <a:ln/>
        </p:spPr>
        <p:txBody>
          <a:bodyPr wrap="square" lIns="0" tIns="0" rIns="0" bIns="0" rtlCol="0" anchor="ctr"/>
          <a:lstStyle/>
          <a:p>
            <a:pPr indent="0" marL="0">
              <a:buNone/>
            </a:pPr>
            <a:r>
              <a:rPr lang="en-US" sz="1800" b="1" dirty="0">
                <a:solidFill>
                  <a:srgbClr val="0F2A43"/>
                </a:solidFill>
                <a:latin typeface="Georgia" pitchFamily="34" charset="0"/>
                <a:ea typeface="Georgia" pitchFamily="34" charset="-122"/>
                <a:cs typeface="Georgia" pitchFamily="34" charset="-120"/>
              </a:rPr>
              <a:t>Crown settlement</a:t>
            </a:r>
            <a:endParaRPr lang="en-US" sz="1800" dirty="0"/>
          </a:p>
        </p:txBody>
      </p:sp>
      <p:sp>
        <p:nvSpPr>
          <p:cNvPr id="7" name="Text 5"/>
          <p:cNvSpPr/>
          <p:nvPr/>
        </p:nvSpPr>
        <p:spPr>
          <a:xfrm>
            <a:off x="960120" y="2249424"/>
            <a:ext cx="4631436"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Lowering of the tunnel crown vs T0.</a:t>
            </a:r>
            <a:endParaRPr lang="en-US" sz="1300" dirty="0"/>
          </a:p>
        </p:txBody>
      </p:sp>
      <p:sp>
        <p:nvSpPr>
          <p:cNvPr id="8" name="Shape 6"/>
          <p:cNvSpPr/>
          <p:nvPr/>
        </p:nvSpPr>
        <p:spPr>
          <a:xfrm>
            <a:off x="960120" y="2862072"/>
            <a:ext cx="1737360" cy="420624"/>
          </a:xfrm>
          <a:prstGeom prst="roundRect">
            <a:avLst>
              <a:gd name="adj" fmla="val 13043"/>
            </a:avLst>
          </a:prstGeom>
          <a:solidFill>
            <a:srgbClr val="FBF1D2"/>
          </a:solidFill>
          <a:ln w="12700">
            <a:solidFill>
              <a:srgbClr val="E0A100"/>
            </a:solidFill>
            <a:prstDash val="solid"/>
          </a:ln>
        </p:spPr>
      </p:sp>
      <p:sp>
        <p:nvSpPr>
          <p:cNvPr id="9" name="Text 7"/>
          <p:cNvSpPr/>
          <p:nvPr/>
        </p:nvSpPr>
        <p:spPr>
          <a:xfrm>
            <a:off x="960120" y="2862072"/>
            <a:ext cx="1737360" cy="420624"/>
          </a:xfrm>
          <a:prstGeom prst="rect">
            <a:avLst/>
          </a:prstGeom>
          <a:noFill/>
          <a:ln/>
        </p:spPr>
        <p:txBody>
          <a:bodyPr wrap="square" lIns="0" tIns="0" rIns="0" bIns="0" rtlCol="0" anchor="ctr"/>
          <a:lstStyle/>
          <a:p>
            <a:pPr algn="ctr" indent="0" marL="0">
              <a:buNone/>
            </a:pPr>
            <a:r>
              <a:rPr lang="en-US" sz="1150" b="1" dirty="0">
                <a:solidFill>
                  <a:srgbClr val="E0A100"/>
                </a:solidFill>
                <a:latin typeface="Calibri" pitchFamily="34" charset="0"/>
                <a:ea typeface="Calibri" pitchFamily="34" charset="-122"/>
                <a:cs typeface="Calibri" pitchFamily="34" charset="-120"/>
              </a:rPr>
              <a:t>CAUTION  </a:t>
            </a:r>
            <a:pPr algn="ctr" indent="0" marL="0">
              <a:buNone/>
            </a:pPr>
            <a:r>
              <a:rPr lang="en-US" sz="1150" dirty="0">
                <a:solidFill>
                  <a:srgbClr val="1E293B"/>
                </a:solidFill>
                <a:latin typeface="Calibri" pitchFamily="34" charset="0"/>
                <a:ea typeface="Calibri" pitchFamily="34" charset="-122"/>
                <a:cs typeface="Calibri" pitchFamily="34" charset="-120"/>
              </a:rPr>
              <a:t>&gt; 10 mm</a:t>
            </a:r>
            <a:endParaRPr lang="en-US" sz="1150" dirty="0"/>
          </a:p>
        </p:txBody>
      </p:sp>
      <p:sp>
        <p:nvSpPr>
          <p:cNvPr id="10" name="Shape 8"/>
          <p:cNvSpPr/>
          <p:nvPr/>
        </p:nvSpPr>
        <p:spPr>
          <a:xfrm>
            <a:off x="2834640" y="2862072"/>
            <a:ext cx="1737360" cy="420624"/>
          </a:xfrm>
          <a:prstGeom prst="roundRect">
            <a:avLst>
              <a:gd name="adj" fmla="val 13043"/>
            </a:avLst>
          </a:prstGeom>
          <a:solidFill>
            <a:srgbClr val="F7D7DC"/>
          </a:solidFill>
          <a:ln w="12700">
            <a:solidFill>
              <a:srgbClr val="D7263D"/>
            </a:solidFill>
            <a:prstDash val="solid"/>
          </a:ln>
        </p:spPr>
      </p:sp>
      <p:sp>
        <p:nvSpPr>
          <p:cNvPr id="11" name="Text 9"/>
          <p:cNvSpPr/>
          <p:nvPr/>
        </p:nvSpPr>
        <p:spPr>
          <a:xfrm>
            <a:off x="2834640" y="2862072"/>
            <a:ext cx="1737360" cy="420624"/>
          </a:xfrm>
          <a:prstGeom prst="rect">
            <a:avLst/>
          </a:prstGeom>
          <a:noFill/>
          <a:ln/>
        </p:spPr>
        <p:txBody>
          <a:bodyPr wrap="square" lIns="0" tIns="0" rIns="0" bIns="0" rtlCol="0" anchor="ctr"/>
          <a:lstStyle/>
          <a:p>
            <a:pPr algn="ctr" indent="0" marL="0">
              <a:buNone/>
            </a:pPr>
            <a:r>
              <a:rPr lang="en-US" sz="1150" b="1" dirty="0">
                <a:solidFill>
                  <a:srgbClr val="D7263D"/>
                </a:solidFill>
                <a:latin typeface="Calibri" pitchFamily="34" charset="0"/>
                <a:ea typeface="Calibri" pitchFamily="34" charset="-122"/>
                <a:cs typeface="Calibri" pitchFamily="34" charset="-120"/>
              </a:rPr>
              <a:t>CRITICAL  </a:t>
            </a:r>
            <a:pPr algn="ctr" indent="0" marL="0">
              <a:buNone/>
            </a:pPr>
            <a:r>
              <a:rPr lang="en-US" sz="1150" dirty="0">
                <a:solidFill>
                  <a:srgbClr val="1E293B"/>
                </a:solidFill>
                <a:latin typeface="Calibri" pitchFamily="34" charset="0"/>
                <a:ea typeface="Calibri" pitchFamily="34" charset="-122"/>
                <a:cs typeface="Calibri" pitchFamily="34" charset="-120"/>
              </a:rPr>
              <a:t>&gt; 25 mm</a:t>
            </a:r>
            <a:endParaRPr lang="en-US" sz="1150" dirty="0"/>
          </a:p>
        </p:txBody>
      </p:sp>
      <p:sp>
        <p:nvSpPr>
          <p:cNvPr id="12" name="Shape 10"/>
          <p:cNvSpPr/>
          <p:nvPr/>
        </p:nvSpPr>
        <p:spPr>
          <a:xfrm>
            <a:off x="6368796" y="1645920"/>
            <a:ext cx="5180076" cy="1783080"/>
          </a:xfrm>
          <a:prstGeom prst="roundRect">
            <a:avLst>
              <a:gd name="adj" fmla="val 4103"/>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13" name="Shape 11"/>
          <p:cNvSpPr/>
          <p:nvPr/>
        </p:nvSpPr>
        <p:spPr>
          <a:xfrm>
            <a:off x="6368796" y="1645920"/>
            <a:ext cx="109728" cy="1783080"/>
          </a:xfrm>
          <a:prstGeom prst="rect">
            <a:avLst/>
          </a:prstGeom>
          <a:solidFill>
            <a:srgbClr val="14B8A6"/>
          </a:solidFill>
          <a:ln/>
        </p:spPr>
      </p:sp>
      <p:sp>
        <p:nvSpPr>
          <p:cNvPr id="14" name="Text 12"/>
          <p:cNvSpPr/>
          <p:nvPr/>
        </p:nvSpPr>
        <p:spPr>
          <a:xfrm>
            <a:off x="6688836" y="1828800"/>
            <a:ext cx="4631436" cy="365760"/>
          </a:xfrm>
          <a:prstGeom prst="rect">
            <a:avLst/>
          </a:prstGeom>
          <a:noFill/>
          <a:ln/>
        </p:spPr>
        <p:txBody>
          <a:bodyPr wrap="square" lIns="0" tIns="0" rIns="0" bIns="0" rtlCol="0" anchor="ctr"/>
          <a:lstStyle/>
          <a:p>
            <a:pPr indent="0" marL="0">
              <a:buNone/>
            </a:pPr>
            <a:r>
              <a:rPr lang="en-US" sz="1800" b="1" dirty="0">
                <a:solidFill>
                  <a:srgbClr val="0F2A43"/>
                </a:solidFill>
                <a:latin typeface="Georgia" pitchFamily="34" charset="0"/>
                <a:ea typeface="Georgia" pitchFamily="34" charset="-122"/>
                <a:cs typeface="Georgia" pitchFamily="34" charset="-120"/>
              </a:rPr>
              <a:t>Lateral convergence (dW)</a:t>
            </a:r>
            <a:endParaRPr lang="en-US" sz="1800" dirty="0"/>
          </a:p>
        </p:txBody>
      </p:sp>
      <p:sp>
        <p:nvSpPr>
          <p:cNvPr id="15" name="Text 13"/>
          <p:cNvSpPr/>
          <p:nvPr/>
        </p:nvSpPr>
        <p:spPr>
          <a:xfrm>
            <a:off x="6688836" y="2249424"/>
            <a:ext cx="4631436"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Narrowing of the width between sidewalls.</a:t>
            </a:r>
            <a:endParaRPr lang="en-US" sz="1300" dirty="0"/>
          </a:p>
        </p:txBody>
      </p:sp>
      <p:sp>
        <p:nvSpPr>
          <p:cNvPr id="16" name="Shape 14"/>
          <p:cNvSpPr/>
          <p:nvPr/>
        </p:nvSpPr>
        <p:spPr>
          <a:xfrm>
            <a:off x="6688836" y="2862072"/>
            <a:ext cx="1737360" cy="420624"/>
          </a:xfrm>
          <a:prstGeom prst="roundRect">
            <a:avLst>
              <a:gd name="adj" fmla="val 13043"/>
            </a:avLst>
          </a:prstGeom>
          <a:solidFill>
            <a:srgbClr val="FBF1D2"/>
          </a:solidFill>
          <a:ln w="12700">
            <a:solidFill>
              <a:srgbClr val="E0A100"/>
            </a:solidFill>
            <a:prstDash val="solid"/>
          </a:ln>
        </p:spPr>
      </p:sp>
      <p:sp>
        <p:nvSpPr>
          <p:cNvPr id="17" name="Text 15"/>
          <p:cNvSpPr/>
          <p:nvPr/>
        </p:nvSpPr>
        <p:spPr>
          <a:xfrm>
            <a:off x="6688836" y="2862072"/>
            <a:ext cx="1737360" cy="420624"/>
          </a:xfrm>
          <a:prstGeom prst="rect">
            <a:avLst/>
          </a:prstGeom>
          <a:noFill/>
          <a:ln/>
        </p:spPr>
        <p:txBody>
          <a:bodyPr wrap="square" lIns="0" tIns="0" rIns="0" bIns="0" rtlCol="0" anchor="ctr"/>
          <a:lstStyle/>
          <a:p>
            <a:pPr algn="ctr" indent="0" marL="0">
              <a:buNone/>
            </a:pPr>
            <a:r>
              <a:rPr lang="en-US" sz="1150" b="1" dirty="0">
                <a:solidFill>
                  <a:srgbClr val="E0A100"/>
                </a:solidFill>
                <a:latin typeface="Calibri" pitchFamily="34" charset="0"/>
                <a:ea typeface="Calibri" pitchFamily="34" charset="-122"/>
                <a:cs typeface="Calibri" pitchFamily="34" charset="-120"/>
              </a:rPr>
              <a:t>CAUTION  </a:t>
            </a:r>
            <a:pPr algn="ctr" indent="0" marL="0">
              <a:buNone/>
            </a:pPr>
            <a:r>
              <a:rPr lang="en-US" sz="1150" dirty="0">
                <a:solidFill>
                  <a:srgbClr val="1E293B"/>
                </a:solidFill>
                <a:latin typeface="Calibri" pitchFamily="34" charset="0"/>
                <a:ea typeface="Calibri" pitchFamily="34" charset="-122"/>
                <a:cs typeface="Calibri" pitchFamily="34" charset="-120"/>
              </a:rPr>
              <a:t>&gt; 10 mm</a:t>
            </a:r>
            <a:endParaRPr lang="en-US" sz="1150" dirty="0"/>
          </a:p>
        </p:txBody>
      </p:sp>
      <p:sp>
        <p:nvSpPr>
          <p:cNvPr id="18" name="Shape 16"/>
          <p:cNvSpPr/>
          <p:nvPr/>
        </p:nvSpPr>
        <p:spPr>
          <a:xfrm>
            <a:off x="8563356" y="2862072"/>
            <a:ext cx="1737360" cy="420624"/>
          </a:xfrm>
          <a:prstGeom prst="roundRect">
            <a:avLst>
              <a:gd name="adj" fmla="val 13043"/>
            </a:avLst>
          </a:prstGeom>
          <a:solidFill>
            <a:srgbClr val="F7D7DC"/>
          </a:solidFill>
          <a:ln w="12700">
            <a:solidFill>
              <a:srgbClr val="D7263D"/>
            </a:solidFill>
            <a:prstDash val="solid"/>
          </a:ln>
        </p:spPr>
      </p:sp>
      <p:sp>
        <p:nvSpPr>
          <p:cNvPr id="19" name="Text 17"/>
          <p:cNvSpPr/>
          <p:nvPr/>
        </p:nvSpPr>
        <p:spPr>
          <a:xfrm>
            <a:off x="8563356" y="2862072"/>
            <a:ext cx="1737360" cy="420624"/>
          </a:xfrm>
          <a:prstGeom prst="rect">
            <a:avLst/>
          </a:prstGeom>
          <a:noFill/>
          <a:ln/>
        </p:spPr>
        <p:txBody>
          <a:bodyPr wrap="square" lIns="0" tIns="0" rIns="0" bIns="0" rtlCol="0" anchor="ctr"/>
          <a:lstStyle/>
          <a:p>
            <a:pPr algn="ctr" indent="0" marL="0">
              <a:buNone/>
            </a:pPr>
            <a:r>
              <a:rPr lang="en-US" sz="1150" b="1" dirty="0">
                <a:solidFill>
                  <a:srgbClr val="D7263D"/>
                </a:solidFill>
                <a:latin typeface="Calibri" pitchFamily="34" charset="0"/>
                <a:ea typeface="Calibri" pitchFamily="34" charset="-122"/>
                <a:cs typeface="Calibri" pitchFamily="34" charset="-120"/>
              </a:rPr>
              <a:t>CRITICAL  </a:t>
            </a:r>
            <a:pPr algn="ctr" indent="0" marL="0">
              <a:buNone/>
            </a:pPr>
            <a:r>
              <a:rPr lang="en-US" sz="1150" dirty="0">
                <a:solidFill>
                  <a:srgbClr val="1E293B"/>
                </a:solidFill>
                <a:latin typeface="Calibri" pitchFamily="34" charset="0"/>
                <a:ea typeface="Calibri" pitchFamily="34" charset="-122"/>
                <a:cs typeface="Calibri" pitchFamily="34" charset="-120"/>
              </a:rPr>
              <a:t>&gt; 25 mm</a:t>
            </a:r>
            <a:endParaRPr lang="en-US" sz="1150" dirty="0"/>
          </a:p>
        </p:txBody>
      </p:sp>
      <p:sp>
        <p:nvSpPr>
          <p:cNvPr id="20" name="Shape 18"/>
          <p:cNvSpPr/>
          <p:nvPr/>
        </p:nvSpPr>
        <p:spPr>
          <a:xfrm>
            <a:off x="640080" y="3749040"/>
            <a:ext cx="5180076" cy="1783080"/>
          </a:xfrm>
          <a:prstGeom prst="roundRect">
            <a:avLst>
              <a:gd name="adj" fmla="val 4103"/>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21" name="Shape 19"/>
          <p:cNvSpPr/>
          <p:nvPr/>
        </p:nvSpPr>
        <p:spPr>
          <a:xfrm>
            <a:off x="640080" y="3749040"/>
            <a:ext cx="109728" cy="1783080"/>
          </a:xfrm>
          <a:prstGeom prst="rect">
            <a:avLst/>
          </a:prstGeom>
          <a:solidFill>
            <a:srgbClr val="14B8A6"/>
          </a:solidFill>
          <a:ln/>
        </p:spPr>
      </p:sp>
      <p:sp>
        <p:nvSpPr>
          <p:cNvPr id="22" name="Text 20"/>
          <p:cNvSpPr/>
          <p:nvPr/>
        </p:nvSpPr>
        <p:spPr>
          <a:xfrm>
            <a:off x="960120" y="3931920"/>
            <a:ext cx="4631436" cy="365760"/>
          </a:xfrm>
          <a:prstGeom prst="rect">
            <a:avLst/>
          </a:prstGeom>
          <a:noFill/>
          <a:ln/>
        </p:spPr>
        <p:txBody>
          <a:bodyPr wrap="square" lIns="0" tIns="0" rIns="0" bIns="0" rtlCol="0" anchor="ctr"/>
          <a:lstStyle/>
          <a:p>
            <a:pPr indent="0" marL="0">
              <a:buNone/>
            </a:pPr>
            <a:r>
              <a:rPr lang="en-US" sz="1800" b="1" dirty="0">
                <a:solidFill>
                  <a:srgbClr val="0F2A43"/>
                </a:solidFill>
                <a:latin typeface="Georgia" pitchFamily="34" charset="0"/>
                <a:ea typeface="Georgia" pitchFamily="34" charset="-122"/>
                <a:cs typeface="Georgia" pitchFamily="34" charset="-120"/>
              </a:rPr>
              <a:t>Ovality</a:t>
            </a:r>
            <a:endParaRPr lang="en-US" sz="1800" dirty="0"/>
          </a:p>
        </p:txBody>
      </p:sp>
      <p:sp>
        <p:nvSpPr>
          <p:cNvPr id="23" name="Text 21"/>
          <p:cNvSpPr/>
          <p:nvPr/>
        </p:nvSpPr>
        <p:spPr>
          <a:xfrm>
            <a:off x="960120" y="4352544"/>
            <a:ext cx="4631436"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Distortion away from the ideal circle.</a:t>
            </a:r>
            <a:endParaRPr lang="en-US" sz="1300" dirty="0"/>
          </a:p>
        </p:txBody>
      </p:sp>
      <p:sp>
        <p:nvSpPr>
          <p:cNvPr id="24" name="Shape 22"/>
          <p:cNvSpPr/>
          <p:nvPr/>
        </p:nvSpPr>
        <p:spPr>
          <a:xfrm>
            <a:off x="960120" y="4965192"/>
            <a:ext cx="1737360" cy="420624"/>
          </a:xfrm>
          <a:prstGeom prst="roundRect">
            <a:avLst>
              <a:gd name="adj" fmla="val 13043"/>
            </a:avLst>
          </a:prstGeom>
          <a:solidFill>
            <a:srgbClr val="FBF1D2"/>
          </a:solidFill>
          <a:ln w="12700">
            <a:solidFill>
              <a:srgbClr val="E0A100"/>
            </a:solidFill>
            <a:prstDash val="solid"/>
          </a:ln>
        </p:spPr>
      </p:sp>
      <p:sp>
        <p:nvSpPr>
          <p:cNvPr id="25" name="Text 23"/>
          <p:cNvSpPr/>
          <p:nvPr/>
        </p:nvSpPr>
        <p:spPr>
          <a:xfrm>
            <a:off x="960120" y="4965192"/>
            <a:ext cx="1737360" cy="420624"/>
          </a:xfrm>
          <a:prstGeom prst="rect">
            <a:avLst/>
          </a:prstGeom>
          <a:noFill/>
          <a:ln/>
        </p:spPr>
        <p:txBody>
          <a:bodyPr wrap="square" lIns="0" tIns="0" rIns="0" bIns="0" rtlCol="0" anchor="ctr"/>
          <a:lstStyle/>
          <a:p>
            <a:pPr algn="ctr" indent="0" marL="0">
              <a:buNone/>
            </a:pPr>
            <a:r>
              <a:rPr lang="en-US" sz="1150" b="1" dirty="0">
                <a:solidFill>
                  <a:srgbClr val="E0A100"/>
                </a:solidFill>
                <a:latin typeface="Calibri" pitchFamily="34" charset="0"/>
                <a:ea typeface="Calibri" pitchFamily="34" charset="-122"/>
                <a:cs typeface="Calibri" pitchFamily="34" charset="-120"/>
              </a:rPr>
              <a:t>CAUTION  </a:t>
            </a:r>
            <a:pPr algn="ctr" indent="0" marL="0">
              <a:buNone/>
            </a:pPr>
            <a:r>
              <a:rPr lang="en-US" sz="1150" dirty="0">
                <a:solidFill>
                  <a:srgbClr val="1E293B"/>
                </a:solidFill>
                <a:latin typeface="Calibri" pitchFamily="34" charset="0"/>
                <a:ea typeface="Calibri" pitchFamily="34" charset="-122"/>
                <a:cs typeface="Calibri" pitchFamily="34" charset="-120"/>
              </a:rPr>
              <a:t>&gt; 0.5 %</a:t>
            </a:r>
            <a:endParaRPr lang="en-US" sz="1150" dirty="0"/>
          </a:p>
        </p:txBody>
      </p:sp>
      <p:sp>
        <p:nvSpPr>
          <p:cNvPr id="26" name="Shape 24"/>
          <p:cNvSpPr/>
          <p:nvPr/>
        </p:nvSpPr>
        <p:spPr>
          <a:xfrm>
            <a:off x="2834640" y="4965192"/>
            <a:ext cx="1737360" cy="420624"/>
          </a:xfrm>
          <a:prstGeom prst="roundRect">
            <a:avLst>
              <a:gd name="adj" fmla="val 13043"/>
            </a:avLst>
          </a:prstGeom>
          <a:solidFill>
            <a:srgbClr val="F7D7DC"/>
          </a:solidFill>
          <a:ln w="12700">
            <a:solidFill>
              <a:srgbClr val="D7263D"/>
            </a:solidFill>
            <a:prstDash val="solid"/>
          </a:ln>
        </p:spPr>
      </p:sp>
      <p:sp>
        <p:nvSpPr>
          <p:cNvPr id="27" name="Text 25"/>
          <p:cNvSpPr/>
          <p:nvPr/>
        </p:nvSpPr>
        <p:spPr>
          <a:xfrm>
            <a:off x="2834640" y="4965192"/>
            <a:ext cx="1737360" cy="420624"/>
          </a:xfrm>
          <a:prstGeom prst="rect">
            <a:avLst/>
          </a:prstGeom>
          <a:noFill/>
          <a:ln/>
        </p:spPr>
        <p:txBody>
          <a:bodyPr wrap="square" lIns="0" tIns="0" rIns="0" bIns="0" rtlCol="0" anchor="ctr"/>
          <a:lstStyle/>
          <a:p>
            <a:pPr algn="ctr" indent="0" marL="0">
              <a:buNone/>
            </a:pPr>
            <a:r>
              <a:rPr lang="en-US" sz="1150" b="1" dirty="0">
                <a:solidFill>
                  <a:srgbClr val="D7263D"/>
                </a:solidFill>
                <a:latin typeface="Calibri" pitchFamily="34" charset="0"/>
                <a:ea typeface="Calibri" pitchFamily="34" charset="-122"/>
                <a:cs typeface="Calibri" pitchFamily="34" charset="-120"/>
              </a:rPr>
              <a:t>CRITICAL  </a:t>
            </a:r>
            <a:pPr algn="ctr" indent="0" marL="0">
              <a:buNone/>
            </a:pPr>
            <a:r>
              <a:rPr lang="en-US" sz="1150" dirty="0">
                <a:solidFill>
                  <a:srgbClr val="1E293B"/>
                </a:solidFill>
                <a:latin typeface="Calibri" pitchFamily="34" charset="0"/>
                <a:ea typeface="Calibri" pitchFamily="34" charset="-122"/>
                <a:cs typeface="Calibri" pitchFamily="34" charset="-120"/>
              </a:rPr>
              <a:t>&gt; 1.0 %</a:t>
            </a:r>
            <a:endParaRPr lang="en-US" sz="1150" dirty="0"/>
          </a:p>
        </p:txBody>
      </p:sp>
      <p:sp>
        <p:nvSpPr>
          <p:cNvPr id="28" name="Shape 26"/>
          <p:cNvSpPr/>
          <p:nvPr/>
        </p:nvSpPr>
        <p:spPr>
          <a:xfrm>
            <a:off x="6368796" y="3749040"/>
            <a:ext cx="5180076" cy="1783080"/>
          </a:xfrm>
          <a:prstGeom prst="roundRect">
            <a:avLst>
              <a:gd name="adj" fmla="val 4103"/>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29" name="Shape 27"/>
          <p:cNvSpPr/>
          <p:nvPr/>
        </p:nvSpPr>
        <p:spPr>
          <a:xfrm>
            <a:off x="6368796" y="3749040"/>
            <a:ext cx="109728" cy="1783080"/>
          </a:xfrm>
          <a:prstGeom prst="rect">
            <a:avLst/>
          </a:prstGeom>
          <a:solidFill>
            <a:srgbClr val="14B8A6"/>
          </a:solidFill>
          <a:ln/>
        </p:spPr>
      </p:sp>
      <p:sp>
        <p:nvSpPr>
          <p:cNvPr id="30" name="Text 28"/>
          <p:cNvSpPr/>
          <p:nvPr/>
        </p:nvSpPr>
        <p:spPr>
          <a:xfrm>
            <a:off x="6688836" y="3931920"/>
            <a:ext cx="4631436" cy="365760"/>
          </a:xfrm>
          <a:prstGeom prst="rect">
            <a:avLst/>
          </a:prstGeom>
          <a:noFill/>
          <a:ln/>
        </p:spPr>
        <p:txBody>
          <a:bodyPr wrap="square" lIns="0" tIns="0" rIns="0" bIns="0" rtlCol="0" anchor="ctr"/>
          <a:lstStyle/>
          <a:p>
            <a:pPr indent="0" marL="0">
              <a:buNone/>
            </a:pPr>
            <a:r>
              <a:rPr lang="en-US" sz="1800" b="1" dirty="0">
                <a:solidFill>
                  <a:srgbClr val="0F2A43"/>
                </a:solidFill>
                <a:latin typeface="Georgia" pitchFamily="34" charset="0"/>
                <a:ea typeface="Georgia" pitchFamily="34" charset="-122"/>
                <a:cs typeface="Georgia" pitchFamily="34" charset="-120"/>
              </a:rPr>
              <a:t>Eccentricity</a:t>
            </a:r>
            <a:endParaRPr lang="en-US" sz="1800" dirty="0"/>
          </a:p>
        </p:txBody>
      </p:sp>
      <p:sp>
        <p:nvSpPr>
          <p:cNvPr id="31" name="Text 29"/>
          <p:cNvSpPr/>
          <p:nvPr/>
        </p:nvSpPr>
        <p:spPr>
          <a:xfrm>
            <a:off x="6688836" y="4352544"/>
            <a:ext cx="4631436"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Shift of the section centre vs the axis.</a:t>
            </a:r>
            <a:endParaRPr lang="en-US" sz="1300" dirty="0"/>
          </a:p>
        </p:txBody>
      </p:sp>
      <p:sp>
        <p:nvSpPr>
          <p:cNvPr id="32" name="Shape 30"/>
          <p:cNvSpPr/>
          <p:nvPr/>
        </p:nvSpPr>
        <p:spPr>
          <a:xfrm>
            <a:off x="6688836" y="4965192"/>
            <a:ext cx="1737360" cy="420624"/>
          </a:xfrm>
          <a:prstGeom prst="roundRect">
            <a:avLst>
              <a:gd name="adj" fmla="val 13043"/>
            </a:avLst>
          </a:prstGeom>
          <a:solidFill>
            <a:srgbClr val="FBF1D2"/>
          </a:solidFill>
          <a:ln w="12700">
            <a:solidFill>
              <a:srgbClr val="E0A100"/>
            </a:solidFill>
            <a:prstDash val="solid"/>
          </a:ln>
        </p:spPr>
      </p:sp>
      <p:sp>
        <p:nvSpPr>
          <p:cNvPr id="33" name="Text 31"/>
          <p:cNvSpPr/>
          <p:nvPr/>
        </p:nvSpPr>
        <p:spPr>
          <a:xfrm>
            <a:off x="6688836" y="4965192"/>
            <a:ext cx="1737360" cy="420624"/>
          </a:xfrm>
          <a:prstGeom prst="rect">
            <a:avLst/>
          </a:prstGeom>
          <a:noFill/>
          <a:ln/>
        </p:spPr>
        <p:txBody>
          <a:bodyPr wrap="square" lIns="0" tIns="0" rIns="0" bIns="0" rtlCol="0" anchor="ctr"/>
          <a:lstStyle/>
          <a:p>
            <a:pPr algn="ctr" indent="0" marL="0">
              <a:buNone/>
            </a:pPr>
            <a:r>
              <a:rPr lang="en-US" sz="1150" b="1" dirty="0">
                <a:solidFill>
                  <a:srgbClr val="E0A100"/>
                </a:solidFill>
                <a:latin typeface="Calibri" pitchFamily="34" charset="0"/>
                <a:ea typeface="Calibri" pitchFamily="34" charset="-122"/>
                <a:cs typeface="Calibri" pitchFamily="34" charset="-120"/>
              </a:rPr>
              <a:t>CAUTION  </a:t>
            </a:r>
            <a:pPr algn="ctr" indent="0" marL="0">
              <a:buNone/>
            </a:pPr>
            <a:r>
              <a:rPr lang="en-US" sz="1150" dirty="0">
                <a:solidFill>
                  <a:srgbClr val="1E293B"/>
                </a:solidFill>
                <a:latin typeface="Calibri" pitchFamily="34" charset="0"/>
                <a:ea typeface="Calibri" pitchFamily="34" charset="-122"/>
                <a:cs typeface="Calibri" pitchFamily="34" charset="-120"/>
              </a:rPr>
              <a:t>&gt; 10 mm</a:t>
            </a:r>
            <a:endParaRPr lang="en-US" sz="1150" dirty="0"/>
          </a:p>
        </p:txBody>
      </p:sp>
      <p:sp>
        <p:nvSpPr>
          <p:cNvPr id="34" name="Shape 32"/>
          <p:cNvSpPr/>
          <p:nvPr/>
        </p:nvSpPr>
        <p:spPr>
          <a:xfrm>
            <a:off x="8563356" y="4965192"/>
            <a:ext cx="1737360" cy="420624"/>
          </a:xfrm>
          <a:prstGeom prst="roundRect">
            <a:avLst>
              <a:gd name="adj" fmla="val 13043"/>
            </a:avLst>
          </a:prstGeom>
          <a:solidFill>
            <a:srgbClr val="F7D7DC"/>
          </a:solidFill>
          <a:ln w="12700">
            <a:solidFill>
              <a:srgbClr val="D7263D"/>
            </a:solidFill>
            <a:prstDash val="solid"/>
          </a:ln>
        </p:spPr>
      </p:sp>
      <p:sp>
        <p:nvSpPr>
          <p:cNvPr id="35" name="Text 33"/>
          <p:cNvSpPr/>
          <p:nvPr/>
        </p:nvSpPr>
        <p:spPr>
          <a:xfrm>
            <a:off x="8563356" y="4965192"/>
            <a:ext cx="1737360" cy="420624"/>
          </a:xfrm>
          <a:prstGeom prst="rect">
            <a:avLst/>
          </a:prstGeom>
          <a:noFill/>
          <a:ln/>
        </p:spPr>
        <p:txBody>
          <a:bodyPr wrap="square" lIns="0" tIns="0" rIns="0" bIns="0" rtlCol="0" anchor="ctr"/>
          <a:lstStyle/>
          <a:p>
            <a:pPr algn="ctr" indent="0" marL="0">
              <a:buNone/>
            </a:pPr>
            <a:r>
              <a:rPr lang="en-US" sz="1150" b="1" dirty="0">
                <a:solidFill>
                  <a:srgbClr val="D7263D"/>
                </a:solidFill>
                <a:latin typeface="Calibri" pitchFamily="34" charset="0"/>
                <a:ea typeface="Calibri" pitchFamily="34" charset="-122"/>
                <a:cs typeface="Calibri" pitchFamily="34" charset="-120"/>
              </a:rPr>
              <a:t>CRITICAL  </a:t>
            </a:r>
            <a:pPr algn="ctr" indent="0" marL="0">
              <a:buNone/>
            </a:pPr>
            <a:r>
              <a:rPr lang="en-US" sz="1150" dirty="0">
                <a:solidFill>
                  <a:srgbClr val="1E293B"/>
                </a:solidFill>
                <a:latin typeface="Calibri" pitchFamily="34" charset="0"/>
                <a:ea typeface="Calibri" pitchFamily="34" charset="-122"/>
                <a:cs typeface="Calibri" pitchFamily="34" charset="-120"/>
              </a:rPr>
              <a:t>&gt; 25 mm</a:t>
            </a:r>
            <a:endParaRPr lang="en-US" sz="1150" dirty="0"/>
          </a:p>
        </p:txBody>
      </p:sp>
      <p:sp>
        <p:nvSpPr>
          <p:cNvPr id="36" name="Text 34"/>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200" b="1" spc="200" kern="0" dirty="0">
                <a:solidFill>
                  <a:srgbClr val="0E8C80"/>
                </a:solidFill>
                <a:latin typeface="Calibri" pitchFamily="34" charset="0"/>
                <a:ea typeface="Calibri" pitchFamily="34" charset="-122"/>
                <a:cs typeface="Calibri" pitchFamily="34" charset="-120"/>
              </a:rPr>
              <a:t>RISK CLASSIFICATION</a:t>
            </a:r>
            <a:endParaRPr lang="en-US" sz="1200" dirty="0"/>
          </a:p>
        </p:txBody>
      </p:sp>
      <p:sp>
        <p:nvSpPr>
          <p:cNvPr id="3" name="Text 1"/>
          <p:cNvSpPr/>
          <p:nvPr/>
        </p:nvSpPr>
        <p:spPr>
          <a:xfrm>
            <a:off x="640080" y="640080"/>
            <a:ext cx="10908792" cy="640080"/>
          </a:xfrm>
          <a:prstGeom prst="rect">
            <a:avLst/>
          </a:prstGeom>
          <a:noFill/>
          <a:ln/>
        </p:spPr>
        <p:txBody>
          <a:bodyPr wrap="square" lIns="0" tIns="0" rIns="0" bIns="0" rtlCol="0" anchor="ctr"/>
          <a:lstStyle/>
          <a:p>
            <a:pPr indent="0" marL="0">
              <a:buNone/>
            </a:pPr>
            <a:r>
              <a:rPr lang="en-US" sz="2800" b="1" dirty="0">
                <a:solidFill>
                  <a:srgbClr val="0F2A43"/>
                </a:solidFill>
                <a:latin typeface="Georgia" pitchFamily="34" charset="0"/>
                <a:ea typeface="Georgia" pitchFamily="34" charset="-122"/>
                <a:cs typeface="Georgia" pitchFamily="34" charset="-120"/>
              </a:rPr>
              <a:t>Per-section thresholds (vs T0)</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6858000" cy="914400"/>
        </p:xfrm>
        <a:graphic>
          <a:graphicData uri="http://schemas.openxmlformats.org/drawingml/2006/table">
            <a:tbl>
              <a:tblPr/>
              <a:tblGrid>
                <a:gridCol w="1554480"/>
                <a:gridCol w="2834640"/>
                <a:gridCol w="1234440"/>
                <a:gridCol w="123444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F2A43"/>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F2A43"/>
                    </a:solidFill>
                  </a:tcPr>
                </a:tc>
                <a:tc>
                  <a:txBody>
                    <a:bodyPr/>
                    <a:lstStyle/>
                    <a:p>
                      <a:pPr algn="ctr" indent="0" marL="0">
                        <a:buNone/>
                      </a:pPr>
                      <a:r>
                        <a:rPr lang="en-US" sz="1300" b="1" dirty="0">
                          <a:solidFill>
                            <a:srgbClr val="E0A100"/>
                          </a:solidFill>
                          <a:latin typeface="Calibri" pitchFamily="34" charset="0"/>
                          <a:ea typeface="Calibri" pitchFamily="34" charset="-122"/>
                          <a:cs typeface="Calibri" pitchFamily="34" charset="-120"/>
                        </a:rPr>
                        <a:t>CAUTION</a:t>
                      </a:r>
                      <a:endParaRPr lang="en-US" sz="130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F2A43"/>
                    </a:solidFill>
                  </a:tcPr>
                </a:tc>
                <a:tc>
                  <a:txBody>
                    <a:bodyPr/>
                    <a:lstStyle/>
                    <a:p>
                      <a:pPr algn="ctr" indent="0" marL="0">
                        <a:buNone/>
                      </a:pPr>
                      <a:r>
                        <a:rPr lang="en-US" sz="1300" b="1" dirty="0">
                          <a:solidFill>
                            <a:srgbClr val="FF8A95"/>
                          </a:solidFill>
                          <a:latin typeface="Calibri" pitchFamily="34" charset="0"/>
                          <a:ea typeface="Calibri" pitchFamily="34" charset="-122"/>
                          <a:cs typeface="Calibri" pitchFamily="34" charset="-120"/>
                        </a:rPr>
                        <a:t>CRITICAL</a:t>
                      </a:r>
                      <a:endParaRPr lang="en-US" sz="130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F2A43"/>
                    </a:solidFill>
                  </a:tcPr>
                </a:tc>
              </a:tr>
              <a:tr h="566928">
                <a:tc>
                  <a:txBody>
                    <a:bodyPr/>
                    <a:lstStyle/>
                    <a:p>
                      <a:pPr algn="l" indent="0" marL="0">
                        <a:buNone/>
                      </a:pPr>
                      <a:r>
                        <a:rPr lang="en-US" sz="1250" dirty="0">
                          <a:solidFill>
                            <a:srgbClr val="1E293B"/>
                          </a:solidFill>
                          <a:latin typeface="Calibri" pitchFamily="34" charset="0"/>
                          <a:ea typeface="Calibri" pitchFamily="34" charset="-122"/>
                          <a:cs typeface="Calibri" pitchFamily="34" charset="-120"/>
                        </a:rPr>
                        <a:t>dW / dH / dR</a:t>
                      </a:r>
                      <a:endParaRPr lang="en-US" sz="125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latin typeface="Calibri" pitchFamily="34" charset="0"/>
                          <a:ea typeface="Calibri" pitchFamily="34" charset="-122"/>
                          <a:cs typeface="Calibri" pitchFamily="34" charset="-120"/>
                        </a:rPr>
                        <a:t>Width / height / radius change vs T0</a:t>
                      </a:r>
                      <a:endParaRPr lang="en-US" sz="125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latin typeface="Calibri" pitchFamily="34" charset="0"/>
                          <a:ea typeface="Calibri" pitchFamily="34" charset="-122"/>
                          <a:cs typeface="Calibri" pitchFamily="34" charset="-120"/>
                        </a:rPr>
                        <a:t>≥ 10 mm</a:t>
                      </a:r>
                      <a:endParaRPr lang="en-US" sz="125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latin typeface="Calibri" pitchFamily="34" charset="0"/>
                          <a:ea typeface="Calibri" pitchFamily="34" charset="-122"/>
                          <a:cs typeface="Calibri" pitchFamily="34" charset="-120"/>
                        </a:rPr>
                        <a:t>≥ 25 mm</a:t>
                      </a:r>
                      <a:endParaRPr lang="en-US" sz="125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1E293B"/>
                          </a:solidFill>
                          <a:latin typeface="Calibri" pitchFamily="34" charset="0"/>
                          <a:ea typeface="Calibri" pitchFamily="34" charset="-122"/>
                          <a:cs typeface="Calibri" pitchFamily="34" charset="-120"/>
                        </a:rPr>
                        <a:t>dOval</a:t>
                      </a:r>
                      <a:endParaRPr lang="en-US" sz="125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latin typeface="Calibri" pitchFamily="34" charset="0"/>
                          <a:ea typeface="Calibri" pitchFamily="34" charset="-122"/>
                          <a:cs typeface="Calibri" pitchFamily="34" charset="-120"/>
                        </a:rPr>
                        <a:t>Ovality change vs T0</a:t>
                      </a:r>
                      <a:endParaRPr lang="en-US" sz="125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latin typeface="Calibri" pitchFamily="34" charset="0"/>
                          <a:ea typeface="Calibri" pitchFamily="34" charset="-122"/>
                          <a:cs typeface="Calibri" pitchFamily="34" charset="-120"/>
                        </a:rPr>
                        <a:t>≥ 0.5 %</a:t>
                      </a:r>
                      <a:endParaRPr lang="en-US" sz="125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latin typeface="Calibri" pitchFamily="34" charset="0"/>
                          <a:ea typeface="Calibri" pitchFamily="34" charset="-122"/>
                          <a:cs typeface="Calibri" pitchFamily="34" charset="-120"/>
                        </a:rPr>
                        <a:t>≥ 1.0 %</a:t>
                      </a:r>
                      <a:endParaRPr lang="en-US" sz="125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1E293B"/>
                          </a:solidFill>
                          <a:latin typeface="Calibri" pitchFamily="34" charset="0"/>
                          <a:ea typeface="Calibri" pitchFamily="34" charset="-122"/>
                          <a:cs typeface="Calibri" pitchFamily="34" charset="-120"/>
                        </a:rPr>
                        <a:t>dEcc</a:t>
                      </a:r>
                      <a:endParaRPr lang="en-US" sz="125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latin typeface="Calibri" pitchFamily="34" charset="0"/>
                          <a:ea typeface="Calibri" pitchFamily="34" charset="-122"/>
                          <a:cs typeface="Calibri" pitchFamily="34" charset="-120"/>
                        </a:rPr>
                        <a:t>Eccentricity change vs T0</a:t>
                      </a:r>
                      <a:endParaRPr lang="en-US" sz="125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latin typeface="Calibri" pitchFamily="34" charset="0"/>
                          <a:ea typeface="Calibri" pitchFamily="34" charset="-122"/>
                          <a:cs typeface="Calibri" pitchFamily="34" charset="-120"/>
                        </a:rPr>
                        <a:t>≥ 10 mm</a:t>
                      </a:r>
                      <a:endParaRPr lang="en-US" sz="125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latin typeface="Calibri" pitchFamily="34" charset="0"/>
                          <a:ea typeface="Calibri" pitchFamily="34" charset="-122"/>
                          <a:cs typeface="Calibri" pitchFamily="34" charset="-120"/>
                        </a:rPr>
                        <a:t>≥ 25 mm</a:t>
                      </a:r>
                      <a:endParaRPr lang="en-US" sz="125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1E293B"/>
                          </a:solidFill>
                          <a:latin typeface="Calibri" pitchFamily="34" charset="0"/>
                          <a:ea typeface="Calibri" pitchFamily="34" charset="-122"/>
                          <a:cs typeface="Calibri" pitchFamily="34" charset="-120"/>
                        </a:rPr>
                        <a:t>clearance</a:t>
                      </a:r>
                      <a:endParaRPr lang="en-US" sz="125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latin typeface="Calibri" pitchFamily="34" charset="0"/>
                          <a:ea typeface="Calibri" pitchFamily="34" charset="-122"/>
                          <a:cs typeface="Calibri" pitchFamily="34" charset="-120"/>
                        </a:rPr>
                        <a:t>Clearance-envelope intrusion</a:t>
                      </a:r>
                      <a:endParaRPr lang="en-US" sz="125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latin typeface="Calibri" pitchFamily="34" charset="0"/>
                          <a:ea typeface="Calibri" pitchFamily="34" charset="-122"/>
                          <a:cs typeface="Calibri" pitchFamily="34" charset="-120"/>
                        </a:rPr>
                        <a:t>violation = CRITICAL</a:t>
                      </a:r>
                      <a:endParaRPr lang="en-US" sz="1250" dirty="0">
                        <a:latin typeface="Calibri" charset="0"/>
                        <a:ea typeface="Calibri" charset="0"/>
                        <a:cs typeface="Calibri" charset="0"/>
                      </a:endParaRPr>
                    </a:p>
                  </a:txBody>
                  <a:tcPr marL="91440" marR="91440" marT="45720" marB="4572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r>
            </a:tbl>
          </a:graphicData>
        </a:graphic>
      </p:graphicFrame>
      <p:sp>
        <p:nvSpPr>
          <p:cNvPr id="5" name="Shape 2"/>
          <p:cNvSpPr/>
          <p:nvPr/>
        </p:nvSpPr>
        <p:spPr>
          <a:xfrm>
            <a:off x="7818120" y="1645920"/>
            <a:ext cx="3730752" cy="3931920"/>
          </a:xfrm>
          <a:prstGeom prst="roundRect">
            <a:avLst>
              <a:gd name="adj" fmla="val 1961"/>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6" name="Text 3"/>
          <p:cNvSpPr/>
          <p:nvPr/>
        </p:nvSpPr>
        <p:spPr>
          <a:xfrm>
            <a:off x="8046720" y="1828800"/>
            <a:ext cx="3273552" cy="411480"/>
          </a:xfrm>
          <a:prstGeom prst="rect">
            <a:avLst/>
          </a:prstGeom>
          <a:noFill/>
          <a:ln/>
        </p:spPr>
        <p:txBody>
          <a:bodyPr wrap="square" lIns="0" tIns="0" rIns="0" bIns="0" rtlCol="0" anchor="ctr"/>
          <a:lstStyle/>
          <a:p>
            <a:pPr indent="0" marL="0">
              <a:buNone/>
            </a:pPr>
            <a:r>
              <a:rPr lang="en-US" sz="1550" b="1" dirty="0">
                <a:solidFill>
                  <a:srgbClr val="0F2A43"/>
                </a:solidFill>
                <a:latin typeface="Georgia" pitchFamily="34" charset="0"/>
                <a:ea typeface="Georgia" pitchFamily="34" charset="-122"/>
                <a:cs typeface="Georgia" pitchFamily="34" charset="-120"/>
              </a:rPr>
              <a:t>“Local gate” — stops blanket alarms</a:t>
            </a:r>
            <a:endParaRPr lang="en-US" sz="1550" dirty="0"/>
          </a:p>
        </p:txBody>
      </p:sp>
      <p:sp>
        <p:nvSpPr>
          <p:cNvPr id="7" name="Text 4"/>
          <p:cNvSpPr/>
          <p:nvPr/>
        </p:nvSpPr>
        <p:spPr>
          <a:xfrm>
            <a:off x="8046720" y="2286000"/>
            <a:ext cx="3273552" cy="3200400"/>
          </a:xfrm>
          <a:prstGeom prst="rect">
            <a:avLst/>
          </a:prstGeom>
          <a:noFill/>
          <a:ln/>
        </p:spPr>
        <p:txBody>
          <a:bodyPr wrap="square" lIns="0" tIns="0" rIns="0" bIns="0" rtlCol="0" anchor="ctr"/>
          <a:lstStyle/>
          <a:p>
            <a:pPr indent="0" marL="0">
              <a:lnSpc>
                <a:spcPct val="110000"/>
              </a:lnSpc>
              <a:buNone/>
            </a:pPr>
            <a:r>
              <a:rPr lang="en-US" sz="1250" b="1" dirty="0">
                <a:solidFill>
                  <a:srgbClr val="1E293B"/>
                </a:solidFill>
                <a:latin typeface="Calibri" pitchFamily="34" charset="0"/>
                <a:ea typeface="Calibri" pitchFamily="34" charset="-122"/>
                <a:cs typeface="Calibri" pitchFamily="34" charset="-120"/>
              </a:rPr>
              <a:t>dOval, dEcc, single-scan: </a:t>
            </a:r>
            <a:endParaRPr lang="en-US" sz="1250" dirty="0"/>
          </a:p>
          <a:p>
            <a:pPr indent="0" marL="0">
              <a:lnSpc>
                <a:spcPct val="110000"/>
              </a:lnSpc>
              <a:buNone/>
            </a:pPr>
            <a:r>
              <a:rPr lang="en-US" sz="1250" dirty="0">
                <a:solidFill>
                  <a:srgbClr val="1E293B"/>
                </a:solidFill>
                <a:latin typeface="Calibri" pitchFamily="34" charset="0"/>
                <a:ea typeface="Calibri" pitchFamily="34" charset="-122"/>
                <a:cs typeface="Calibri" pitchFamily="34" charset="-120"/>
              </a:rPr>
              <a:t>flag only when the value exceeds the threshold AND is a local anomaly (v ≥ median + 3·MAD). Suppresses a uniform registration bias painting the whole tunnel red.</a:t>
            </a:r>
            <a:endParaRPr lang="en-US" sz="1250" dirty="0"/>
          </a:p>
          <a:p>
            <a:pPr indent="0" marL="0">
              <a:lnSpc>
                <a:spcPct val="110000"/>
              </a:lnSpc>
              <a:buNone/>
            </a:pPr>
            <a:endParaRPr lang="en-US" sz="1250" dirty="0"/>
          </a:p>
          <a:p>
            <a:pPr indent="0" marL="0">
              <a:lnSpc>
                <a:spcPct val="110000"/>
              </a:lnSpc>
              <a:buNone/>
            </a:pPr>
            <a:r>
              <a:rPr lang="en-US" sz="1250" b="1" dirty="0">
                <a:solidFill>
                  <a:srgbClr val="1E293B"/>
                </a:solidFill>
                <a:latin typeface="Calibri" pitchFamily="34" charset="0"/>
                <a:ea typeface="Calibri" pitchFamily="34" charset="-122"/>
                <a:cs typeface="Calibri" pitchFamily="34" charset="-120"/>
              </a:rPr>
              <a:t>dW, dH, dR: </a:t>
            </a:r>
            <a:endParaRPr lang="en-US" sz="1250" dirty="0"/>
          </a:p>
          <a:p>
            <a:pPr indent="0" marL="0">
              <a:lnSpc>
                <a:spcPct val="110000"/>
              </a:lnSpc>
              <a:buNone/>
            </a:pPr>
            <a:r>
              <a:rPr lang="en-US" sz="1250" dirty="0">
                <a:solidFill>
                  <a:srgbClr val="1E293B"/>
                </a:solidFill>
                <a:latin typeface="Calibri" pitchFamily="34" charset="0"/>
                <a:ea typeface="Calibri" pitchFamily="34" charset="-122"/>
                <a:cs typeface="Calibri" pitchFamily="34" charset="-120"/>
              </a:rPr>
              <a:t>absolute threshold (no local gate) — a real dimension change is real deformation, even across a wide band.</a:t>
            </a:r>
            <a:endParaRPr lang="en-US" sz="1250" dirty="0"/>
          </a:p>
          <a:p>
            <a:pPr indent="0" marL="0">
              <a:lnSpc>
                <a:spcPct val="110000"/>
              </a:lnSpc>
              <a:buNone/>
            </a:pPr>
            <a:endParaRPr lang="en-US" sz="1250" dirty="0"/>
          </a:p>
          <a:p>
            <a:pPr indent="0" marL="0">
              <a:lnSpc>
                <a:spcPct val="110000"/>
              </a:lnSpc>
              <a:buNone/>
            </a:pPr>
            <a:r>
              <a:rPr lang="en-US" sz="1250" i="1" dirty="0">
                <a:solidFill>
                  <a:srgbClr val="0E8C80"/>
                </a:solidFill>
                <a:latin typeface="Calibri" pitchFamily="34" charset="0"/>
                <a:ea typeface="Calibri" pitchFamily="34" charset="-122"/>
                <a:cs typeface="Calibri" pitchFamily="34" charset="-120"/>
              </a:rPr>
              <a:t>One classifier shared by 2D / ruler / 3D / dashboard → every view stays consistent.</a:t>
            </a:r>
            <a:endParaRPr lang="en-US" sz="1250" dirty="0"/>
          </a:p>
        </p:txBody>
      </p:sp>
      <p:sp>
        <p:nvSpPr>
          <p:cNvPr id="8" name="Text 5"/>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200" b="1" spc="200" kern="0" dirty="0">
                <a:solidFill>
                  <a:srgbClr val="0E8C80"/>
                </a:solidFill>
                <a:latin typeface="Calibri" pitchFamily="34" charset="0"/>
                <a:ea typeface="Calibri" pitchFamily="34" charset="-122"/>
                <a:cs typeface="Calibri" pitchFamily="34" charset="-120"/>
              </a:rPr>
              <a:t>READING RESULTS — REAL EXAMPLE</a:t>
            </a:r>
            <a:endParaRPr lang="en-US" sz="1200" dirty="0"/>
          </a:p>
        </p:txBody>
      </p:sp>
      <p:sp>
        <p:nvSpPr>
          <p:cNvPr id="3" name="Text 1"/>
          <p:cNvSpPr/>
          <p:nvPr/>
        </p:nvSpPr>
        <p:spPr>
          <a:xfrm>
            <a:off x="640080" y="640080"/>
            <a:ext cx="10908792" cy="640080"/>
          </a:xfrm>
          <a:prstGeom prst="rect">
            <a:avLst/>
          </a:prstGeom>
          <a:noFill/>
          <a:ln/>
        </p:spPr>
        <p:txBody>
          <a:bodyPr wrap="square" lIns="0" tIns="0" rIns="0" bIns="0" rtlCol="0" anchor="ctr"/>
          <a:lstStyle/>
          <a:p>
            <a:pPr indent="0" marL="0">
              <a:buNone/>
            </a:pPr>
            <a:r>
              <a:rPr lang="en-US" sz="2800" b="1" dirty="0">
                <a:solidFill>
                  <a:srgbClr val="0F2A43"/>
                </a:solidFill>
                <a:latin typeface="Georgia" pitchFamily="34" charset="0"/>
                <a:ea typeface="Georgia" pitchFamily="34" charset="-122"/>
                <a:cs typeface="Georgia" pitchFamily="34" charset="-120"/>
              </a:rPr>
              <a:t>complex_warning dataset (80 sections)</a:t>
            </a:r>
            <a:endParaRPr lang="en-US" sz="2800" dirty="0"/>
          </a:p>
        </p:txBody>
      </p:sp>
      <p:graphicFrame>
        <p:nvGraphicFramePr>
          <p:cNvPr id="4" name="Chart 0" descr=""/>
          <p:cNvGraphicFramePr/>
          <p:nvPr/>
        </p:nvGraphicFramePr>
        <p:xfrm>
          <a:off x="640080" y="1737360"/>
          <a:ext cx="585216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766560" y="1737360"/>
            <a:ext cx="4782312" cy="1170432"/>
          </a:xfrm>
          <a:prstGeom prst="roundRect">
            <a:avLst>
              <a:gd name="adj" fmla="val 6250"/>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6" name="Text 3"/>
          <p:cNvSpPr/>
          <p:nvPr/>
        </p:nvSpPr>
        <p:spPr>
          <a:xfrm>
            <a:off x="6995160" y="1847088"/>
            <a:ext cx="2011680" cy="640080"/>
          </a:xfrm>
          <a:prstGeom prst="rect">
            <a:avLst/>
          </a:prstGeom>
          <a:noFill/>
          <a:ln/>
        </p:spPr>
        <p:txBody>
          <a:bodyPr wrap="square" lIns="0" tIns="0" rIns="0" bIns="0" rtlCol="0" anchor="ctr"/>
          <a:lstStyle/>
          <a:p>
            <a:pPr indent="0" marL="0">
              <a:buNone/>
            </a:pPr>
            <a:r>
              <a:rPr lang="en-US" sz="3000" b="1" dirty="0">
                <a:solidFill>
                  <a:srgbClr val="2EA86A"/>
                </a:solidFill>
                <a:latin typeface="Georgia" pitchFamily="34" charset="0"/>
                <a:ea typeface="Georgia" pitchFamily="34" charset="-122"/>
                <a:cs typeface="Georgia" pitchFamily="34" charset="-120"/>
              </a:rPr>
              <a:t>92.0 mm</a:t>
            </a:r>
            <a:endParaRPr lang="en-US" sz="3000" dirty="0"/>
          </a:p>
        </p:txBody>
      </p:sp>
      <p:sp>
        <p:nvSpPr>
          <p:cNvPr id="7" name="Text 4"/>
          <p:cNvSpPr/>
          <p:nvPr/>
        </p:nvSpPr>
        <p:spPr>
          <a:xfrm>
            <a:off x="9098280" y="1920240"/>
            <a:ext cx="2267712" cy="365760"/>
          </a:xfrm>
          <a:prstGeom prst="rect">
            <a:avLst/>
          </a:prstGeom>
          <a:noFill/>
          <a:ln/>
        </p:spPr>
        <p:txBody>
          <a:bodyPr wrap="square" lIns="0" tIns="0" rIns="0" bIns="0" rtlCol="0" anchor="ctr"/>
          <a:lstStyle/>
          <a:p>
            <a:pPr indent="0" marL="0">
              <a:buNone/>
            </a:pPr>
            <a:r>
              <a:rPr lang="en-US" sz="1400" b="1" dirty="0">
                <a:solidFill>
                  <a:srgbClr val="0F2A43"/>
                </a:solidFill>
                <a:latin typeface="Calibri" pitchFamily="34" charset="0"/>
                <a:ea typeface="Calibri" pitchFamily="34" charset="-122"/>
                <a:cs typeface="Calibri" pitchFamily="34" charset="-120"/>
              </a:rPr>
              <a:t>measured crown_max</a:t>
            </a:r>
            <a:endParaRPr lang="en-US" sz="1400" dirty="0"/>
          </a:p>
        </p:txBody>
      </p:sp>
      <p:sp>
        <p:nvSpPr>
          <p:cNvPr id="8" name="Text 5"/>
          <p:cNvSpPr/>
          <p:nvPr/>
        </p:nvSpPr>
        <p:spPr>
          <a:xfrm>
            <a:off x="9098280" y="2304288"/>
            <a:ext cx="2267712"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GT ≈ 90 mm — matches</a:t>
            </a:r>
            <a:endParaRPr lang="en-US" sz="1150" dirty="0"/>
          </a:p>
        </p:txBody>
      </p:sp>
      <p:sp>
        <p:nvSpPr>
          <p:cNvPr id="9" name="Shape 6"/>
          <p:cNvSpPr/>
          <p:nvPr/>
        </p:nvSpPr>
        <p:spPr>
          <a:xfrm>
            <a:off x="6766560" y="3063240"/>
            <a:ext cx="4782312" cy="1170432"/>
          </a:xfrm>
          <a:prstGeom prst="roundRect">
            <a:avLst>
              <a:gd name="adj" fmla="val 6250"/>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10" name="Text 7"/>
          <p:cNvSpPr/>
          <p:nvPr/>
        </p:nvSpPr>
        <p:spPr>
          <a:xfrm>
            <a:off x="6995160" y="3172968"/>
            <a:ext cx="2011680" cy="640080"/>
          </a:xfrm>
          <a:prstGeom prst="rect">
            <a:avLst/>
          </a:prstGeom>
          <a:noFill/>
          <a:ln/>
        </p:spPr>
        <p:txBody>
          <a:bodyPr wrap="square" lIns="0" tIns="0" rIns="0" bIns="0" rtlCol="0" anchor="ctr"/>
          <a:lstStyle/>
          <a:p>
            <a:pPr indent="0" marL="0">
              <a:buNone/>
            </a:pPr>
            <a:r>
              <a:rPr lang="en-US" sz="3000" b="1" dirty="0">
                <a:solidFill>
                  <a:srgbClr val="0E8C80"/>
                </a:solidFill>
                <a:latin typeface="Georgia" pitchFamily="34" charset="0"/>
                <a:ea typeface="Georgia" pitchFamily="34" charset="-122"/>
                <a:cs typeface="Georgia" pitchFamily="34" charset="-120"/>
              </a:rPr>
              <a:t>100 %</a:t>
            </a:r>
            <a:endParaRPr lang="en-US" sz="3000" dirty="0"/>
          </a:p>
        </p:txBody>
      </p:sp>
      <p:sp>
        <p:nvSpPr>
          <p:cNvPr id="11" name="Text 8"/>
          <p:cNvSpPr/>
          <p:nvPr/>
        </p:nvSpPr>
        <p:spPr>
          <a:xfrm>
            <a:off x="9098280" y="3246120"/>
            <a:ext cx="2267712" cy="365760"/>
          </a:xfrm>
          <a:prstGeom prst="rect">
            <a:avLst/>
          </a:prstGeom>
          <a:noFill/>
          <a:ln/>
        </p:spPr>
        <p:txBody>
          <a:bodyPr wrap="square" lIns="0" tIns="0" rIns="0" bIns="0" rtlCol="0" anchor="ctr"/>
          <a:lstStyle/>
          <a:p>
            <a:pPr indent="0" marL="0">
              <a:buNone/>
            </a:pPr>
            <a:r>
              <a:rPr lang="en-US" sz="1400" b="1" dirty="0">
                <a:solidFill>
                  <a:srgbClr val="0F2A43"/>
                </a:solidFill>
                <a:latin typeface="Calibri" pitchFamily="34" charset="0"/>
                <a:ea typeface="Calibri" pitchFamily="34" charset="-122"/>
                <a:cs typeface="Calibri" pitchFamily="34" charset="-120"/>
              </a:rPr>
              <a:t>recall over deformation band</a:t>
            </a:r>
            <a:endParaRPr lang="en-US" sz="1400" dirty="0"/>
          </a:p>
        </p:txBody>
      </p:sp>
      <p:sp>
        <p:nvSpPr>
          <p:cNvPr id="12" name="Text 9"/>
          <p:cNvSpPr/>
          <p:nvPr/>
        </p:nvSpPr>
        <p:spPr>
          <a:xfrm>
            <a:off x="9098280" y="3630168"/>
            <a:ext cx="2267712"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17/17 band sections flagged</a:t>
            </a:r>
            <a:endParaRPr lang="en-US" sz="1150" dirty="0"/>
          </a:p>
        </p:txBody>
      </p:sp>
      <p:sp>
        <p:nvSpPr>
          <p:cNvPr id="13" name="Shape 10"/>
          <p:cNvSpPr/>
          <p:nvPr/>
        </p:nvSpPr>
        <p:spPr>
          <a:xfrm>
            <a:off x="6766560" y="4389120"/>
            <a:ext cx="4782312" cy="1170432"/>
          </a:xfrm>
          <a:prstGeom prst="roundRect">
            <a:avLst>
              <a:gd name="adj" fmla="val 6250"/>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14" name="Text 11"/>
          <p:cNvSpPr/>
          <p:nvPr/>
        </p:nvSpPr>
        <p:spPr>
          <a:xfrm>
            <a:off x="6995160" y="4498848"/>
            <a:ext cx="2011680" cy="640080"/>
          </a:xfrm>
          <a:prstGeom prst="rect">
            <a:avLst/>
          </a:prstGeom>
          <a:noFill/>
          <a:ln/>
        </p:spPr>
        <p:txBody>
          <a:bodyPr wrap="square" lIns="0" tIns="0" rIns="0" bIns="0" rtlCol="0" anchor="ctr"/>
          <a:lstStyle/>
          <a:p>
            <a:pPr indent="0" marL="0">
              <a:buNone/>
            </a:pPr>
            <a:r>
              <a:rPr lang="en-US" sz="3000" b="1" dirty="0">
                <a:solidFill>
                  <a:srgbClr val="D7263D"/>
                </a:solidFill>
                <a:latin typeface="Georgia" pitchFamily="34" charset="0"/>
                <a:ea typeface="Georgia" pitchFamily="34" charset="-122"/>
                <a:cs typeface="Georgia" pitchFamily="34" charset="-120"/>
              </a:rPr>
              <a:t>38</a:t>
            </a:r>
            <a:endParaRPr lang="en-US" sz="3000" dirty="0"/>
          </a:p>
        </p:txBody>
      </p:sp>
      <p:sp>
        <p:nvSpPr>
          <p:cNvPr id="15" name="Text 12"/>
          <p:cNvSpPr/>
          <p:nvPr/>
        </p:nvSpPr>
        <p:spPr>
          <a:xfrm>
            <a:off x="9098280" y="4572000"/>
            <a:ext cx="2267712" cy="365760"/>
          </a:xfrm>
          <a:prstGeom prst="rect">
            <a:avLst/>
          </a:prstGeom>
          <a:noFill/>
          <a:ln/>
        </p:spPr>
        <p:txBody>
          <a:bodyPr wrap="square" lIns="0" tIns="0" rIns="0" bIns="0" rtlCol="0" anchor="ctr"/>
          <a:lstStyle/>
          <a:p>
            <a:pPr indent="0" marL="0">
              <a:buNone/>
            </a:pPr>
            <a:r>
              <a:rPr lang="en-US" sz="1400" b="1" dirty="0">
                <a:solidFill>
                  <a:srgbClr val="0F2A43"/>
                </a:solidFill>
                <a:latin typeface="Calibri" pitchFamily="34" charset="0"/>
                <a:ea typeface="Calibri" pitchFamily="34" charset="-122"/>
                <a:cs typeface="Calibri" pitchFamily="34" charset="-120"/>
              </a:rPr>
              <a:t>CRITICAL sections</a:t>
            </a:r>
            <a:endParaRPr lang="en-US" sz="1400" dirty="0"/>
          </a:p>
        </p:txBody>
      </p:sp>
      <p:sp>
        <p:nvSpPr>
          <p:cNvPr id="16" name="Text 13"/>
          <p:cNvSpPr/>
          <p:nvPr/>
        </p:nvSpPr>
        <p:spPr>
          <a:xfrm>
            <a:off x="9098280" y="4956048"/>
            <a:ext cx="2267712"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correctly localised to the damage zone</a:t>
            </a:r>
            <a:endParaRPr lang="en-US" sz="1150" dirty="0"/>
          </a:p>
        </p:txBody>
      </p:sp>
      <p:sp>
        <p:nvSpPr>
          <p:cNvPr id="17" name="Text 14"/>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200" b="1" spc="200" kern="0" dirty="0">
                <a:solidFill>
                  <a:srgbClr val="0E8C80"/>
                </a:solidFill>
                <a:latin typeface="Calibri" pitchFamily="34" charset="0"/>
                <a:ea typeface="Calibri" pitchFamily="34" charset="-122"/>
                <a:cs typeface="Calibri" pitchFamily="34" charset="-120"/>
              </a:rPr>
              <a:t>EXTENSION — MULTIPLE EPOCHS (T0…TN)</a:t>
            </a:r>
            <a:endParaRPr lang="en-US" sz="1200" dirty="0"/>
          </a:p>
        </p:txBody>
      </p:sp>
      <p:sp>
        <p:nvSpPr>
          <p:cNvPr id="3" name="Text 1"/>
          <p:cNvSpPr/>
          <p:nvPr/>
        </p:nvSpPr>
        <p:spPr>
          <a:xfrm>
            <a:off x="640080" y="640080"/>
            <a:ext cx="10908792" cy="640080"/>
          </a:xfrm>
          <a:prstGeom prst="rect">
            <a:avLst/>
          </a:prstGeom>
          <a:noFill/>
          <a:ln/>
        </p:spPr>
        <p:txBody>
          <a:bodyPr wrap="square" lIns="0" tIns="0" rIns="0" bIns="0" rtlCol="0" anchor="ctr"/>
          <a:lstStyle/>
          <a:p>
            <a:pPr indent="0" marL="0">
              <a:buNone/>
            </a:pPr>
            <a:r>
              <a:rPr lang="en-US" sz="2800" b="1" dirty="0">
                <a:solidFill>
                  <a:srgbClr val="0F2A43"/>
                </a:solidFill>
                <a:latin typeface="Georgia" pitchFamily="34" charset="0"/>
                <a:ea typeface="Georgia" pitchFamily="34" charset="-122"/>
                <a:cs typeface="Georgia" pitchFamily="34" charset="-120"/>
              </a:rPr>
              <a:t>Trend chart &amp; threshold forecast</a:t>
            </a:r>
            <a:endParaRPr lang="en-US" sz="2800" dirty="0"/>
          </a:p>
        </p:txBody>
      </p:sp>
      <p:graphicFrame>
        <p:nvGraphicFramePr>
          <p:cNvPr id="4" name="Chart 0" descr=""/>
          <p:cNvGraphicFramePr/>
          <p:nvPr/>
        </p:nvGraphicFramePr>
        <p:xfrm>
          <a:off x="640080" y="1691640"/>
          <a:ext cx="676656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35240" y="1691640"/>
            <a:ext cx="3913632" cy="4023360"/>
          </a:xfrm>
          <a:prstGeom prst="roundRect">
            <a:avLst>
              <a:gd name="adj" fmla="val 1869"/>
            </a:avLst>
          </a:prstGeom>
          <a:solidFill>
            <a:srgbClr val="0F2A43"/>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6" name="Text 3"/>
          <p:cNvSpPr/>
          <p:nvPr/>
        </p:nvSpPr>
        <p:spPr>
          <a:xfrm>
            <a:off x="7863840" y="1874520"/>
            <a:ext cx="3456432" cy="365760"/>
          </a:xfrm>
          <a:prstGeom prst="rect">
            <a:avLst/>
          </a:prstGeom>
          <a:noFill/>
          <a:ln/>
        </p:spPr>
        <p:txBody>
          <a:bodyPr wrap="square" lIns="0" tIns="0" rIns="0" bIns="0" rtlCol="0" anchor="ctr"/>
          <a:lstStyle/>
          <a:p>
            <a:pPr indent="0" marL="0">
              <a:buNone/>
            </a:pPr>
            <a:r>
              <a:rPr lang="en-US" sz="1300" b="1" spc="100" kern="0" dirty="0">
                <a:solidFill>
                  <a:srgbClr val="14B8A6"/>
                </a:solidFill>
                <a:latin typeface="Calibri" pitchFamily="34" charset="0"/>
                <a:ea typeface="Calibri" pitchFamily="34" charset="-122"/>
                <a:cs typeface="Calibri" pitchFamily="34" charset="-120"/>
              </a:rPr>
              <a:t>Only with 3+ epochs</a:t>
            </a:r>
            <a:endParaRPr lang="en-US" sz="1300" dirty="0"/>
          </a:p>
        </p:txBody>
      </p:sp>
      <p:sp>
        <p:nvSpPr>
          <p:cNvPr id="7" name="Text 4"/>
          <p:cNvSpPr/>
          <p:nvPr/>
        </p:nvSpPr>
        <p:spPr>
          <a:xfrm>
            <a:off x="7863840" y="2286000"/>
            <a:ext cx="3456432" cy="3291840"/>
          </a:xfrm>
          <a:prstGeom prst="rect">
            <a:avLst/>
          </a:prstGeom>
          <a:noFill/>
          <a:ln/>
        </p:spPr>
        <p:txBody>
          <a:bodyPr wrap="square" lIns="0" tIns="0" rIns="0" bIns="0" rtlCol="0" anchor="ctr"/>
          <a:lstStyle/>
          <a:p>
            <a:pPr indent="0" marL="0">
              <a:lnSpc>
                <a:spcPct val="110000"/>
              </a:lnSpc>
              <a:buNone/>
            </a:pPr>
            <a:r>
              <a:rPr lang="en-US" sz="1300" b="1" dirty="0">
                <a:solidFill>
                  <a:srgbClr val="FFFFFF"/>
                </a:solidFill>
                <a:latin typeface="Calibri" pitchFamily="34" charset="0"/>
                <a:ea typeface="Calibri" pitchFamily="34" charset="-122"/>
                <a:cs typeface="Calibri" pitchFamily="34" charset="-120"/>
              </a:rPr>
              <a:t>6.2 Trend: </a:t>
            </a:r>
            <a:endParaRPr lang="en-US" sz="1300" dirty="0"/>
          </a:p>
          <a:p>
            <a:pPr indent="0" marL="0">
              <a:lnSpc>
                <a:spcPct val="110000"/>
              </a:lnSpc>
              <a:buNone/>
            </a:pPr>
            <a:r>
              <a:rPr lang="en-US" sz="1300" dirty="0">
                <a:solidFill>
                  <a:srgbClr val="CFE8F2"/>
                </a:solidFill>
                <a:latin typeface="Calibri" pitchFamily="34" charset="0"/>
                <a:ea typeface="Calibri" pitchFamily="34" charset="-122"/>
                <a:cs typeface="Calibri" pitchFamily="34" charset="-120"/>
              </a:rPr>
              <a:t>track the max_abs PEAK — median ≈ 0 even when the peak is 44.5 mm (local defect hidden by whole-cloud stats).</a:t>
            </a:r>
            <a:endParaRPr lang="en-US" sz="1300" dirty="0"/>
          </a:p>
          <a:p>
            <a:pPr indent="0" marL="0">
              <a:lnSpc>
                <a:spcPct val="110000"/>
              </a:lnSpc>
              <a:buNone/>
            </a:pPr>
            <a:endParaRPr lang="en-US" sz="1300" dirty="0"/>
          </a:p>
          <a:p>
            <a:pPr indent="0" marL="0">
              <a:lnSpc>
                <a:spcPct val="110000"/>
              </a:lnSpc>
              <a:buNone/>
            </a:pPr>
            <a:r>
              <a:rPr lang="en-US" sz="1300" b="1" dirty="0">
                <a:solidFill>
                  <a:srgbClr val="FFFFFF"/>
                </a:solidFill>
                <a:latin typeface="Calibri" pitchFamily="34" charset="0"/>
                <a:ea typeface="Calibri" pitchFamily="34" charset="-122"/>
                <a:cs typeface="Calibri" pitchFamily="34" charset="-120"/>
              </a:rPr>
              <a:t>6.5 Forecast: </a:t>
            </a:r>
            <a:endParaRPr lang="en-US" sz="1300" dirty="0"/>
          </a:p>
          <a:p>
            <a:pPr indent="0" marL="0">
              <a:lnSpc>
                <a:spcPct val="110000"/>
              </a:lnSpc>
              <a:buNone/>
            </a:pPr>
            <a:r>
              <a:rPr lang="en-US" sz="1300" dirty="0">
                <a:solidFill>
                  <a:srgbClr val="CFE8F2"/>
                </a:solidFill>
                <a:latin typeface="Calibri" pitchFamily="34" charset="0"/>
                <a:ea typeface="Calibri" pitchFamily="34" charset="-122"/>
                <a:cs typeface="Calibri" pitchFamily="34" charset="-120"/>
              </a:rPr>
              <a:t>fit the trend → rate = +14.94 mm/unit, R² = 1.00, time-to-CAUTION/CRITICAL.</a:t>
            </a:r>
            <a:endParaRPr lang="en-US" sz="1300" dirty="0"/>
          </a:p>
          <a:p>
            <a:pPr indent="0" marL="0">
              <a:lnSpc>
                <a:spcPct val="110000"/>
              </a:lnSpc>
              <a:buNone/>
            </a:pPr>
            <a:endParaRPr lang="en-US" sz="1300" dirty="0"/>
          </a:p>
          <a:p>
            <a:pPr indent="0" marL="0">
              <a:lnSpc>
                <a:spcPct val="110000"/>
              </a:lnSpc>
              <a:buNone/>
            </a:pPr>
            <a:r>
              <a:rPr lang="en-US" sz="1300" dirty="0">
                <a:solidFill>
                  <a:srgbClr val="E0A100"/>
                </a:solidFill>
                <a:latin typeface="Calibri" pitchFamily="34" charset="0"/>
                <a:ea typeface="Calibri" pitchFamily="34" charset="-122"/>
                <a:cs typeface="Calibri" pitchFamily="34" charset="-120"/>
              </a:rPr>
              <a:t>R² &lt; 0.5 → low_confidence: do not trust the extrapolation.</a:t>
            </a:r>
            <a:endParaRPr lang="en-US" sz="1300" dirty="0"/>
          </a:p>
        </p:txBody>
      </p:sp>
      <p:sp>
        <p:nvSpPr>
          <p:cNvPr id="8" name="Text 5"/>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384048"/>
            <a:ext cx="10908792" cy="274320"/>
          </a:xfrm>
          <a:prstGeom prst="rect">
            <a:avLst/>
          </a:prstGeom>
          <a:noFill/>
          <a:ln/>
        </p:spPr>
        <p:txBody>
          <a:bodyPr wrap="square" lIns="0" tIns="0" rIns="0" bIns="0" rtlCol="0" anchor="ctr"/>
          <a:lstStyle/>
          <a:p>
            <a:pPr indent="0" marL="0">
              <a:buNone/>
            </a:pPr>
            <a:r>
              <a:rPr lang="en-US" sz="1200" b="1" spc="200" kern="0" dirty="0">
                <a:solidFill>
                  <a:srgbClr val="0E8C80"/>
                </a:solidFill>
                <a:latin typeface="Calibri" pitchFamily="34" charset="0"/>
                <a:ea typeface="Calibri" pitchFamily="34" charset="-122"/>
                <a:cs typeface="Calibri" pitchFamily="34" charset="-120"/>
              </a:rPr>
              <a:t>MEANING &amp; CAUTIONS</a:t>
            </a:r>
            <a:endParaRPr lang="en-US" sz="1200" dirty="0"/>
          </a:p>
        </p:txBody>
      </p:sp>
      <p:sp>
        <p:nvSpPr>
          <p:cNvPr id="3" name="Text 1"/>
          <p:cNvSpPr/>
          <p:nvPr/>
        </p:nvSpPr>
        <p:spPr>
          <a:xfrm>
            <a:off x="640080" y="640080"/>
            <a:ext cx="10908792" cy="640080"/>
          </a:xfrm>
          <a:prstGeom prst="rect">
            <a:avLst/>
          </a:prstGeom>
          <a:noFill/>
          <a:ln/>
        </p:spPr>
        <p:txBody>
          <a:bodyPr wrap="square" lIns="0" tIns="0" rIns="0" bIns="0" rtlCol="0" anchor="ctr"/>
          <a:lstStyle/>
          <a:p>
            <a:pPr indent="0" marL="0">
              <a:buNone/>
            </a:pPr>
            <a:r>
              <a:rPr lang="en-US" sz="2800" b="1" dirty="0">
                <a:solidFill>
                  <a:srgbClr val="0F2A43"/>
                </a:solidFill>
                <a:latin typeface="Georgia" pitchFamily="34" charset="0"/>
                <a:ea typeface="Georgia" pitchFamily="34" charset="-122"/>
                <a:cs typeface="Georgia" pitchFamily="34" charset="-120"/>
              </a:rPr>
              <a:t>Read the results correctly</a:t>
            </a:r>
            <a:endParaRPr lang="en-US" sz="2800" dirty="0"/>
          </a:p>
        </p:txBody>
      </p:sp>
      <p:sp>
        <p:nvSpPr>
          <p:cNvPr id="4" name="Shape 2"/>
          <p:cNvSpPr/>
          <p:nvPr/>
        </p:nvSpPr>
        <p:spPr>
          <a:xfrm>
            <a:off x="640080" y="1737360"/>
            <a:ext cx="3392424" cy="18288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5" name="Shape 3"/>
          <p:cNvSpPr/>
          <p:nvPr/>
        </p:nvSpPr>
        <p:spPr>
          <a:xfrm>
            <a:off x="868680" y="1965960"/>
            <a:ext cx="365760" cy="365760"/>
          </a:xfrm>
          <a:prstGeom prst="ellipse">
            <a:avLst/>
          </a:prstGeom>
          <a:solidFill>
            <a:srgbClr val="14B8A6"/>
          </a:solidFill>
          <a:ln/>
        </p:spPr>
      </p:sp>
      <p:sp>
        <p:nvSpPr>
          <p:cNvPr id="6" name="Text 4"/>
          <p:cNvSpPr/>
          <p:nvPr/>
        </p:nvSpPr>
        <p:spPr>
          <a:xfrm>
            <a:off x="1371600" y="1938528"/>
            <a:ext cx="2478024" cy="640080"/>
          </a:xfrm>
          <a:prstGeom prst="rect">
            <a:avLst/>
          </a:prstGeom>
          <a:noFill/>
          <a:ln/>
        </p:spPr>
        <p:txBody>
          <a:bodyPr wrap="square" lIns="0" tIns="0" rIns="0" bIns="0" rtlCol="0" anchor="ctr"/>
          <a:lstStyle/>
          <a:p>
            <a:pPr indent="0" marL="0">
              <a:buNone/>
            </a:pPr>
            <a:r>
              <a:rPr lang="en-US" sz="1500" b="1" dirty="0">
                <a:solidFill>
                  <a:srgbClr val="0F2A43"/>
                </a:solidFill>
                <a:latin typeface="Georgia" pitchFamily="34" charset="0"/>
                <a:ea typeface="Georgia" pitchFamily="34" charset="-122"/>
                <a:cs typeface="Georgia" pitchFamily="34" charset="-120"/>
              </a:rPr>
              <a:t>Sign of displacement</a:t>
            </a:r>
            <a:endParaRPr lang="en-US" sz="1500" dirty="0"/>
          </a:p>
        </p:txBody>
      </p:sp>
      <p:sp>
        <p:nvSpPr>
          <p:cNvPr id="7" name="Text 5"/>
          <p:cNvSpPr/>
          <p:nvPr/>
        </p:nvSpPr>
        <p:spPr>
          <a:xfrm>
            <a:off x="914400" y="2606040"/>
            <a:ext cx="2843784" cy="8229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Negative = inward (settlement/convergence), positive = outward. Always read with chainage for LOCATION.</a:t>
            </a:r>
            <a:endParaRPr lang="en-US" sz="1250" dirty="0"/>
          </a:p>
        </p:txBody>
      </p:sp>
      <p:sp>
        <p:nvSpPr>
          <p:cNvPr id="8" name="Shape 6"/>
          <p:cNvSpPr/>
          <p:nvPr/>
        </p:nvSpPr>
        <p:spPr>
          <a:xfrm>
            <a:off x="4398264" y="1737360"/>
            <a:ext cx="3392424" cy="18288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9" name="Shape 7"/>
          <p:cNvSpPr/>
          <p:nvPr/>
        </p:nvSpPr>
        <p:spPr>
          <a:xfrm>
            <a:off x="4626864" y="1965960"/>
            <a:ext cx="365760" cy="365760"/>
          </a:xfrm>
          <a:prstGeom prst="ellipse">
            <a:avLst/>
          </a:prstGeom>
          <a:solidFill>
            <a:srgbClr val="0F2A43"/>
          </a:solidFill>
          <a:ln/>
        </p:spPr>
      </p:sp>
      <p:sp>
        <p:nvSpPr>
          <p:cNvPr id="10" name="Text 8"/>
          <p:cNvSpPr/>
          <p:nvPr/>
        </p:nvSpPr>
        <p:spPr>
          <a:xfrm>
            <a:off x="5129784" y="1938528"/>
            <a:ext cx="2478024" cy="640080"/>
          </a:xfrm>
          <a:prstGeom prst="rect">
            <a:avLst/>
          </a:prstGeom>
          <a:noFill/>
          <a:ln/>
        </p:spPr>
        <p:txBody>
          <a:bodyPr wrap="square" lIns="0" tIns="0" rIns="0" bIns="0" rtlCol="0" anchor="ctr"/>
          <a:lstStyle/>
          <a:p>
            <a:pPr indent="0" marL="0">
              <a:buNone/>
            </a:pPr>
            <a:r>
              <a:rPr lang="en-US" sz="1500" b="1" dirty="0">
                <a:solidFill>
                  <a:srgbClr val="0F2A43"/>
                </a:solidFill>
                <a:latin typeface="Georgia" pitchFamily="34" charset="0"/>
                <a:ea typeface="Georgia" pitchFamily="34" charset="-122"/>
                <a:cs typeface="Georgia" pitchFamily="34" charset="-120"/>
              </a:rPr>
              <a:t>LoD is a filter</a:t>
            </a:r>
            <a:endParaRPr lang="en-US" sz="1500" dirty="0"/>
          </a:p>
        </p:txBody>
      </p:sp>
      <p:sp>
        <p:nvSpPr>
          <p:cNvPr id="11" name="Text 9"/>
          <p:cNvSpPr/>
          <p:nvPr/>
        </p:nvSpPr>
        <p:spPr>
          <a:xfrm>
            <a:off x="4672584" y="2606040"/>
            <a:ext cx="2843784" cy="8229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Values below LoD sit in the noise — don’t conclude deformation from them.</a:t>
            </a:r>
            <a:endParaRPr lang="en-US" sz="1250" dirty="0"/>
          </a:p>
        </p:txBody>
      </p:sp>
      <p:sp>
        <p:nvSpPr>
          <p:cNvPr id="12" name="Shape 10"/>
          <p:cNvSpPr/>
          <p:nvPr/>
        </p:nvSpPr>
        <p:spPr>
          <a:xfrm>
            <a:off x="8156448" y="1737360"/>
            <a:ext cx="3392424" cy="18288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13" name="Shape 11"/>
          <p:cNvSpPr/>
          <p:nvPr/>
        </p:nvSpPr>
        <p:spPr>
          <a:xfrm>
            <a:off x="8385048" y="1965960"/>
            <a:ext cx="365760" cy="365760"/>
          </a:xfrm>
          <a:prstGeom prst="ellipse">
            <a:avLst/>
          </a:prstGeom>
          <a:solidFill>
            <a:srgbClr val="E0A100"/>
          </a:solidFill>
          <a:ln/>
        </p:spPr>
      </p:sp>
      <p:sp>
        <p:nvSpPr>
          <p:cNvPr id="14" name="Text 12"/>
          <p:cNvSpPr/>
          <p:nvPr/>
        </p:nvSpPr>
        <p:spPr>
          <a:xfrm>
            <a:off x="8887968" y="1938528"/>
            <a:ext cx="2478024" cy="640080"/>
          </a:xfrm>
          <a:prstGeom prst="rect">
            <a:avLst/>
          </a:prstGeom>
          <a:noFill/>
          <a:ln/>
        </p:spPr>
        <p:txBody>
          <a:bodyPr wrap="square" lIns="0" tIns="0" rIns="0" bIns="0" rtlCol="0" anchor="ctr"/>
          <a:lstStyle/>
          <a:p>
            <a:pPr indent="0" marL="0">
              <a:buNone/>
            </a:pPr>
            <a:r>
              <a:rPr lang="en-US" sz="1500" b="1" dirty="0">
                <a:solidFill>
                  <a:srgbClr val="0F2A43"/>
                </a:solidFill>
                <a:latin typeface="Georgia" pitchFamily="34" charset="0"/>
                <a:ea typeface="Georgia" pitchFamily="34" charset="-122"/>
                <a:cs typeface="Georgia" pitchFamily="34" charset="-120"/>
              </a:rPr>
              <a:t>Coverage warning</a:t>
            </a:r>
            <a:endParaRPr lang="en-US" sz="1500" dirty="0"/>
          </a:p>
        </p:txBody>
      </p:sp>
      <p:sp>
        <p:nvSpPr>
          <p:cNvPr id="15" name="Text 13"/>
          <p:cNvSpPr/>
          <p:nvPr/>
        </p:nvSpPr>
        <p:spPr>
          <a:xfrm>
            <a:off x="8430768" y="2606040"/>
            <a:ext cx="2843784" cy="8229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quality_warning fires when Tn is under-scanned (&gt;50% with no neighbour) — results then unreliable.</a:t>
            </a:r>
            <a:endParaRPr lang="en-US" sz="1250" dirty="0"/>
          </a:p>
        </p:txBody>
      </p:sp>
      <p:sp>
        <p:nvSpPr>
          <p:cNvPr id="16" name="Shape 14"/>
          <p:cNvSpPr/>
          <p:nvPr/>
        </p:nvSpPr>
        <p:spPr>
          <a:xfrm>
            <a:off x="640080" y="3840480"/>
            <a:ext cx="3392424" cy="18288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17" name="Shape 15"/>
          <p:cNvSpPr/>
          <p:nvPr/>
        </p:nvSpPr>
        <p:spPr>
          <a:xfrm>
            <a:off x="868680" y="4069080"/>
            <a:ext cx="365760" cy="365760"/>
          </a:xfrm>
          <a:prstGeom prst="ellipse">
            <a:avLst/>
          </a:prstGeom>
          <a:solidFill>
            <a:srgbClr val="14B8A6"/>
          </a:solidFill>
          <a:ln/>
        </p:spPr>
      </p:sp>
      <p:sp>
        <p:nvSpPr>
          <p:cNvPr id="18" name="Text 16"/>
          <p:cNvSpPr/>
          <p:nvPr/>
        </p:nvSpPr>
        <p:spPr>
          <a:xfrm>
            <a:off x="1371600" y="4041648"/>
            <a:ext cx="2478024" cy="640080"/>
          </a:xfrm>
          <a:prstGeom prst="rect">
            <a:avLst/>
          </a:prstGeom>
          <a:noFill/>
          <a:ln/>
        </p:spPr>
        <p:txBody>
          <a:bodyPr wrap="square" lIns="0" tIns="0" rIns="0" bIns="0" rtlCol="0" anchor="ctr"/>
          <a:lstStyle/>
          <a:p>
            <a:pPr indent="0" marL="0">
              <a:buNone/>
            </a:pPr>
            <a:r>
              <a:rPr lang="en-US" sz="1500" b="1" dirty="0">
                <a:solidFill>
                  <a:srgbClr val="0F2A43"/>
                </a:solidFill>
                <a:latin typeface="Georgia" pitchFamily="34" charset="0"/>
                <a:ea typeface="Georgia" pitchFamily="34" charset="-122"/>
                <a:cs typeface="Georgia" pitchFamily="34" charset="-120"/>
              </a:rPr>
              <a:t>Registration preserves it</a:t>
            </a:r>
            <a:endParaRPr lang="en-US" sz="1500" dirty="0"/>
          </a:p>
        </p:txBody>
      </p:sp>
      <p:sp>
        <p:nvSpPr>
          <p:cNvPr id="19" name="Text 17"/>
          <p:cNvSpPr/>
          <p:nvPr/>
        </p:nvSpPr>
        <p:spPr>
          <a:xfrm>
            <a:off x="914400" y="4709160"/>
            <a:ext cx="2843784" cy="8229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Alignment locks the stable part; local deformation is NOT cancelled (verified).</a:t>
            </a:r>
            <a:endParaRPr lang="en-US" sz="1250" dirty="0"/>
          </a:p>
        </p:txBody>
      </p:sp>
      <p:sp>
        <p:nvSpPr>
          <p:cNvPr id="20" name="Shape 18"/>
          <p:cNvSpPr/>
          <p:nvPr/>
        </p:nvSpPr>
        <p:spPr>
          <a:xfrm>
            <a:off x="4398264" y="3840480"/>
            <a:ext cx="3392424" cy="18288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21" name="Shape 19"/>
          <p:cNvSpPr/>
          <p:nvPr/>
        </p:nvSpPr>
        <p:spPr>
          <a:xfrm>
            <a:off x="4626864" y="4069080"/>
            <a:ext cx="365760" cy="365760"/>
          </a:xfrm>
          <a:prstGeom prst="ellipse">
            <a:avLst/>
          </a:prstGeom>
          <a:solidFill>
            <a:srgbClr val="0F2A43"/>
          </a:solidFill>
          <a:ln/>
        </p:spPr>
      </p:sp>
      <p:sp>
        <p:nvSpPr>
          <p:cNvPr id="22" name="Text 20"/>
          <p:cNvSpPr/>
          <p:nvPr/>
        </p:nvSpPr>
        <p:spPr>
          <a:xfrm>
            <a:off x="5129784" y="4041648"/>
            <a:ext cx="2478024" cy="640080"/>
          </a:xfrm>
          <a:prstGeom prst="rect">
            <a:avLst/>
          </a:prstGeom>
          <a:noFill/>
          <a:ln/>
        </p:spPr>
        <p:txBody>
          <a:bodyPr wrap="square" lIns="0" tIns="0" rIns="0" bIns="0" rtlCol="0" anchor="ctr"/>
          <a:lstStyle/>
          <a:p>
            <a:pPr indent="0" marL="0">
              <a:buNone/>
            </a:pPr>
            <a:r>
              <a:rPr lang="en-US" sz="1500" b="1" dirty="0">
                <a:solidFill>
                  <a:srgbClr val="0F2A43"/>
                </a:solidFill>
                <a:latin typeface="Georgia" pitchFamily="34" charset="0"/>
                <a:ea typeface="Georgia" pitchFamily="34" charset="-122"/>
                <a:cs typeface="Georgia" pitchFamily="34" charset="-120"/>
              </a:rPr>
              <a:t>Local beats global</a:t>
            </a:r>
            <a:endParaRPr lang="en-US" sz="1500" dirty="0"/>
          </a:p>
        </p:txBody>
      </p:sp>
      <p:sp>
        <p:nvSpPr>
          <p:cNvPr id="23" name="Text 21"/>
          <p:cNvSpPr/>
          <p:nvPr/>
        </p:nvSpPr>
        <p:spPr>
          <a:xfrm>
            <a:off x="4672584" y="4709160"/>
            <a:ext cx="2843784" cy="8229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Track the max_abs peak and warn per section, not whole-cloud percentiles.</a:t>
            </a:r>
            <a:endParaRPr lang="en-US" sz="1250" dirty="0"/>
          </a:p>
        </p:txBody>
      </p:sp>
      <p:sp>
        <p:nvSpPr>
          <p:cNvPr id="24" name="Shape 22"/>
          <p:cNvSpPr/>
          <p:nvPr/>
        </p:nvSpPr>
        <p:spPr>
          <a:xfrm>
            <a:off x="8156448" y="3840480"/>
            <a:ext cx="3392424" cy="18288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8100000">
              <a:srgbClr val="000000">
                <a:alpha val="18000"/>
              </a:srgbClr>
            </a:outerShdw>
          </a:effectLst>
        </p:spPr>
      </p:sp>
      <p:sp>
        <p:nvSpPr>
          <p:cNvPr id="25" name="Shape 23"/>
          <p:cNvSpPr/>
          <p:nvPr/>
        </p:nvSpPr>
        <p:spPr>
          <a:xfrm>
            <a:off x="8385048" y="4069080"/>
            <a:ext cx="365760" cy="365760"/>
          </a:xfrm>
          <a:prstGeom prst="ellipse">
            <a:avLst/>
          </a:prstGeom>
          <a:solidFill>
            <a:srgbClr val="E0A100"/>
          </a:solidFill>
          <a:ln/>
        </p:spPr>
      </p:sp>
      <p:sp>
        <p:nvSpPr>
          <p:cNvPr id="26" name="Text 24"/>
          <p:cNvSpPr/>
          <p:nvPr/>
        </p:nvSpPr>
        <p:spPr>
          <a:xfrm>
            <a:off x="8887968" y="4041648"/>
            <a:ext cx="2478024" cy="640080"/>
          </a:xfrm>
          <a:prstGeom prst="rect">
            <a:avLst/>
          </a:prstGeom>
          <a:noFill/>
          <a:ln/>
        </p:spPr>
        <p:txBody>
          <a:bodyPr wrap="square" lIns="0" tIns="0" rIns="0" bIns="0" rtlCol="0" anchor="ctr"/>
          <a:lstStyle/>
          <a:p>
            <a:pPr indent="0" marL="0">
              <a:buNone/>
            </a:pPr>
            <a:r>
              <a:rPr lang="en-US" sz="1500" b="1" dirty="0">
                <a:solidFill>
                  <a:srgbClr val="0F2A43"/>
                </a:solidFill>
                <a:latin typeface="Georgia" pitchFamily="34" charset="0"/>
                <a:ea typeface="Georgia" pitchFamily="34" charset="-122"/>
                <a:cs typeface="Georgia" pitchFamily="34" charset="-120"/>
              </a:rPr>
              <a:t>Forecast needs R²</a:t>
            </a:r>
            <a:endParaRPr lang="en-US" sz="1500" dirty="0"/>
          </a:p>
        </p:txBody>
      </p:sp>
      <p:sp>
        <p:nvSpPr>
          <p:cNvPr id="27" name="Text 25"/>
          <p:cNvSpPr/>
          <p:nvPr/>
        </p:nvSpPr>
        <p:spPr>
          <a:xfrm>
            <a:off x="8430768" y="4709160"/>
            <a:ext cx="2843784" cy="8229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Trust threshold forecasts only with R² ≥ 0.5 and ≥ 3 epochs.</a:t>
            </a:r>
            <a:endParaRPr lang="en-US" sz="1250" dirty="0"/>
          </a:p>
        </p:txBody>
      </p:sp>
      <p:sp>
        <p:nvSpPr>
          <p:cNvPr id="28" name="Text 26"/>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4B8A6"/>
          </a:solidFill>
          <a:ln/>
        </p:spPr>
      </p:sp>
      <p:sp>
        <p:nvSpPr>
          <p:cNvPr id="3" name="Text 1"/>
          <p:cNvSpPr/>
          <p:nvPr/>
        </p:nvSpPr>
        <p:spPr>
          <a:xfrm>
            <a:off x="822960" y="731520"/>
            <a:ext cx="7315200" cy="365760"/>
          </a:xfrm>
          <a:prstGeom prst="rect">
            <a:avLst/>
          </a:prstGeom>
          <a:noFill/>
          <a:ln/>
        </p:spPr>
        <p:txBody>
          <a:bodyPr wrap="square" lIns="0" tIns="0" rIns="0" bIns="0" rtlCol="0" anchor="ctr"/>
          <a:lstStyle/>
          <a:p>
            <a:pPr indent="0" marL="0">
              <a:buNone/>
            </a:pPr>
            <a:r>
              <a:rPr lang="en-US" sz="1400" b="1" spc="300" kern="0" dirty="0">
                <a:solidFill>
                  <a:srgbClr val="14B8A6"/>
                </a:solidFill>
                <a:latin typeface="Calibri" pitchFamily="34" charset="0"/>
                <a:ea typeface="Calibri" pitchFamily="34" charset="-122"/>
                <a:cs typeface="Calibri" pitchFamily="34" charset="-120"/>
              </a:rPr>
              <a:t>SUMMARY</a:t>
            </a:r>
            <a:endParaRPr lang="en-US" sz="1400" dirty="0"/>
          </a:p>
        </p:txBody>
      </p:sp>
      <p:sp>
        <p:nvSpPr>
          <p:cNvPr id="4" name="Text 2"/>
          <p:cNvSpPr/>
          <p:nvPr/>
        </p:nvSpPr>
        <p:spPr>
          <a:xfrm>
            <a:off x="822960" y="109728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Step 6 in one sentence</a:t>
            </a:r>
            <a:endParaRPr lang="en-US" sz="3000" dirty="0"/>
          </a:p>
        </p:txBody>
      </p:sp>
      <p:sp>
        <p:nvSpPr>
          <p:cNvPr id="5" name="Text 3"/>
          <p:cNvSpPr/>
          <p:nvPr/>
        </p:nvSpPr>
        <p:spPr>
          <a:xfrm>
            <a:off x="822960" y="1828800"/>
            <a:ext cx="10789920" cy="822960"/>
          </a:xfrm>
          <a:prstGeom prst="rect">
            <a:avLst/>
          </a:prstGeom>
          <a:noFill/>
          <a:ln/>
        </p:spPr>
        <p:txBody>
          <a:bodyPr wrap="square" lIns="0" tIns="0" rIns="0" bIns="0" rtlCol="0" anchor="ctr"/>
          <a:lstStyle/>
          <a:p>
            <a:pPr indent="0" marL="0">
              <a:lnSpc>
                <a:spcPct val="115000"/>
              </a:lnSpc>
              <a:buNone/>
            </a:pPr>
            <a:r>
              <a:rPr lang="en-US" sz="1600" dirty="0">
                <a:solidFill>
                  <a:srgbClr val="CFE8F2"/>
                </a:solidFill>
                <a:latin typeface="Calibri" pitchFamily="34" charset="0"/>
                <a:ea typeface="Calibri" pitchFamily="34" charset="-122"/>
                <a:cs typeface="Calibri" pitchFamily="34" charset="-120"/>
              </a:rPr>
              <a:t>Compare Tn against the T0 baseline to measure surface displacement (M3C2 + LoD), quantify per-section deformation, and flag CAUTION / CRITICAL tied to the local chainage.</a:t>
            </a:r>
            <a:endParaRPr lang="en-US" sz="1600" dirty="0"/>
          </a:p>
        </p:txBody>
      </p:sp>
      <p:sp>
        <p:nvSpPr>
          <p:cNvPr id="6" name="Shape 4"/>
          <p:cNvSpPr/>
          <p:nvPr/>
        </p:nvSpPr>
        <p:spPr>
          <a:xfrm>
            <a:off x="868680" y="3008376"/>
            <a:ext cx="310896" cy="310896"/>
          </a:xfrm>
          <a:prstGeom prst="ellipse">
            <a:avLst/>
          </a:prstGeom>
          <a:solidFill>
            <a:srgbClr val="14B8A6"/>
          </a:solidFill>
          <a:ln/>
        </p:spPr>
      </p:sp>
      <p:sp>
        <p:nvSpPr>
          <p:cNvPr id="7" name="Text 5"/>
          <p:cNvSpPr/>
          <p:nvPr/>
        </p:nvSpPr>
        <p:spPr>
          <a:xfrm>
            <a:off x="868680" y="3008376"/>
            <a:ext cx="310896" cy="310896"/>
          </a:xfrm>
          <a:prstGeom prst="rect">
            <a:avLst/>
          </a:prstGeom>
          <a:noFill/>
          <a:ln/>
        </p:spPr>
        <p:txBody>
          <a:bodyPr wrap="square" lIns="0" tIns="0" rIns="0" bIns="0" rtlCol="0" anchor="ctr"/>
          <a:lstStyle/>
          <a:p>
            <a:pPr algn="ctr" indent="0" marL="0">
              <a:buNone/>
            </a:pPr>
            <a:r>
              <a:rPr lang="en-US" sz="1400" b="1" dirty="0">
                <a:solidFill>
                  <a:srgbClr val="0F2A43"/>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325880" y="2971800"/>
            <a:ext cx="1042416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Denoise + register T0/Tn before running 6.x</a:t>
            </a:r>
            <a:endParaRPr lang="en-US" sz="1500" dirty="0"/>
          </a:p>
        </p:txBody>
      </p:sp>
      <p:sp>
        <p:nvSpPr>
          <p:cNvPr id="9" name="Shape 7"/>
          <p:cNvSpPr/>
          <p:nvPr/>
        </p:nvSpPr>
        <p:spPr>
          <a:xfrm>
            <a:off x="868680" y="3666744"/>
            <a:ext cx="310896" cy="310896"/>
          </a:xfrm>
          <a:prstGeom prst="ellipse">
            <a:avLst/>
          </a:prstGeom>
          <a:solidFill>
            <a:srgbClr val="14B8A6"/>
          </a:solidFill>
          <a:ln/>
        </p:spPr>
      </p:sp>
      <p:sp>
        <p:nvSpPr>
          <p:cNvPr id="10" name="Text 8"/>
          <p:cNvSpPr/>
          <p:nvPr/>
        </p:nvSpPr>
        <p:spPr>
          <a:xfrm>
            <a:off x="868680" y="3666744"/>
            <a:ext cx="310896" cy="310896"/>
          </a:xfrm>
          <a:prstGeom prst="rect">
            <a:avLst/>
          </a:prstGeom>
          <a:noFill/>
          <a:ln/>
        </p:spPr>
        <p:txBody>
          <a:bodyPr wrap="square" lIns="0" tIns="0" rIns="0" bIns="0" rtlCol="0" anchor="ctr"/>
          <a:lstStyle/>
          <a:p>
            <a:pPr algn="ctr" indent="0" marL="0">
              <a:buNone/>
            </a:pPr>
            <a:r>
              <a:rPr lang="en-US" sz="1400" b="1" dirty="0">
                <a:solidFill>
                  <a:srgbClr val="0F2A43"/>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1325880" y="3630168"/>
            <a:ext cx="1042416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6.3 M3C2: trust only points above LoD; check quality_warning</a:t>
            </a:r>
            <a:endParaRPr lang="en-US" sz="1500" dirty="0"/>
          </a:p>
        </p:txBody>
      </p:sp>
      <p:sp>
        <p:nvSpPr>
          <p:cNvPr id="12" name="Shape 10"/>
          <p:cNvSpPr/>
          <p:nvPr/>
        </p:nvSpPr>
        <p:spPr>
          <a:xfrm>
            <a:off x="868680" y="4325112"/>
            <a:ext cx="310896" cy="310896"/>
          </a:xfrm>
          <a:prstGeom prst="ellipse">
            <a:avLst/>
          </a:prstGeom>
          <a:solidFill>
            <a:srgbClr val="14B8A6"/>
          </a:solidFill>
          <a:ln/>
        </p:spPr>
      </p:sp>
      <p:sp>
        <p:nvSpPr>
          <p:cNvPr id="13" name="Text 11"/>
          <p:cNvSpPr/>
          <p:nvPr/>
        </p:nvSpPr>
        <p:spPr>
          <a:xfrm>
            <a:off x="868680" y="4325112"/>
            <a:ext cx="310896" cy="310896"/>
          </a:xfrm>
          <a:prstGeom prst="rect">
            <a:avLst/>
          </a:prstGeom>
          <a:noFill/>
          <a:ln/>
        </p:spPr>
        <p:txBody>
          <a:bodyPr wrap="square" lIns="0" tIns="0" rIns="0" bIns="0" rtlCol="0" anchor="ctr"/>
          <a:lstStyle/>
          <a:p>
            <a:pPr algn="ctr" indent="0" marL="0">
              <a:buNone/>
            </a:pPr>
            <a:r>
              <a:rPr lang="en-US" sz="1400" b="1" dirty="0">
                <a:solidFill>
                  <a:srgbClr val="0F2A43"/>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1325880" y="4288536"/>
            <a:ext cx="1042416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Read displacement with chainage; one classifier across all views</a:t>
            </a:r>
            <a:endParaRPr lang="en-US" sz="1500" dirty="0"/>
          </a:p>
        </p:txBody>
      </p:sp>
      <p:sp>
        <p:nvSpPr>
          <p:cNvPr id="15" name="Shape 13"/>
          <p:cNvSpPr/>
          <p:nvPr/>
        </p:nvSpPr>
        <p:spPr>
          <a:xfrm>
            <a:off x="868680" y="4983480"/>
            <a:ext cx="310896" cy="310896"/>
          </a:xfrm>
          <a:prstGeom prst="ellipse">
            <a:avLst/>
          </a:prstGeom>
          <a:solidFill>
            <a:srgbClr val="14B8A6"/>
          </a:solidFill>
          <a:ln/>
        </p:spPr>
      </p:sp>
      <p:sp>
        <p:nvSpPr>
          <p:cNvPr id="16" name="Text 14"/>
          <p:cNvSpPr/>
          <p:nvPr/>
        </p:nvSpPr>
        <p:spPr>
          <a:xfrm>
            <a:off x="868680" y="4983480"/>
            <a:ext cx="310896" cy="310896"/>
          </a:xfrm>
          <a:prstGeom prst="rect">
            <a:avLst/>
          </a:prstGeom>
          <a:noFill/>
          <a:ln/>
        </p:spPr>
        <p:txBody>
          <a:bodyPr wrap="square" lIns="0" tIns="0" rIns="0" bIns="0" rtlCol="0" anchor="ctr"/>
          <a:lstStyle/>
          <a:p>
            <a:pPr algn="ctr" indent="0" marL="0">
              <a:buNone/>
            </a:pPr>
            <a:r>
              <a:rPr lang="en-US" sz="1400" b="1" dirty="0">
                <a:solidFill>
                  <a:srgbClr val="0F2A43"/>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325880" y="4946904"/>
            <a:ext cx="1042416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Track the local peak (max_abs), not whole-cloud median / percentile</a:t>
            </a:r>
            <a:endParaRPr lang="en-US" sz="1500" dirty="0"/>
          </a:p>
        </p:txBody>
      </p:sp>
      <p:sp>
        <p:nvSpPr>
          <p:cNvPr id="18" name="Shape 16"/>
          <p:cNvSpPr/>
          <p:nvPr/>
        </p:nvSpPr>
        <p:spPr>
          <a:xfrm>
            <a:off x="868680" y="5641848"/>
            <a:ext cx="310896" cy="310896"/>
          </a:xfrm>
          <a:prstGeom prst="ellipse">
            <a:avLst/>
          </a:prstGeom>
          <a:solidFill>
            <a:srgbClr val="14B8A6"/>
          </a:solidFill>
          <a:ln/>
        </p:spPr>
      </p:sp>
      <p:sp>
        <p:nvSpPr>
          <p:cNvPr id="19" name="Text 17"/>
          <p:cNvSpPr/>
          <p:nvPr/>
        </p:nvSpPr>
        <p:spPr>
          <a:xfrm>
            <a:off x="868680" y="5641848"/>
            <a:ext cx="310896" cy="310896"/>
          </a:xfrm>
          <a:prstGeom prst="rect">
            <a:avLst/>
          </a:prstGeom>
          <a:noFill/>
          <a:ln/>
        </p:spPr>
        <p:txBody>
          <a:bodyPr wrap="square" lIns="0" tIns="0" rIns="0" bIns="0" rtlCol="0" anchor="ctr"/>
          <a:lstStyle/>
          <a:p>
            <a:pPr algn="ctr" indent="0" marL="0">
              <a:buNone/>
            </a:pPr>
            <a:r>
              <a:rPr lang="en-US" sz="1400" b="1" dirty="0">
                <a:solidFill>
                  <a:srgbClr val="0F2A43"/>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325880" y="5605272"/>
            <a:ext cx="1042416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Multi-epoch only: trend (6.2) + forecast (6.5) need ≥ 3 epochs &amp; R² ≥ 0.5</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Step 6 — T0 vs Tn Deformation Analysis</dc:title>
  <dc:subject>PptxGenJS Presentation</dc:subject>
  <dc:creator>SSL Tunnel Analysis</dc:creator>
  <cp:lastModifiedBy>SSL Tunnel Analysis</cp:lastModifiedBy>
  <cp:revision>1</cp:revision>
  <dcterms:created xsi:type="dcterms:W3CDTF">2026-06-17T19:15:44Z</dcterms:created>
  <dcterms:modified xsi:type="dcterms:W3CDTF">2026-06-17T19:15:44Z</dcterms:modified>
</cp:coreProperties>
</file>