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400" b="1">
                <a:solidFill>
                  <a:srgbClr val="0F4C81"/>
                </a:solidFill>
              </a:defRPr>
            </a:pPr>
            <a:r>
              <a:t>Tunnel Crown Settlement Validation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>
                <a:solidFill>
                  <a:srgbClr val="334155"/>
                </a:solidFill>
              </a:defRPr>
            </a:pPr>
            <a:r>
              <a:t>Blender ground truth → Regular clean → Raycast TLS → Step 6 accuracy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743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62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Regular MAPE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18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743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862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Raycast MAPE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218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743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862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Measured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218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Ch 52.0m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0060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</a:defRPr>
            </a:pPr>
            <a:r>
              <a:t>Main metric: Crown settlement / Lún đỉnh hầm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32120"/>
            <a:ext cx="9601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Dataset: curved railway tunnel T0–T5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Goal: validate the tool using known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937760" cy="3383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Create one controlled tunnel model in Blender.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Apply known crown settlement from T0 to T5.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Run Step 6 on generated point clouds.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Compare tool output with known ground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4846320" cy="3566160"/>
          </a:xfrm>
          <a:prstGeom prst="roundRect">
            <a:avLst/>
          </a:prstGeom>
          <a:solidFill>
            <a:srgbClr val="FEF2F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73352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Ground truth settlement at Crown / Ch 52.0m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29967"/>
            <a:ext cx="4572000" cy="2999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>
                <a:solidFill>
                  <a:srgbClr val="334155"/>
                </a:solidFill>
              </a:defRPr>
            </a:pPr>
            <a:r>
              <a:t>T0 = 0 mm</a:t>
            </a:r>
            <a:br/>
            <a:r>
              <a:t>T1 = -10 mm</a:t>
            </a:r>
            <a:br/>
            <a:r>
              <a:t>T2 = -22 mm</a:t>
            </a:r>
            <a:br/>
            <a:r>
              <a:t>T3 = -38 mm</a:t>
            </a:r>
            <a:br/>
            <a:r>
              <a:t>T4 = -58 mm</a:t>
            </a:r>
            <a:br/>
            <a:r>
              <a:t>T5 = -80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9875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Because the true deformation is known, the measured tool error can be calculated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Complete workflow: one model, three comparable 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28800" cy="114300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3D Blender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1554480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Curved railway tunnel with real-scale components.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2267712"/>
            <a:ext cx="530352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40" y="1234440"/>
            <a:ext cx="1874519" cy="1005840"/>
          </a:xfrm>
          <a:prstGeom prst="roundRect">
            <a:avLst/>
          </a:prstGeom>
          <a:solidFill>
            <a:srgbClr val="FEF2F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53312"/>
            <a:ext cx="160019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Ground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09928"/>
            <a:ext cx="1600199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Known settlement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743200"/>
            <a:ext cx="1874519" cy="100584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862072"/>
            <a:ext cx="160019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Same crown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18688"/>
            <a:ext cx="1600199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Crown / Ch 52.0m.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74920" y="2267712"/>
            <a:ext cx="530352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1143000"/>
            <a:ext cx="1874519" cy="114300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61872"/>
            <a:ext cx="160019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Regular 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618488"/>
            <a:ext cx="1600199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Direct clean lining export.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2788920"/>
            <a:ext cx="1874519" cy="114300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2907791"/>
            <a:ext cx="160019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Raycast TLS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264408"/>
            <a:ext cx="1600199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Simulated scanner noise and occlusion.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26679" y="2267712"/>
            <a:ext cx="530352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1828800"/>
            <a:ext cx="1600200" cy="114300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947672"/>
            <a:ext cx="1325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304288"/>
            <a:ext cx="1325880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Measure crown settlement.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058400" y="2267712"/>
            <a:ext cx="530352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61320" y="1828800"/>
            <a:ext cx="1097280" cy="114300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1947672"/>
            <a:ext cx="82295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304288"/>
            <a:ext cx="822959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mm</a:t>
            </a:r>
            <a:br/>
            <a: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Error mm = Tool result −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92040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Error % = |Error mm| / |Ground truth| ×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What each dataset proves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00200" y="1554480"/>
          <a:ext cx="8869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04088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proves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Ground truth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Known settlement from Blender; reference for error calculation.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Regular clean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Algorithm accuracy under clean, ideal lining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Raycast TLS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Field-like robustness with scan noise, occlusion and dropout.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4572000"/>
            <a:ext cx="9509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All three versions come from the same Blender model and are measured at the same crown 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509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This separates algorithm error from field-like scan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Measured point: same crown location for every epoch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Crown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9280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Ch 52.0m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41732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3619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Epochs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9280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T0–T5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41732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3619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9280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2D marker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2788920"/>
            <a:ext cx="80010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cti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907792"/>
            <a:ext cx="7726679" cy="2057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5840" y="5596128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50" b="0">
                <a:solidFill>
                  <a:srgbClr val="334155"/>
                </a:solidFill>
              </a:defRPr>
            </a:pPr>
            <a:r>
              <a:t>The marker is visual evidence only; the measurement values remain true and are not changed by display scaling.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Validation criteria: both branches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00200"/>
            <a:ext cx="4389120" cy="237744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19072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Regular clean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75688"/>
            <a:ext cx="4114800" cy="18105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>
                <a:solidFill>
                  <a:srgbClr val="334155"/>
                </a:solidFill>
              </a:defRPr>
            </a:pPr>
            <a:r>
              <a:t>Pass if MAPE &lt; 2%</a:t>
            </a:r>
            <a:br/>
            <a:br/>
            <a:r>
              <a:t>Actual result: 1.15%</a:t>
            </a:r>
            <a:br/>
            <a:br/>
            <a:r>
              <a:t>Status: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600200"/>
            <a:ext cx="4389120" cy="237744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719072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Raycast TLS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75688"/>
            <a:ext cx="4114800" cy="18105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>
                <a:solidFill>
                  <a:srgbClr val="334155"/>
                </a:solidFill>
              </a:defRPr>
            </a:pPr>
            <a:r>
              <a:t>Pass if MAPE &lt; 5%</a:t>
            </a:r>
            <a:br/>
            <a:br/>
            <a:r>
              <a:t>Actual result: 2.315%</a:t>
            </a:r>
            <a:br/>
            <a:br/>
            <a:r>
              <a:t>Status: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Tool passes controlled validation: clean accuracy is high and field-like robustness is acceptable.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9966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50" b="0">
                <a:solidFill>
                  <a:srgbClr val="334155"/>
                </a:solidFill>
              </a:defRPr>
            </a:pPr>
            <a:r>
              <a:t>Raycast error is expected to be higher because it includes scanner noise, occlusion and missing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Accuracy result: tool output vs ground truth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54406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05840"/>
                <a:gridCol w="1051560"/>
                <a:gridCol w="914400"/>
                <a:gridCol w="914400"/>
              </a:tblGrid>
              <a:tr h="555171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Regular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Raycast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Reg err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Ray err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-10.0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-10.243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1.00%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2.43%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-22.0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-21.7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-21.632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1.36%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1.67%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-38.0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-37.6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-37.07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1.05%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2.45%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-58.0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-57.3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-56.607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1.21%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2.40%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-80.0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-77.9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1.13%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2.63%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66560" y="150876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627631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Regular 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98424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50876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627631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Raycast 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98424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063240"/>
            <a:ext cx="4343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t>Regular is more accurate because the surface is clean. Raycast error is higher because it includes field-like scan effects.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572000"/>
            <a:ext cx="43434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Both still follow the same T0→T5 settlement trend, so Step 6 quantifies crown settlement reliably.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T0 is not used in MAPE because its ground truth is 0 mm.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4C81"/>
                </a:solidFill>
              </a:defRPr>
            </a:pPr>
            <a:r>
              <a:t>The workflow validates Step 6 against a known Blender ground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37744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49631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Clean data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85292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37744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49631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Field-like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85292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37744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49631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Measured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85292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Crown / Ch 52m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77639"/>
            <a:ext cx="9052560" cy="1234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Regular clean validates the algorithm under ideal conditions.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Raycast TLS validates robustness under field-like scanning conditions.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Next step: test with real TLS scans and calibrate preprocessing.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10149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Key message: Step 6 measures crown settlement accurately enough for controlled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