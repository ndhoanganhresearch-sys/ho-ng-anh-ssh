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Tunnel Crown Settlement Monitoring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9875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Blender Ground Truth → Raycast TLS → Step 6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3200400" cy="12801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774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0"/>
            <a:ext cx="2871216" cy="6857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curved_real_scale_railway_tunnel_t0t5</a:t>
            </a:r>
            <a:br/>
            <a:r>
              <a:t>T0–T5 railway tunnel settlement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240280"/>
            <a:ext cx="3200400" cy="12801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3774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Measured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743200"/>
            <a:ext cx="2871216" cy="6857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Crown / Đỉnh hầm</a:t>
            </a:r>
            <a:br/>
            <a:r>
              <a:t>Location: Ch 52.0m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240280"/>
            <a:ext cx="3200400" cy="12801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3774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Main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743200"/>
            <a:ext cx="2871216" cy="6857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Regular MAPE 1.15%</a:t>
            </a:r>
            <a:br/>
            <a:r>
              <a:t>Raycast MAPE 2.315%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CBNU Smart Structure Lab · Step 6 Crown-First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Research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1089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Monitor tunnel settlement over time using point-cloud scan epochs.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Measure the same engineering location: Crown / Đỉnh hầm at Ch 52.0m.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Report total settlement, new movement from previous epoch, and status.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Keep the main Step 6 decision metric simple: crown_settlement_mm.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4480560" cy="10972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1513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Decision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965960"/>
            <a:ext cx="4151376" cy="5029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OK / Warning / Danger based on absolute crown settlement.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34640"/>
            <a:ext cx="4480560" cy="1097280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971800"/>
            <a:ext cx="41513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Warning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3337560"/>
            <a:ext cx="4151376" cy="5029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Warning ≥ 10 mm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206240"/>
            <a:ext cx="4480560" cy="109728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4343400"/>
            <a:ext cx="41513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Danger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4709159"/>
            <a:ext cx="4151376" cy="5029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Danger ≥ 25 mm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Overall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Blender tunnel</a:t>
            </a:r>
            <a:br/>
            <a:r>
              <a:t>model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84248" y="2697480"/>
            <a:ext cx="50292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4872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9464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4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Ground truth</a:t>
            </a:r>
            <a:br/>
            <a:r>
              <a:t>T0–T5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86200" y="2697480"/>
            <a:ext cx="50292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06824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Regular clean</a:t>
            </a:r>
            <a:br/>
            <a:r>
              <a:t>dataset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88152" y="2697480"/>
            <a:ext cx="50292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08776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Raycast TLS</a:t>
            </a:r>
            <a:br/>
            <a:r>
              <a:t>field-like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90104" y="2697480"/>
            <a:ext cx="50292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10728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0F4C81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Step 6</a:t>
            </a:r>
            <a:br/>
            <a:r>
              <a:t>analysis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92056" y="2697480"/>
            <a:ext cx="50292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12680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7272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Accuracy</a:t>
            </a:r>
            <a:br/>
            <a:r>
              <a:t>comparison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The same crown location is tracked across all epochs and both data branches.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Blender Ground Truth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57200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Curved railway tunnel generated at real scale.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Known crown settlement is injected by epoch.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Ground truth gives a controlled benchmark for Step 6.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251960"/>
          <a:ext cx="55778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834"/>
                <a:gridCol w="796834"/>
                <a:gridCol w="796834"/>
                <a:gridCol w="796834"/>
                <a:gridCol w="796834"/>
                <a:gridCol w="796834"/>
                <a:gridCol w="796836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Epoch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T0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T4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GT mm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-10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-22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-38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-58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-80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Arc 7"/>
          <p:cNvSpPr/>
          <p:nvPr/>
        </p:nvSpPr>
        <p:spPr>
          <a:xfrm>
            <a:off x="6812280" y="1828800"/>
            <a:ext cx="3474720" cy="2011680"/>
          </a:xfrm>
          <a:prstGeom prst="arc">
            <a:avLst/>
          </a:prstGeom>
          <a:ln w="508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977639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T1</a:t>
            </a:r>
            <a:br/>
            <a:r>
              <a:t>-10.0mm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4050791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T2</a:t>
            </a:r>
            <a:br/>
            <a:r>
              <a:t>-22.0mm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123944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T3</a:t>
            </a:r>
            <a:br/>
            <a:r>
              <a:t>-38.0mm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4197096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T4</a:t>
            </a:r>
            <a:br/>
            <a:r>
              <a:t>-58.0mm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4270248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T5</a:t>
            </a:r>
            <a:br/>
            <a:r>
              <a:t>-80.0mm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074920"/>
            <a:ext cx="4206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Known truth for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Two Test Data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754880" cy="3474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91639"/>
            <a:ext cx="44256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Regular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4425696" cy="2880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Clean lining surface</a:t>
            </a:r>
            <a:br/>
            <a:r>
              <a:t>Low noise and no TLS occlusion</a:t>
            </a:r>
            <a:br/>
            <a:r>
              <a:t>Purpose: ideal algorithm check</a:t>
            </a:r>
            <a:br/>
            <a:r>
              <a:t>Expected: lowest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54480"/>
            <a:ext cx="4754880" cy="34747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1" y="1691639"/>
            <a:ext cx="44256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Raycast field-like TLS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2057400"/>
            <a:ext cx="4425696" cy="2880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Simulated scanning stations</a:t>
            </a:r>
            <a:br/>
            <a:r>
              <a:t>Noise, dropout, and occlusion</a:t>
            </a:r>
            <a:br/>
            <a:r>
              <a:t>Purpose: field readiness check</a:t>
            </a:r>
            <a:br/>
            <a:r>
              <a:t>Expected: higher but acceptable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9875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Regular tests the best-case algorithm; raycast tests practical field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Step 6 Crown-First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Main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6537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crown_settlement_mm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6304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7276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Measured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86537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DC2626"/>
                </a:solidFill>
              </a:defRPr>
            </a:pPr>
            <a:r>
              <a:t>Crown / Đỉnh hầm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7276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6537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6A34A"/>
                </a:solidFill>
              </a:defRPr>
            </a:pPr>
            <a:r>
              <a:t>Ch 52.0m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46304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57276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86537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abs(crown)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108960"/>
            <a:ext cx="9875520" cy="2011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M3C2 and p95 remain supplementary context, not the main settlement result.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Warning starts at 10 mm; Danger starts at 25 mm.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Chart, table, 2D marker, CSV, Excel, and PDF should all point to the same metric.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Step 6 UI Improvements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Measured point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Crown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New move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Ch 52.0m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Crown / Đỉnh hầm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-79.1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-21.8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Danger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2926080"/>
            <a:ext cx="6035040" cy="2194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Measured point markers for T1–T5 on the 2D section.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Checkboxes hide/show marker per epoch; lines remain visible.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Crown visual x10 magnifies display only; measurements stay true.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554480"/>
            <a:ext cx="3383280" cy="35661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1" y="1691639"/>
            <a:ext cx="30540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User-facing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1" y="2057400"/>
            <a:ext cx="3054096" cy="2971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The engineer can answer three questions quickly:</a:t>
            </a:r>
            <a:br/>
            <a:br/>
            <a:r>
              <a:t>1. Where was it measured?</a:t>
            </a:r>
            <a:br/>
            <a:r>
              <a:t>2. How much did it settle?</a:t>
            </a:r>
            <a:br/>
            <a:r>
              <a:t>3. Is it OK, Warning, or Danger?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Accuracy Result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7406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GT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Regular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Raycast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 err %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Ray err %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-10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-9.9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-10.243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2.43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-22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-21.7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-21.632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1.36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1.67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-38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-37.6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-37.07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1.05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2.45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T4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-58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-57.3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-56.607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1.21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2.40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-80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-79.1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-77.9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1.12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2.62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58200" y="141732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52704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Regular MAPE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81965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6A34A"/>
                </a:solidFill>
              </a:defRPr>
            </a:pPr>
            <a:r>
              <a:t>1.15%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74320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85292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Raycast MAPE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14553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2.315%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104241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Raycast is harder because it includes field-like noise and occlusion, but error remains around 2–3%.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Error Trend Visualization</a:t>
            </a:r>
          </a:p>
        </p:txBody>
      </p:sp>
      <p:pic>
        <p:nvPicPr>
          <p:cNvPr id="6" name="Picture 5" descr="step6_error_tren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508760"/>
            <a:ext cx="3017520" cy="1188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645919"/>
            <a:ext cx="268833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2011680"/>
            <a:ext cx="2688336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Regular clean stays close to ~1%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971800"/>
            <a:ext cx="3017520" cy="11887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3108960"/>
            <a:ext cx="268833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Field-like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474720"/>
            <a:ext cx="2688336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Raycast error is higher but stable and acceptable.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434840"/>
            <a:ext cx="3017520" cy="11887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4572000"/>
            <a:ext cx="268833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4937759"/>
            <a:ext cx="2688336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Settlement magnitude follows T0→T5 correctly.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2D Section Visual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7498079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371600" y="2651760"/>
            <a:ext cx="1371600" cy="64008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743200" y="2514600"/>
            <a:ext cx="2011680" cy="13716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54880" y="2514600"/>
            <a:ext cx="1737360" cy="9144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2606040"/>
            <a:ext cx="1371600" cy="73152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371600" y="2816352"/>
            <a:ext cx="1371600" cy="64008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743200" y="2679192"/>
            <a:ext cx="2011680" cy="13716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80" y="2679192"/>
            <a:ext cx="1737360" cy="9144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92240" y="2770632"/>
            <a:ext cx="1371600" cy="73152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700016" y="2615184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2468880"/>
            <a:ext cx="10058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T1: -9.9mm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71600" y="2980944"/>
            <a:ext cx="1371600" cy="640080"/>
          </a:xfrm>
          <a:prstGeom prst="line">
            <a:avLst/>
          </a:prstGeom>
          <a:ln w="25400">
            <a:solidFill>
              <a:srgbClr val="65A3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743200" y="2843784"/>
            <a:ext cx="2011680" cy="137160"/>
          </a:xfrm>
          <a:prstGeom prst="line">
            <a:avLst/>
          </a:prstGeom>
          <a:ln w="25400">
            <a:solidFill>
              <a:srgbClr val="65A3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54880" y="2843784"/>
            <a:ext cx="1737360" cy="91440"/>
          </a:xfrm>
          <a:prstGeom prst="line">
            <a:avLst/>
          </a:prstGeom>
          <a:ln w="25400">
            <a:solidFill>
              <a:srgbClr val="65A3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92240" y="2935224"/>
            <a:ext cx="1371600" cy="731520"/>
          </a:xfrm>
          <a:prstGeom prst="line">
            <a:avLst/>
          </a:prstGeom>
          <a:ln w="25400">
            <a:solidFill>
              <a:srgbClr val="65A3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782312" y="2779776"/>
            <a:ext cx="128016" cy="128016"/>
          </a:xfrm>
          <a:prstGeom prst="ellipse">
            <a:avLst/>
          </a:prstGeom>
          <a:solidFill>
            <a:srgbClr val="65A30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2" y="2633472"/>
            <a:ext cx="10058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T2: -21.7mm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371600" y="3145536"/>
            <a:ext cx="1371600" cy="64008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743200" y="3008376"/>
            <a:ext cx="2011680" cy="13716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54880" y="3008376"/>
            <a:ext cx="1737360" cy="9144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92240" y="3099816"/>
            <a:ext cx="1371600" cy="731519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864608" y="2944368"/>
            <a:ext cx="128016" cy="128016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798064"/>
            <a:ext cx="10058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T3: -37.6mm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371600" y="3310127"/>
            <a:ext cx="1371600" cy="640081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743200" y="3172968"/>
            <a:ext cx="2011680" cy="137159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754880" y="3172968"/>
            <a:ext cx="1737360" cy="9144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92240" y="3264408"/>
            <a:ext cx="1371600" cy="731519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946904" y="3108960"/>
            <a:ext cx="128016" cy="128016"/>
          </a:xfrm>
          <a:prstGeom prst="ellipse">
            <a:avLst/>
          </a:prstGeom>
          <a:solidFill>
            <a:srgbClr val="EF44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38344" y="2962656"/>
            <a:ext cx="10058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T4: -57.3mm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371600" y="3474720"/>
            <a:ext cx="1371600" cy="64008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743200" y="3337560"/>
            <a:ext cx="2011680" cy="13716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80" y="3337560"/>
            <a:ext cx="1737360" cy="9144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92240" y="3429000"/>
            <a:ext cx="1371600" cy="73152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029200" y="3273552"/>
            <a:ext cx="128016" cy="128016"/>
          </a:xfrm>
          <a:prstGeom prst="ellipse">
            <a:avLst/>
          </a:prstGeom>
          <a:solidFill>
            <a:srgbClr val="DC262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3127248"/>
            <a:ext cx="10058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T5: -79.1mm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806440"/>
            <a:ext cx="7132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334155"/>
                </a:solidFill>
              </a:defRPr>
            </a:pPr>
            <a:r>
              <a:t>Measured points are visual markers on the displayed outline; measurements remain true.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1645920"/>
            <a:ext cx="2377440" cy="30175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34272" y="1783080"/>
            <a:ext cx="204825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QA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4272" y="2148840"/>
            <a:ext cx="2048256" cy="2423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Marker must sit on the matching T line.</a:t>
            </a:r>
            <a:br/>
            <a:br/>
            <a:r>
              <a:t>Checkboxes hide markers only, not the section 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Field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577840" cy="3474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Curved tunnel centerline supports non-straight railway tunnel geometry.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Raycast branch simulates multiple TLS stations and field occlusion.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Robust 2D outline reduces visual spikes from rails, pipes, and cables.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Simple Step 6 table is readable for field engineers.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554480"/>
            <a:ext cx="4114800" cy="18288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4031" y="1691639"/>
            <a:ext cx="378561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Practical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1" y="2057400"/>
            <a:ext cx="3785615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For raw field scans, denoise and lining extraction should be performed before official Step 6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749039"/>
            <a:ext cx="4114800" cy="13716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1" y="3886200"/>
            <a:ext cx="378561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What is validated?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1" y="4251959"/>
            <a:ext cx="378561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Crown settlement trend and magnitude are recovered accurately in both clean and raycast conditions.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2704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Regular MAPE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1965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6A34A"/>
                </a:solidFill>
              </a:defRPr>
            </a:pPr>
            <a:r>
              <a:t>1.15%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1732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2704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Raycast MAPE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81965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2.315%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2704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Measured 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1965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Ch 52.0m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71800"/>
            <a:ext cx="987552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The tool measures crown settlement close to known Blender ground truth.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Step 6 now uses one main metric consistently: crown_settlement_mm.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The workflow is ready for additional real TLS scan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9875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0F4C81"/>
                </a:solidFill>
              </a:defRPr>
            </a:pPr>
            <a:r>
              <a:t>Next work: test real field scans and calibrate preprocessing for different tunnel types.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