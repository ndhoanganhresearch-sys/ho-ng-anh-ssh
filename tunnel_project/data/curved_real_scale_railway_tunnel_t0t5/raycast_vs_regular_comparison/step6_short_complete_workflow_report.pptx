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400" b="1">
                <a:solidFill>
                  <a:srgbClr val="0F4C81"/>
                </a:solidFill>
              </a:defRPr>
            </a:pPr>
            <a:r>
              <a:t>Tunnel Crown Settlement Validation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>
                <a:solidFill>
                  <a:srgbClr val="334155"/>
                </a:solidFill>
              </a:defRPr>
            </a:pPr>
            <a:r>
              <a:t>Blender ground truth → Regular clean → Raycast TLS → Step 6 accuracy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7432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620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Regular MAPE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186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1.15%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7432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8620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Raycast MAPE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2186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2.315%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27432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8620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Measured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2186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Ch 52.0m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00600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DC2626"/>
                </a:solidFill>
              </a:defRPr>
            </a:pPr>
            <a:r>
              <a:t>Main metric: Crown settlement / Lún đỉnh hầm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532120"/>
            <a:ext cx="9601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Dataset: curved railway tunnel T0–T5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Goal: validate the tool using known 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937760" cy="33832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Create one controlled tunnel model in Blender.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Apply known crown settlement from T0 to T5.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Run Step 6 on generated point clouds.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Compare tool output with known ground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4846320" cy="3566160"/>
          </a:xfrm>
          <a:prstGeom prst="roundRect">
            <a:avLst/>
          </a:prstGeom>
          <a:solidFill>
            <a:srgbClr val="FEF2F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73352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Ground truth settlement at Crown / Ch 52.0m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29967"/>
            <a:ext cx="4572000" cy="2999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>
                <a:solidFill>
                  <a:srgbClr val="334155"/>
                </a:solidFill>
              </a:defRPr>
            </a:pPr>
            <a:r>
              <a:t>T0 = 0 mm</a:t>
            </a:r>
            <a:br/>
            <a:r>
              <a:t>T1 = -10 mm</a:t>
            </a:r>
            <a:br/>
            <a:r>
              <a:t>T2 = -22 mm</a:t>
            </a:r>
            <a:br/>
            <a:r>
              <a:t>T3 = -38 mm</a:t>
            </a:r>
            <a:br/>
            <a:r>
              <a:t>T4 = -58 mm</a:t>
            </a:r>
            <a:br/>
            <a:r>
              <a:t>T5 = -80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9875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Because the true deformation is known, the measured tool error can be calculated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Complete workflow: one model, three comparable versions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828800" cy="114300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3D Blender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1554480" cy="5760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Curved railway tunnel with real-scale components.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2267712"/>
            <a:ext cx="530352" cy="292608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63240" y="1234440"/>
            <a:ext cx="1874519" cy="1005840"/>
          </a:xfrm>
          <a:prstGeom prst="roundRect">
            <a:avLst/>
          </a:prstGeom>
          <a:solidFill>
            <a:srgbClr val="FEF2F2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53312"/>
            <a:ext cx="160019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Ground 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09928"/>
            <a:ext cx="1600199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Known settlement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743200"/>
            <a:ext cx="1874519" cy="100584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862072"/>
            <a:ext cx="160019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Same crown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18688"/>
            <a:ext cx="1600199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Crown / Ch 52.0m.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74920" y="2267712"/>
            <a:ext cx="530352" cy="292608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0" y="1143000"/>
            <a:ext cx="1874519" cy="114300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61872"/>
            <a:ext cx="160019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Regular 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618488"/>
            <a:ext cx="1600199" cy="5760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Direct clean lining export.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2788920"/>
            <a:ext cx="1874519" cy="1143000"/>
          </a:xfrm>
          <a:prstGeom prst="roundRect">
            <a:avLst/>
          </a:prstGeom>
          <a:solidFill>
            <a:srgbClr val="FFF7ED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2907791"/>
            <a:ext cx="160019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Raycast TLS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264408"/>
            <a:ext cx="1600199" cy="5760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Simulated scanner noise and occlusion.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26679" y="2267712"/>
            <a:ext cx="530352" cy="292608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1828800"/>
            <a:ext cx="1600200" cy="1143000"/>
          </a:xfrm>
          <a:prstGeom prst="roundRect">
            <a:avLst/>
          </a:prstGeom>
          <a:solidFill>
            <a:srgbClr val="F0FDF4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947672"/>
            <a:ext cx="13258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304288"/>
            <a:ext cx="1325880" cy="5760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Measure crown settlement.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058400" y="2267712"/>
            <a:ext cx="530352" cy="292608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561320" y="1828800"/>
            <a:ext cx="1097280" cy="114300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1947672"/>
            <a:ext cx="82295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304288"/>
            <a:ext cx="822959" cy="5760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</a:defRPr>
            </a:pPr>
            <a:r>
              <a:t>mm</a:t>
            </a:r>
            <a:br/>
            <a:r>
              <a:t>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Error mm = Tool result −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92040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Error % = |Error mm| / |Ground truth| ×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Why two generated datasets are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4800600" cy="3291840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627631"/>
            <a:ext cx="4526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Regular clean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1984248"/>
            <a:ext cx="4526280" cy="2724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334155"/>
                </a:solidFill>
              </a:defRPr>
            </a:pPr>
            <a:r>
              <a:t>Purpose: test the algorithm in ideal conditions.</a:t>
            </a:r>
            <a:br/>
            <a:br/>
            <a:r>
              <a:t>Data: clean lining surface, minimal noise, no scanner occlusion.</a:t>
            </a:r>
            <a:br/>
            <a:br/>
            <a:r>
              <a:t>Meaning: if this is wrong, the core measurement logic has a problem.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08760"/>
            <a:ext cx="4800600" cy="3291840"/>
          </a:xfrm>
          <a:prstGeom prst="roundRect">
            <a:avLst/>
          </a:prstGeom>
          <a:solidFill>
            <a:srgbClr val="FFF7ED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27631"/>
            <a:ext cx="4526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Raycast field-like TLS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84248"/>
            <a:ext cx="4526280" cy="2724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0">
                <a:solidFill>
                  <a:srgbClr val="334155"/>
                </a:solidFill>
              </a:defRPr>
            </a:pPr>
            <a:r>
              <a:t>Purpose: test practical robustness.</a:t>
            </a:r>
            <a:br/>
            <a:br/>
            <a:r>
              <a:t>Data: simulated laser scan with station positions, noise, dropout and occlusion.</a:t>
            </a:r>
            <a:br/>
            <a:br/>
            <a:r>
              <a:t>Meaning: this better represents real field scanning.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20"/>
            <a:ext cx="101498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Both branches are compared against the same Blender ground truth.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Step 6 measurement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7190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Main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20756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Crown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002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7190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756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Ch 52.0m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002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190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Epochs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756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T0–T5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6002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7190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0756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OK/Warn/Danger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46120"/>
            <a:ext cx="9875520" cy="16459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Crown settlement = total settlement compared with T0.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New crown move = additional settlement compared with previous epoch.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M3C2/p95 are supplementary checks, not the final crown settlement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0F4C81"/>
                </a:solidFill>
              </a:defRPr>
            </a:pPr>
            <a:r>
              <a:t>This keeps the UI, table, export and validation focused on one clear measurement.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Accuracy result: tool output vs ground truth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54406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914400"/>
                <a:gridCol w="1005840"/>
                <a:gridCol w="1051560"/>
                <a:gridCol w="914400"/>
                <a:gridCol w="914400"/>
              </a:tblGrid>
              <a:tr h="555171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GT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Regular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Raycast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Reg err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Ray err</a:t>
                      </a:r>
                    </a:p>
                  </a:txBody>
                  <a:tcPr marL="27432" marR="27432">
                    <a:solidFill>
                      <a:srgbClr val="0F4C81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-10.0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-9.9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-10.243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1.00%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2.43%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-22.0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-21.7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-21.632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1.36%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1.67%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-38.0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-37.6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-37.07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1.05%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2.45%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-58.0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-57.3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-56.607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1.21%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2.40%</a:t>
                      </a:r>
                    </a:p>
                  </a:txBody>
                  <a:tcPr marL="27432" marR="27432">
                    <a:solidFill>
                      <a:srgbClr val="F8FAFC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-80.0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-79.1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-77.9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1.13%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2.63%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66560" y="150876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627631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Regular MAPE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98424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1.15%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50876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627631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Raycast MAPE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98424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2.315%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063240"/>
            <a:ext cx="4343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t>Regular is more accurate because the surface is clean. Raycast error is higher because it includes field-like scan effects.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572000"/>
            <a:ext cx="43434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Both still follow the same T0→T5 settlement trend, so Step 6 quantifies crown settlement reliably.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</a:defRPr>
            </a:pPr>
            <a:r>
              <a:t>T0 is not used in MAPE because its ground truth is 0 mm.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4C81"/>
                </a:solidFill>
              </a:defRPr>
            </a:pPr>
            <a:r>
              <a:t>The workflow validates Step 6 against a known Blender ground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5146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19" y="26334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Clean data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9900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1.15%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5146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6334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Field-like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900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2.315%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514600"/>
            <a:ext cx="2331720" cy="1051560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633472"/>
            <a:ext cx="2057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Measured 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990088"/>
            <a:ext cx="2057400" cy="4846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</a:defRPr>
            </a:pPr>
            <a:r>
              <a:t>Crown / Ch 52m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60520"/>
            <a:ext cx="9052560" cy="1051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Regular clean validates the algorithm under ideal conditions.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Raycast TLS validates robustness under field-like scanning conditions.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Next step: test with real TLS scans and calibrate preprocessing.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06440"/>
            <a:ext cx="10149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Key message: Step 6 measures crown settlement accurately enough for controlled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