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400" b="1">
                <a:solidFill>
                  <a:srgbClr val="0F172A"/>
                </a:solidFill>
              </a:defRPr>
            </a:pPr>
            <a:r>
              <a:t>Tunnel Crown Settlement Monitoring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17320"/>
            <a:ext cx="9875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Blender Ground Truth → Raycast TLS → Step 6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3200400" cy="12801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774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0"/>
            <a:ext cx="2871216" cy="685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curved_real_scale_railway_tunnel_t0t5</a:t>
            </a:r>
            <a:br/>
            <a:r>
              <a:t>T0–T5 railway tunnel settlement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240280"/>
            <a:ext cx="3200400" cy="128016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3774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Measured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743200"/>
            <a:ext cx="2871216" cy="685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Crown / Đỉnh hầm</a:t>
            </a:r>
            <a:br/>
            <a:r>
              <a:t>Location: Ch 52.0m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40280"/>
            <a:ext cx="3200400" cy="128016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2377440"/>
            <a:ext cx="287121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Main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743200"/>
            <a:ext cx="2871216" cy="685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Regular MAPE 1.15%</a:t>
            </a:r>
            <a:br/>
            <a:r>
              <a:t>Raycast MAPE 2.315%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CBNU Smart Structure Lab · Step 6 Crown-First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794760"/>
            <a:ext cx="4434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unnel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3886200"/>
            <a:ext cx="4187952" cy="15727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39712" y="5504688"/>
            <a:ext cx="418795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F4C81"/>
                </a:solidFill>
              </a:defRPr>
            </a:pPr>
            <a:r>
              <a:t>Representative railway tunnel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Research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31089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Monitor tunnel settlement over time using point-cloud scan epochs.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Measure the same engineering location: Crown / Đỉnh hầm at Ch 52.0m.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Report total settlement, new movement from previous epoch, and status.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Keep the main Step 6 decision metric simple: crown_settlement_mm.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4480560" cy="10972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600200"/>
            <a:ext cx="41513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Decision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965960"/>
            <a:ext cx="4151376" cy="5029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OK / Warning / Danger based on absolute crown settlement.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34640"/>
            <a:ext cx="4480560" cy="1097280"/>
          </a:xfrm>
          <a:prstGeom prst="roundRect">
            <a:avLst/>
          </a:prstGeom>
          <a:solidFill>
            <a:srgbClr val="FEF9C3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971800"/>
            <a:ext cx="41513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Warning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3337560"/>
            <a:ext cx="4151376" cy="5029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Warning ≥ 10 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206240"/>
            <a:ext cx="4480560" cy="1097280"/>
          </a:xfrm>
          <a:prstGeom prst="roundRect">
            <a:avLst/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4343400"/>
            <a:ext cx="41513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Danger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4709159"/>
            <a:ext cx="4151376" cy="5029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Danger ≥ 25 mm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Overall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Blender tunnel</a:t>
            </a:r>
            <a:br/>
            <a:r>
              <a:t>model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84248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04872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9464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Ground truth</a:t>
            </a:r>
            <a:br/>
            <a:r>
              <a:t>T0–T5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86200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06824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Regular clean</a:t>
            </a:r>
            <a:br/>
            <a:r>
              <a:t>dataset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88152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08776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Raycast TLS</a:t>
            </a:r>
            <a:br/>
            <a:r>
              <a:t>field-like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690104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10728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0F4C81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Step 6</a:t>
            </a:r>
            <a:br/>
            <a:r>
              <a:t>analysis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592056" y="2697480"/>
            <a:ext cx="502920" cy="320040"/>
          </a:xfrm>
          <a:prstGeom prst="rightArrow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12680" y="2331720"/>
            <a:ext cx="1508760" cy="1143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2468879"/>
            <a:ext cx="117957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334155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7272" y="2834639"/>
            <a:ext cx="1179576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Accuracy</a:t>
            </a:r>
            <a:br/>
            <a:r>
              <a:t>comparison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The same crown location is tracked across all epochs and both data branches.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983480"/>
            <a:ext cx="43891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tunnel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5047488"/>
            <a:ext cx="4206240" cy="8412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977639" y="5879592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F4C81"/>
                </a:solidFill>
              </a:defRPr>
            </a:pPr>
            <a:r>
              <a:t>Workflow targets field-like tunnel scanning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Blender Ground Truth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4572000" cy="25603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Curved railway tunnel generated at real scale.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Known crown settlement is injected by epoch.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Ground truth gives a controlled benchmark for Step 6.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251960"/>
          <a:ext cx="55778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6834"/>
                <a:gridCol w="796834"/>
                <a:gridCol w="796834"/>
                <a:gridCol w="796834"/>
                <a:gridCol w="796834"/>
                <a:gridCol w="796834"/>
                <a:gridCol w="796836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Epoch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T0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GT mm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-10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-22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-38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-58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-80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Arc 7"/>
          <p:cNvSpPr/>
          <p:nvPr/>
        </p:nvSpPr>
        <p:spPr>
          <a:xfrm>
            <a:off x="6812280" y="1828800"/>
            <a:ext cx="3474720" cy="2011680"/>
          </a:xfrm>
          <a:prstGeom prst="arc">
            <a:avLst/>
          </a:prstGeom>
          <a:ln w="508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977639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T1</a:t>
            </a:r>
            <a:br/>
            <a:r>
              <a:t>-10.0mm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4050791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T2</a:t>
            </a:r>
            <a:br/>
            <a:r>
              <a:t>-22.0mm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123944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T3</a:t>
            </a:r>
            <a:br/>
            <a:r>
              <a:t>-38.0mm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4197096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T4</a:t>
            </a:r>
            <a:br/>
            <a:r>
              <a:t>-58.0mm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4270248"/>
            <a:ext cx="822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T5</a:t>
            </a:r>
            <a:br/>
            <a:r>
              <a:t>-80.0mm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074920"/>
            <a:ext cx="4206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</a:defRPr>
            </a:pPr>
            <a:r>
              <a:t>Known truth for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417320"/>
            <a:ext cx="48920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round_truth_explained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572768"/>
            <a:ext cx="4526280" cy="35844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65392" y="5230368"/>
            <a:ext cx="45262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DC2626"/>
                </a:solidFill>
              </a:defRPr>
            </a:pPr>
            <a:r>
              <a:t>Ground-truth settlement explanation used for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Two Test Data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754880" cy="3474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91639"/>
            <a:ext cx="44256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Regular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057400"/>
            <a:ext cx="4425696" cy="2880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Clean lining surface</a:t>
            </a:r>
            <a:br/>
            <a:r>
              <a:t>Low noise and no TLS occlusion</a:t>
            </a:r>
            <a:br/>
            <a:r>
              <a:t>Purpose: ideal algorithm check</a:t>
            </a:r>
            <a:br/>
            <a:r>
              <a:t>Expected: lowest 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4754880" cy="3474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56831" y="1691639"/>
            <a:ext cx="44256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Raycast field-like TLS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1" y="2057400"/>
            <a:ext cx="4425696" cy="2880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Simulated scanning stations</a:t>
            </a:r>
            <a:br/>
            <a:r>
              <a:t>Noise, dropout, and occlusion</a:t>
            </a:r>
            <a:br/>
            <a:r>
              <a:t>Purpose: field readiness check</a:t>
            </a:r>
            <a:br/>
            <a:r>
              <a:t>Expected: higher but acceptable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9875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Regular tests the best-case algorithm; raycast tests practical field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Step 6 Crown-First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7276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Main metric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6537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crown_settlement_mm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6304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7276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Measured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6537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DC2626"/>
                </a:solidFill>
              </a:defRPr>
            </a:pPr>
            <a:r>
              <a:t>Crown / Đỉnh hầm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7276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6537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Ch 52.0m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46304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57276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86537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abs(crown)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108960"/>
            <a:ext cx="9875520" cy="201168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M3C2 and p95 remain supplementary context, not the main settlement result.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Warning starts at 10 mm; Danger starts at 25 mm.</a:t>
            </a:r>
          </a:p>
          <a:p>
            <a:pPr>
              <a:spcAft>
                <a:spcPts val="800"/>
              </a:spcAft>
              <a:defRPr sz="1700">
                <a:solidFill>
                  <a:srgbClr val="334155"/>
                </a:solidFill>
              </a:defRPr>
            </a:pPr>
            <a:r>
              <a:t>Chart, table, 2D marker, CSV, Excel, and PDF should all point to the same metric.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709160"/>
            <a:ext cx="102412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ection_parameter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4800600"/>
            <a:ext cx="9966960" cy="9601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1560" y="5779008"/>
            <a:ext cx="9966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F4C81"/>
                </a:solidFill>
              </a:defRPr>
            </a:pPr>
            <a:r>
              <a:t>Section parameters are available, but Step 6 conclusion remains crown-first.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Step 6 UI Improvements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544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Location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Measured point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Crown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New move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Ch 52.0m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Crown / Đỉnh hầm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-79.1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-21.8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Danger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2926080"/>
            <a:ext cx="6035040" cy="219456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Measured point markers for T1–T5 on the 2D section.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Checkboxes hide/show marker per epoch; lines remain visible.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Crown visual x10 magnifies display only; measurements stay true.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554480"/>
            <a:ext cx="3383280" cy="35661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1" y="1691639"/>
            <a:ext cx="305409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User-facing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28431" y="2057400"/>
            <a:ext cx="3054096" cy="2971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The engineer can answer three questions quickly:</a:t>
            </a:r>
            <a:br/>
            <a:br/>
            <a:r>
              <a:t>1. Where was it measured?</a:t>
            </a:r>
            <a:br/>
            <a:r>
              <a:t>2. How much did it settle?</a:t>
            </a:r>
            <a:br/>
            <a:r>
              <a:t>3. Is it OK, Warning, or Danger?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4709160"/>
            <a:ext cx="3474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ectio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4773168"/>
            <a:ext cx="3291840" cy="9326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09560" y="5715000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16A34A"/>
                </a:solidFill>
              </a:defRPr>
            </a:pPr>
            <a:r>
              <a:t>2D section view: marker/outline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Accuracy Result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7406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Time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GT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Regular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Raycast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 err %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Ray err %</a:t>
                      </a:r>
                    </a:p>
                  </a:txBody>
                  <a:tcPr marL="36576" marR="36576" anchor="ctr">
                    <a:solidFill>
                      <a:srgbClr val="0F4C81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-10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-9.9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-10.243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2.43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T2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-22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-21.7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-21.632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1.36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1.67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T3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-38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-37.6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-37.07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1.05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2.45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T4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-58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-57.3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-56.607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1.21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2.40</a:t>
                      </a:r>
                    </a:p>
                  </a:txBody>
                  <a:tcPr marL="36576" marR="36576" anchor="ctr">
                    <a:solidFill>
                      <a:srgbClr val="F8FAFC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T5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-80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-79.1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-77.9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1.12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0F172A"/>
                          </a:solidFill>
                        </a:defRPr>
                      </a:pPr>
                      <a:r>
                        <a:t>2.62</a:t>
                      </a:r>
                    </a:p>
                  </a:txBody>
                  <a:tcPr marL="36576" marR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58200" y="141732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52704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Regular MAPE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81965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1.15%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85292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Raycast MAPE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4553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2.315%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4241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Raycast is harder because it includes field-like noise and occlusion, but error remains around 2–3%.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Error Trend Visualization</a:t>
            </a:r>
          </a:p>
        </p:txBody>
      </p:sp>
      <p:pic>
        <p:nvPicPr>
          <p:cNvPr id="6" name="Picture 5" descr="step6_error_tren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6949440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508760"/>
            <a:ext cx="3017520" cy="11887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645919"/>
            <a:ext cx="26883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2011680"/>
            <a:ext cx="2688336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Regular clean stays close to ~1%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971800"/>
            <a:ext cx="3017520" cy="11887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3108960"/>
            <a:ext cx="26883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Field-like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3474720"/>
            <a:ext cx="2688336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Raycast error is higher but stable and acceptable.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434840"/>
            <a:ext cx="3017520" cy="11887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4572000"/>
            <a:ext cx="268833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4937759"/>
            <a:ext cx="2688336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Settlement magnitude follows T0→T5 correctly.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2D Section Visual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7498079" cy="42976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371600" y="2651760"/>
            <a:ext cx="1371600" cy="64008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743200" y="2514600"/>
            <a:ext cx="2011680" cy="1371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54880" y="2514600"/>
            <a:ext cx="1737360" cy="9144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2606040"/>
            <a:ext cx="1371600" cy="73152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371600" y="2816352"/>
            <a:ext cx="1371600" cy="64008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743200" y="2679192"/>
            <a:ext cx="2011680" cy="13716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2679192"/>
            <a:ext cx="1737360" cy="9144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92240" y="2770632"/>
            <a:ext cx="1371600" cy="73152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700016" y="2615184"/>
            <a:ext cx="128016" cy="128016"/>
          </a:xfrm>
          <a:prstGeom prst="ellipse">
            <a:avLst/>
          </a:prstGeom>
          <a:solidFill>
            <a:srgbClr val="10B98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2468880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T1: -9.9mm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371600" y="2980944"/>
            <a:ext cx="1371600" cy="640080"/>
          </a:xfrm>
          <a:prstGeom prst="line">
            <a:avLst/>
          </a:prstGeom>
          <a:ln w="25400">
            <a:solidFill>
              <a:srgbClr val="65A3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743200" y="2843784"/>
            <a:ext cx="2011680" cy="137160"/>
          </a:xfrm>
          <a:prstGeom prst="line">
            <a:avLst/>
          </a:prstGeom>
          <a:ln w="25400">
            <a:solidFill>
              <a:srgbClr val="65A3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754880" y="2843784"/>
            <a:ext cx="1737360" cy="91440"/>
          </a:xfrm>
          <a:prstGeom prst="line">
            <a:avLst/>
          </a:prstGeom>
          <a:ln w="25400">
            <a:solidFill>
              <a:srgbClr val="65A3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92240" y="2935224"/>
            <a:ext cx="1371600" cy="731520"/>
          </a:xfrm>
          <a:prstGeom prst="line">
            <a:avLst/>
          </a:prstGeom>
          <a:ln w="25400">
            <a:solidFill>
              <a:srgbClr val="65A30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782312" y="2779776"/>
            <a:ext cx="128016" cy="128016"/>
          </a:xfrm>
          <a:prstGeom prst="ellipse">
            <a:avLst/>
          </a:prstGeom>
          <a:solidFill>
            <a:srgbClr val="65A30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73752" y="2633472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T2: -21.7mm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371600" y="3145536"/>
            <a:ext cx="1371600" cy="64008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743200" y="3008376"/>
            <a:ext cx="2011680" cy="13716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54880" y="3008376"/>
            <a:ext cx="1737360" cy="9144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92240" y="3099816"/>
            <a:ext cx="1371600" cy="731519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4864608" y="2944368"/>
            <a:ext cx="128016" cy="128016"/>
          </a:xfrm>
          <a:prstGeom prst="ellipse">
            <a:avLst/>
          </a:prstGeom>
          <a:solidFill>
            <a:srgbClr val="F59E0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798064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T3: -37.6mm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1371600" y="3310127"/>
            <a:ext cx="1371600" cy="640081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743200" y="3172968"/>
            <a:ext cx="2011680" cy="137159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754880" y="3172968"/>
            <a:ext cx="1737360" cy="9144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92240" y="3264408"/>
            <a:ext cx="1371600" cy="731519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4946904" y="3108960"/>
            <a:ext cx="128016" cy="128016"/>
          </a:xfrm>
          <a:prstGeom prst="ellipse">
            <a:avLst/>
          </a:prstGeom>
          <a:solidFill>
            <a:srgbClr val="EF44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38344" y="2962656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T4: -57.3mm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1371600" y="3474720"/>
            <a:ext cx="1371600" cy="64008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743200" y="3337560"/>
            <a:ext cx="2011680" cy="13716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54880" y="3337560"/>
            <a:ext cx="1737360" cy="9144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92240" y="3429000"/>
            <a:ext cx="1371600" cy="731520"/>
          </a:xfrm>
          <a:prstGeom prst="line">
            <a:avLst/>
          </a:prstGeom>
          <a:ln w="2540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029200" y="3273552"/>
            <a:ext cx="128016" cy="128016"/>
          </a:xfrm>
          <a:prstGeom prst="ellipse">
            <a:avLst/>
          </a:prstGeom>
          <a:solidFill>
            <a:srgbClr val="DC262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3127248"/>
            <a:ext cx="10058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800" b="1">
                <a:solidFill>
                  <a:srgbClr val="DC2626"/>
                </a:solidFill>
              </a:defRPr>
            </a:pPr>
            <a:r>
              <a:t>T5: -79.1mm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7132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334155"/>
                </a:solidFill>
              </a:defRPr>
            </a:pPr>
            <a:r>
              <a:t>Measured points are visual markers on the displayed outline; measurements remain true.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69680" y="1645920"/>
            <a:ext cx="2377440" cy="30175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34272" y="1783080"/>
            <a:ext cx="2048256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DC2626"/>
                </a:solidFill>
              </a:defRPr>
            </a:pPr>
            <a:r>
              <a:t>QA rule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2148840"/>
            <a:ext cx="2048256" cy="2423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Marker must sit on the matching T line.</a:t>
            </a:r>
            <a:br/>
            <a:br/>
            <a:r>
              <a:t>Checkboxes hide markers only, not the section lines.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1234440"/>
            <a:ext cx="7955279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ectio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353312"/>
            <a:ext cx="7680960" cy="43525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60120" y="5742432"/>
            <a:ext cx="7680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DC2626"/>
                </a:solidFill>
              </a:defRPr>
            </a:pPr>
            <a:r>
              <a:t>Actual 2D section evidence: measured marker should sit on the displayed outline.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Field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577840" cy="34747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Curved tunnel centerline supports non-straight railway tunnel geometry.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Raycast branch simulates multiple TLS stations and field occlusion.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Robust 2D outline reduces visual spikes from rails, pipes, and cables.</a:t>
            </a:r>
          </a:p>
          <a:p>
            <a:pPr>
              <a:spcAft>
                <a:spcPts val="800"/>
              </a:spcAft>
              <a:defRPr sz="1600">
                <a:solidFill>
                  <a:srgbClr val="334155"/>
                </a:solidFill>
              </a:defRPr>
            </a:pPr>
            <a:r>
              <a:t>Simple Step 6 table is readable for field engineers.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554480"/>
            <a:ext cx="4114800" cy="182880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4031" y="1691639"/>
            <a:ext cx="378561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Practical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1" y="2057400"/>
            <a:ext cx="3785615" cy="1234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For raw field scans, denoise and lining extraction should be performed before official Step 6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749039"/>
            <a:ext cx="4114800" cy="13716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4031" y="3886200"/>
            <a:ext cx="378561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What is validated?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1" y="4251959"/>
            <a:ext cx="3785615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200" b="0">
                <a:solidFill>
                  <a:srgbClr val="334155"/>
                </a:solidFill>
              </a:defRPr>
            </a:pPr>
            <a:r>
              <a:t>Crown settlement trend and magnitude are recovered accurately in both clean and raycast conditions.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983480"/>
            <a:ext cx="43434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unnel_tr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5047488"/>
            <a:ext cx="4160520" cy="960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903720" y="6035040"/>
            <a:ext cx="4160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F59E0B"/>
                </a:solidFill>
              </a:defRPr>
            </a:pPr>
            <a:r>
              <a:t>Field readiness target: railway tunnel TLS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STEP 6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2704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Regular MAPE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1965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16A34A"/>
                </a:solidFill>
              </a:defRPr>
            </a:pPr>
            <a:r>
              <a:t>1.15%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1732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52704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Raycast MAPE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81965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2.315%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28600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27048"/>
            <a:ext cx="201168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 b="1">
                <a:solidFill>
                  <a:srgbClr val="334155"/>
                </a:solidFill>
              </a:defRPr>
            </a:pPr>
            <a:r>
              <a:t>Measured 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19656"/>
            <a:ext cx="2011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400" b="1">
                <a:solidFill>
                  <a:srgbClr val="2563EB"/>
                </a:solidFill>
              </a:defRPr>
            </a:pPr>
            <a:r>
              <a:t>Ch 52.0m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71800"/>
            <a:ext cx="9875520" cy="21031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The tool measures crown settlement close to known Blender ground truth.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Step 6 now uses one main metric consistently: crown_settlement_mm.</a:t>
            </a:r>
          </a:p>
          <a:p>
            <a:pPr>
              <a:spcAft>
                <a:spcPts val="800"/>
              </a:spcAft>
              <a:defRPr sz="1800">
                <a:solidFill>
                  <a:srgbClr val="334155"/>
                </a:solidFill>
              </a:defRPr>
            </a:pPr>
            <a:r>
              <a:t>The workflow is ready for additional real TLS scan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15000"/>
            <a:ext cx="98755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600" b="1">
                <a:solidFill>
                  <a:srgbClr val="0F4C81"/>
                </a:solidFill>
              </a:defRPr>
            </a:pPr>
            <a:r>
              <a:t>Next work: test real field scans and calibrate preprocessing for different tunnel types.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4983480"/>
            <a:ext cx="23317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unnel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5047488"/>
            <a:ext cx="2148840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