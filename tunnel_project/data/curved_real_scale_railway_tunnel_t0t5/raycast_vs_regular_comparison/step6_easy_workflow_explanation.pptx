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813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200" b="1">
                <a:solidFill>
                  <a:srgbClr val="0F4C81"/>
                </a:solidFill>
              </a:defRPr>
            </a:pPr>
            <a:r>
              <a:t>Easy Workflow to Validate Tunnel Settlement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0"/>
            <a:ext cx="996696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0">
                <a:solidFill>
                  <a:srgbClr val="334155"/>
                </a:solidFill>
              </a:defRPr>
            </a:pPr>
            <a:r>
              <a:t>From Blender 3D model to ground truth, raycast data, regular data, and tool error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43200"/>
            <a:ext cx="2331720" cy="1005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871216"/>
            <a:ext cx="203911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Main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273552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0">
                <a:solidFill>
                  <a:srgbClr val="334155"/>
                </a:solidFill>
              </a:defRPr>
            </a:pPr>
            <a:r>
              <a:t>Crown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743200"/>
            <a:ext cx="2331720" cy="1005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3904" y="2871216"/>
            <a:ext cx="203911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3273552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0">
                <a:solidFill>
                  <a:srgbClr val="334155"/>
                </a:solidFill>
              </a:defRPr>
            </a:pPr>
            <a:r>
              <a:t>Ch 52.0m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2331720" cy="1005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2871216"/>
            <a:ext cx="203911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Regular MAPE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273552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0">
                <a:solidFill>
                  <a:srgbClr val="334155"/>
                </a:solidFill>
              </a:defRPr>
            </a:pPr>
            <a:r>
              <a:t>1.15%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743200"/>
            <a:ext cx="2331720" cy="1005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7424" y="2871216"/>
            <a:ext cx="203911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Raycast MAPE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3273552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0">
                <a:solidFill>
                  <a:srgbClr val="334155"/>
                </a:solidFill>
              </a:defRPr>
            </a:pPr>
            <a:r>
              <a:t>2.315%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00600"/>
            <a:ext cx="9966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</a:defRPr>
            </a:pPr>
            <a:r>
              <a:t>Goal: prove how much Step 6 differs from known ground truth.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Step 1 — Create the 3D tunnel model in Blender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5029200" cy="329184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728216"/>
            <a:ext cx="473659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Input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4700016" cy="2670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334155"/>
                </a:solidFill>
              </a:defRPr>
            </a:pPr>
            <a:r>
              <a:t>A curved railway tunnel is built at real scale.</a:t>
            </a:r>
            <a:br/>
            <a:br/>
            <a:r>
              <a:t>It includes lining, rail, walkway, pipes, cables, lights and equipment.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4663440" cy="329184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728216"/>
            <a:ext cx="4370831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130552"/>
            <a:ext cx="4334255" cy="2670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334155"/>
                </a:solidFill>
              </a:defRPr>
            </a:pPr>
            <a:r>
              <a:t>The Blender model is controlled by us.</a:t>
            </a:r>
            <a:br/>
            <a:br/>
            <a:r>
              <a:t>That means we know exactly what deformation is applied later.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32120"/>
            <a:ext cx="101498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F4C81"/>
                </a:solidFill>
              </a:defRPr>
            </a:pPr>
            <a:r>
              <a:t>Simple meaning: Blender is the source model used to generate all test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Step 2 — Create ground truth settlement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4155"/>
                </a:solidFill>
              </a:defRPr>
            </a:pPr>
            <a:r>
              <a:t>Use the same tunnel for T0, T1, T2, T3, T4, T5.</a:t>
            </a:r>
          </a:p>
          <a:p>
            <a:pPr>
              <a:spcAft>
                <a:spcPts val="900"/>
              </a:spcAft>
              <a:defRPr sz="1800">
                <a:solidFill>
                  <a:srgbClr val="334155"/>
                </a:solidFill>
              </a:defRPr>
            </a:pPr>
            <a:r>
              <a:t>Apply known settlement at the crown.</a:t>
            </a:r>
          </a:p>
          <a:p>
            <a:pPr>
              <a:spcAft>
                <a:spcPts val="900"/>
              </a:spcAft>
              <a:defRPr sz="1800">
                <a:solidFill>
                  <a:srgbClr val="334155"/>
                </a:solidFill>
              </a:defRPr>
            </a:pPr>
            <a:r>
              <a:t>This known value becomes the answer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4754880" cy="361188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9944" y="1636776"/>
            <a:ext cx="446227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DC2626"/>
                </a:solidFill>
              </a:defRPr>
            </a:pPr>
            <a:r>
              <a:t>Ground truth at Crown / Ch 52.0m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2039112"/>
            <a:ext cx="4425696" cy="2990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0">
                <a:solidFill>
                  <a:srgbClr val="334155"/>
                </a:solidFill>
              </a:defRPr>
            </a:pPr>
            <a:r>
              <a:t>T0 = 0 mm</a:t>
            </a:r>
            <a:br/>
            <a:r>
              <a:t>T1 = -10 mm</a:t>
            </a:r>
            <a:br/>
            <a:r>
              <a:t>T2 = -22 mm</a:t>
            </a:r>
            <a:br/>
            <a:r>
              <a:t>T3 = -38 mm</a:t>
            </a:r>
            <a:br/>
            <a:r>
              <a:t>T4 = -58 mm</a:t>
            </a:r>
            <a:br/>
            <a:r>
              <a:t>T5 = -80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623560"/>
            <a:ext cx="10149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Simple meaning: we already know the correct settlement, so we can check the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Step 3 — Create regular clean data without raycasting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709160" cy="3337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682495"/>
            <a:ext cx="441655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900" b="1">
                <a:solidFill>
                  <a:srgbClr val="2563EB"/>
                </a:solidFill>
              </a:defRPr>
            </a:pPr>
            <a:r>
              <a:t>Regular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4379976" cy="27157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334155"/>
                </a:solidFill>
              </a:defRPr>
            </a:pPr>
            <a:r>
              <a:t>Export the clean tunnel lining surface directly from Blender.</a:t>
            </a:r>
            <a:br/>
            <a:br/>
            <a:r>
              <a:t>This data has very little noise and no scanner occlusion.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4709160" cy="333756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38544" y="1682495"/>
            <a:ext cx="441655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900" b="1">
                <a:solidFill>
                  <a:srgbClr val="16A34A"/>
                </a:solidFill>
              </a:defRPr>
            </a:pPr>
            <a: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2084831"/>
            <a:ext cx="4379976" cy="27157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334155"/>
                </a:solidFill>
              </a:defRPr>
            </a:pPr>
            <a:r>
              <a:t>Check the measurement algorithm in ideal conditions.</a:t>
            </a:r>
            <a:br/>
            <a:br/>
            <a:r>
              <a:t>If this branch is wrong, the tool logic may be wrong.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32120"/>
            <a:ext cx="101498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0F4C81"/>
                </a:solidFill>
              </a:defRPr>
            </a:pPr>
            <a:r>
              <a:t>Simple meaning: regular clean tests whether the tool can measure correctly on clean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Step 4 — Create raycast TLS data like field scanning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800600" cy="342900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636776"/>
            <a:ext cx="450799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900" b="1">
                <a:solidFill>
                  <a:srgbClr val="F59E0B"/>
                </a:solidFill>
              </a:defRPr>
            </a:pPr>
            <a:r>
              <a:t>Raycast field-like TLS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39112"/>
            <a:ext cx="4471416" cy="28072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334155"/>
                </a:solidFill>
              </a:defRPr>
            </a:pPr>
            <a:r>
              <a:t>Simulate laser scanning from multiple stations along the curved tunnel.</a:t>
            </a:r>
            <a:br/>
            <a:br/>
            <a:r>
              <a:t>Rays hit the model and create a point cloud.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08760"/>
            <a:ext cx="4892040" cy="342900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636776"/>
            <a:ext cx="4599431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900" b="1">
                <a:solidFill>
                  <a:srgbClr val="DC2626"/>
                </a:solidFill>
              </a:defRPr>
            </a:pPr>
            <a:r>
              <a:t>Field-like effects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039112"/>
            <a:ext cx="4562855" cy="28072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334155"/>
                </a:solidFill>
              </a:defRPr>
            </a:pPr>
            <a:r>
              <a:t>This data can include noise, missing points, occlusion and objects inside the tunnel.</a:t>
            </a:r>
            <a:br/>
            <a:br/>
            <a:r>
              <a:t>It is closer to real TLS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32120"/>
            <a:ext cx="101498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Simple meaning: raycast tests whether the tool still works when data looks more realistic.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Step 5 — Run Step 6 on both datasets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331720" cy="1005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36776"/>
            <a:ext cx="203911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39112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0">
                <a:solidFill>
                  <a:srgbClr val="334155"/>
                </a:solidFill>
              </a:defRPr>
            </a:pPr>
            <a:r>
              <a:t>Crown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331720" cy="1005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1636776"/>
            <a:ext cx="203911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039112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0">
                <a:solidFill>
                  <a:srgbClr val="334155"/>
                </a:solidFill>
              </a:defRPr>
            </a:pPr>
            <a:r>
              <a:t>Ch 52.0m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2331720" cy="1005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636776"/>
            <a:ext cx="203911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Epochs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039112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0">
                <a:solidFill>
                  <a:srgbClr val="334155"/>
                </a:solidFill>
              </a:defRPr>
            </a:pPr>
            <a:r>
              <a:t>T0–T5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508760"/>
            <a:ext cx="2331720" cy="1005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0264" y="1636776"/>
            <a:ext cx="203911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2039112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0">
                <a:solidFill>
                  <a:srgbClr val="334155"/>
                </a:solidFill>
              </a:defRPr>
            </a:pPr>
            <a: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63240"/>
            <a:ext cx="49377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34155"/>
                </a:solidFill>
              </a:defRPr>
            </a:pPr>
            <a:r>
              <a:t>Crown settlement = total settlement compared with T0.</a:t>
            </a:r>
          </a:p>
          <a:p>
            <a:pPr>
              <a:spcAft>
                <a:spcPts val="900"/>
              </a:spcAft>
              <a:defRPr sz="1700">
                <a:solidFill>
                  <a:srgbClr val="334155"/>
                </a:solidFill>
              </a:defRPr>
            </a:pPr>
            <a:r>
              <a:t>New crown move = movement added from the previous epoch.</a:t>
            </a:r>
          </a:p>
          <a:p>
            <a:pPr>
              <a:spcAft>
                <a:spcPts val="900"/>
              </a:spcAft>
              <a:defRPr sz="1700">
                <a:solidFill>
                  <a:srgbClr val="334155"/>
                </a:solidFill>
              </a:defRPr>
            </a:pPr>
            <a:r>
              <a:t>Result = OK, Warning or Danger.</a:t>
            </a:r>
          </a:p>
        </p:txBody>
      </p:sp>
      <p:pic>
        <p:nvPicPr>
          <p:cNvPr id="19" name="Picture 18" descr="sectio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80360"/>
            <a:ext cx="4480560" cy="1965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5840" y="5577840"/>
            <a:ext cx="10149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M3C2/p95 are supplementary checks, not the main conclusion.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Step 6 — Compare three versions to find tool 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828800" cy="114300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956816"/>
            <a:ext cx="153619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Ground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59152"/>
            <a:ext cx="1499616" cy="5212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</a:defRPr>
            </a:pPr>
            <a:r>
              <a:t>Known answer from Blender.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2267712"/>
            <a:ext cx="502920" cy="292608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63240" y="1143000"/>
            <a:ext cx="1965960" cy="11430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1271016"/>
            <a:ext cx="1673351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Regular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1673352"/>
            <a:ext cx="1636776" cy="5212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</a:defRPr>
            </a:pPr>
            <a:r>
              <a:t>Tool result on clean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788920"/>
            <a:ext cx="1965960" cy="114300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2916936"/>
            <a:ext cx="1673351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Raycast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3319272"/>
            <a:ext cx="1636776" cy="5212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</a:defRPr>
            </a:pPr>
            <a:r>
              <a:t>Tool result on field-like data.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257800" y="2267712"/>
            <a:ext cx="502920" cy="292608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52160" y="1828800"/>
            <a:ext cx="2103120" cy="114300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98464" y="1956816"/>
            <a:ext cx="1810511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2359152"/>
            <a:ext cx="1773936" cy="5212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</a:defRPr>
            </a:pPr>
            <a:r>
              <a:t>Tool − ground truth.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183879" y="2267712"/>
            <a:ext cx="502920" cy="292608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0" y="1828800"/>
            <a:ext cx="2468880" cy="11430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24544" y="1956816"/>
            <a:ext cx="217627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Final 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2359152"/>
            <a:ext cx="2139696" cy="5212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</a:defRPr>
            </a:pPr>
            <a:r>
              <a:t>Error in mm and 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800600"/>
            <a:ext cx="4754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Error mm = Tool result − Ground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00600"/>
            <a:ext cx="4754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Error % = |Error mm| / |Ground truth| × 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623560"/>
            <a:ext cx="10149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</a:defRPr>
            </a:pPr>
            <a:r>
              <a:t>T0 is not used in MAPE because its ground truth is 0 mm.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Accuracy result and conclusion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62179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1170432"/>
                <a:gridCol w="1143000"/>
                <a:gridCol w="1143000"/>
                <a:gridCol w="1051560"/>
                <a:gridCol w="1051560"/>
              </a:tblGrid>
              <a:tr h="55517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Ground truth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Regular tool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Raycast tool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Regular error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Raycast error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-10.0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-9.9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-10.243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1.00%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2.43%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-22.0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-21.7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-21.632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1.36%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1.67%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-38.0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-37.6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-37.07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1.05%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2.45%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-58.0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-57.3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-56.607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1.21%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2.40%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-80.0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-79.1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-77.9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1.13%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2.63%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60920" y="1417320"/>
            <a:ext cx="2331720" cy="1005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07224" y="1545336"/>
            <a:ext cx="203911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Regular MAPE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5512" y="1947672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0">
                <a:solidFill>
                  <a:srgbClr val="334155"/>
                </a:solidFill>
              </a:defRPr>
            </a:pPr>
            <a:r>
              <a:t>1.15%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1417320"/>
            <a:ext cx="2331720" cy="1005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76104" y="1545336"/>
            <a:ext cx="203911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Pass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1947672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0">
                <a:solidFill>
                  <a:srgbClr val="334155"/>
                </a:solidFill>
              </a:defRPr>
            </a:pPr>
            <a:r>
              <a:t>&lt; 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2834640"/>
            <a:ext cx="2331720" cy="1005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4" y="2962656"/>
            <a:ext cx="203911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Raycast MAPE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3364992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0">
                <a:solidFill>
                  <a:srgbClr val="334155"/>
                </a:solidFill>
              </a:defRPr>
            </a:pPr>
            <a:r>
              <a:t>2.315%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2834640"/>
            <a:ext cx="2331720" cy="1005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76104" y="2962656"/>
            <a:ext cx="203911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Pass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94392" y="3364992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0">
                <a:solidFill>
                  <a:srgbClr val="334155"/>
                </a:solidFill>
              </a:defRPr>
            </a:pPr>
            <a:r>
              <a:t>&lt; 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526280"/>
            <a:ext cx="4206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Both branches pass the validation criteria.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5394960"/>
            <a:ext cx="42062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</a:defRPr>
            </a:pPr>
            <a:r>
              <a:t>Raycast error is higher, but acceptable because it simulates field noise and occlusion.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Final message for the professor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4C81"/>
                </a:solidFill>
              </a:defRPr>
            </a:pPr>
            <a:r>
              <a:t>The tool is validated by comparing Step 6 results against known Blender ground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514600"/>
            <a:ext cx="2971800" cy="132588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3" y="2642616"/>
            <a:ext cx="267919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Clean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1" y="3044952"/>
            <a:ext cx="2642616" cy="7040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334155"/>
                </a:solidFill>
              </a:defRPr>
            </a:pPr>
            <a:r>
              <a:t>Algorithm check</a:t>
            </a:r>
            <a:br/>
            <a:r>
              <a:t>MAPE = 1.15%</a:t>
            </a:r>
            <a:br/>
            <a:r>
              <a:t>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514600"/>
            <a:ext cx="2971800" cy="132588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2642616"/>
            <a:ext cx="267919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Raycast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3044952"/>
            <a:ext cx="2642616" cy="7040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334155"/>
                </a:solidFill>
              </a:defRPr>
            </a:pPr>
            <a:r>
              <a:t>Field-like check</a:t>
            </a:r>
            <a:br/>
            <a:r>
              <a:t>MAPE = 2.315%</a:t>
            </a:r>
            <a:br/>
            <a:r>
              <a:t>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514600"/>
            <a:ext cx="2971800" cy="13258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2642616"/>
            <a:ext cx="2679192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Main 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3044952"/>
            <a:ext cx="2642616" cy="7040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>
                <a:solidFill>
                  <a:srgbClr val="334155"/>
                </a:solidFill>
              </a:defRPr>
            </a:pPr>
            <a:r>
              <a:t>Crown settlement</a:t>
            </a:r>
            <a:br/>
            <a:r>
              <a:t>Crown / Ch 52.0m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0916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34155"/>
                </a:solidFill>
              </a:defRPr>
            </a:pPr>
            <a:r>
              <a:t>Regular clean proves the tool works in ideal conditions.</a:t>
            </a:r>
          </a:p>
          <a:p>
            <a:pPr>
              <a:spcAft>
                <a:spcPts val="900"/>
              </a:spcAft>
              <a:defRPr sz="1700">
                <a:solidFill>
                  <a:srgbClr val="334155"/>
                </a:solidFill>
              </a:defRPr>
            </a:pPr>
            <a:r>
              <a:t>Raycast TLS proves the tool remains accurate with realistic scanning effects.</a:t>
            </a:r>
          </a:p>
          <a:p>
            <a:pPr>
              <a:spcAft>
                <a:spcPts val="900"/>
              </a:spcAft>
              <a:defRPr sz="1700">
                <a:solidFill>
                  <a:srgbClr val="334155"/>
                </a:solidFill>
              </a:defRPr>
            </a:pPr>
            <a:r>
              <a:t>Next step: test and calibrate with real tunnel TLS scans.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