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TLSynth paper describes complete scanning simulation pipeline. We apply these 5 steps to create synthetic ground truth: 1) Use UV sphere as scanner, 2) Add realistic noise, 3) Handle occlusion, 4) Assign colors, 5) Export to LAS. This ensures our synthetic data matches real LiDAR behavior.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High-level overview: Three phases create synthetic ground truth. Phase A: raycast clean tunnel to get T0. Phase B: modify mesh to inject known deformation. Phase C: raycast modified mesh to get Tn. Finally, load both into tool and validate accuracy.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A setup: Load the Blender scene with tunnel geometry. The Tunnel_Lining mesh is our scanning target. Create UV sphere at (0, 10, 3) - this represents scanner position. Each sphere vertex becomes a ray origin. 512 rays total.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Execute the raycasting: for each vertex on sphere, cast ray from that position toward tunnel. Record hit positions. Add distance-dependent noise (5mm baseline + 2mm per 10m). Export 364 hit points to LAS. T0 is our clean reference with known geometry.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B step 1: Define what deformations you want to introduce. We use 3 example deformations: crown settlement at 20m, sidewall convergence at 45m, local damage at 65m. These represent realistic tunnel deterioration patterns. Document exact values - these are your ground truth.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Programmatically modify Blender mesh vertices. For crown settlement: lower Z coordinate at chainage 20m. For convergence: contract X/Y coordinates (move inward) at chainage 45m. Use gaussian tapering so deformation is smooth, not sharp. Save modified mesh as tunnel_deformed.blend.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C: Raycast deformed mesh using identical scanner setup. Only difference from T0: target mesh is now deformed. Scanner position, noise model, and ray count must be identical. This ensures differences between T0 and Tn are ONLY from deformation, not from different scanner locations or noise.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have two synthetic point clouds: T0 clean and Tn deformed. Tn shows measurable changes due to injected deformation. Radius decreased (convergence), eccentricity increased (settlement asymmetry), ovality increased (loss of perfect circle). These are our ground truth changes. Next step: load into tool and measure.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Validation procedure: Load both T0 and Tn into tunnel_analysis tool. Tool extracts geometry from each scan. Tool compares T0 vs Tn and reports deformation metrics. Compare tool output against our ground_truth.csv. If error is small (&lt; 1mm), tool measurement is accurate. If error is large, investigate: registration issues, noise level, fitting algorithm.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Repeat validation with different deformation scenarios. Scenario A: no deformation (tests noise floor). Scenario B: single metric isolated (tests each measurement pipeline). Scenario C: realistic combined deformation (stresses algorithm). Scenario D: different scanner location (tests generalization). Build confidence by passing multiple independent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14-step checklist to execute the full protocol. Expected time: ~2 hours from start to finish. Critical steps: raycast T0/Tn (identical scanner, different mesh), load into tool, compare measurements. Document every step for reproducibility.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Summary: We create synthetic ground truth by applying TLSynth methodology. Raycast clean mesh → T0. Modify mesh with known deformation → Tn. Load both into tool, measure, compare. If tool accuracy is high (&lt; 1mm error), ready for field validation. If error is high, debug and iterate. This rigorous approach ensures confidence in the measurement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65A82"/>
        </a:solidFill>
      </p:bgPr>
    </p:bg>
    <p:spTree>
      <p:nvGrpSpPr>
        <p:cNvPr id="1" name=""/>
        <p:cNvGrpSpPr/>
        <p:nvPr/>
      </p:nvGrpSpPr>
      <p:grpSpPr>
        <a:xfrm>
          <a:off x="0" y="0"/>
          <a:ext cx="0" cy="0"/>
          <a:chOff x="0" y="0"/>
          <a:chExt cx="0" cy="0"/>
        </a:xfrm>
      </p:grpSpPr>
      <p:sp>
        <p:nvSpPr>
          <p:cNvPr id="2" name="Text 0"/>
          <p:cNvSpPr/>
          <p:nvPr/>
        </p:nvSpPr>
        <p:spPr>
          <a:xfrm>
            <a:off x="457200" y="2286000"/>
            <a:ext cx="8229600" cy="914400"/>
          </a:xfrm>
          <a:prstGeom prst="rect">
            <a:avLst/>
          </a:prstGeom>
          <a:noFill/>
          <a:ln/>
        </p:spPr>
        <p:txBody>
          <a:bodyPr wrap="square" rtlCol="0" anchor="ctr"/>
          <a:lstStyle/>
          <a:p>
            <a:pPr algn="l" indent="0" marL="0">
              <a:buNone/>
            </a:pPr>
            <a:r>
              <a:rPr lang="en-US" sz="4800" b="1" dirty="0">
                <a:solidFill>
                  <a:srgbClr val="FFFFFF"/>
                </a:solidFill>
              </a:rPr>
              <a:t>Raycasting Ground Truth Protocol</a:t>
            </a:r>
            <a:endParaRPr lang="en-US" sz="4800" dirty="0"/>
          </a:p>
        </p:txBody>
      </p:sp>
      <p:sp>
        <p:nvSpPr>
          <p:cNvPr id="3" name="Text 1"/>
          <p:cNvSpPr/>
          <p:nvPr/>
        </p:nvSpPr>
        <p:spPr>
          <a:xfrm>
            <a:off x="457200" y="3474720"/>
            <a:ext cx="8229600" cy="731520"/>
          </a:xfrm>
          <a:prstGeom prst="rect">
            <a:avLst/>
          </a:prstGeom>
          <a:noFill/>
          <a:ln/>
        </p:spPr>
        <p:txBody>
          <a:bodyPr wrap="square" rtlCol="0" anchor="ctr"/>
          <a:lstStyle/>
          <a:p>
            <a:pPr algn="l" indent="0" marL="0">
              <a:buNone/>
            </a:pPr>
            <a:r>
              <a:rPr lang="en-US" sz="2400" dirty="0">
                <a:solidFill>
                  <a:srgbClr val="02C39A"/>
                </a:solidFill>
              </a:rPr>
              <a:t>Creating synthetic tunnel data for validation using TLSynth methodology</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065A82"/>
          </a:solidFill>
          <a:ln/>
        </p:spPr>
      </p:sp>
      <p:sp>
        <p:nvSpPr>
          <p:cNvPr id="3" name="Text 1"/>
          <p:cNvSpPr/>
          <p:nvPr/>
        </p:nvSpPr>
        <p:spPr>
          <a:xfrm>
            <a:off x="457200" y="137160"/>
            <a:ext cx="8229600" cy="457200"/>
          </a:xfrm>
          <a:prstGeom prst="rect">
            <a:avLst/>
          </a:prstGeom>
          <a:noFill/>
          <a:ln/>
        </p:spPr>
        <p:txBody>
          <a:bodyPr wrap="square" rtlCol="0" anchor="ctr"/>
          <a:lstStyle/>
          <a:p>
            <a:pPr algn="l" indent="0" marL="0">
              <a:buNone/>
            </a:pPr>
            <a:r>
              <a:rPr lang="en-US" sz="3600" b="1" dirty="0">
                <a:solidFill>
                  <a:srgbClr val="FFFFFF"/>
                </a:solidFill>
              </a:rPr>
              <a:t>TLSynth Scanning Simulation (§3.1-3.5)</a:t>
            </a:r>
            <a:endParaRPr lang="en-US" sz="3600" dirty="0"/>
          </a:p>
        </p:txBody>
      </p:sp>
      <p:sp>
        <p:nvSpPr>
          <p:cNvPr id="4" name="Text 2"/>
          <p:cNvSpPr/>
          <p:nvPr/>
        </p:nvSpPr>
        <p:spPr>
          <a:xfrm>
            <a:off x="457200" y="914400"/>
            <a:ext cx="8229600" cy="365760"/>
          </a:xfrm>
          <a:prstGeom prst="rect">
            <a:avLst/>
          </a:prstGeom>
          <a:noFill/>
          <a:ln/>
        </p:spPr>
        <p:txBody>
          <a:bodyPr wrap="square" rtlCol="0" anchor="ctr"/>
          <a:lstStyle/>
          <a:p>
            <a:pPr indent="0" marL="0">
              <a:buNone/>
            </a:pPr>
            <a:r>
              <a:rPr lang="en-US" sz="1800" b="1" dirty="0">
                <a:solidFill>
                  <a:srgbClr val="065A82"/>
                </a:solidFill>
              </a:rPr>
              <a:t>TLSynth Pipeline:</a:t>
            </a:r>
            <a:endParaRPr lang="en-US" sz="1800" dirty="0"/>
          </a:p>
        </p:txBody>
      </p:sp>
      <p:sp>
        <p:nvSpPr>
          <p:cNvPr id="5" name="Text 3"/>
          <p:cNvSpPr/>
          <p:nvPr/>
        </p:nvSpPr>
        <p:spPr>
          <a:xfrm>
            <a:off x="548640" y="1463040"/>
            <a:ext cx="457200" cy="320040"/>
          </a:xfrm>
          <a:prstGeom prst="rect">
            <a:avLst/>
          </a:prstGeom>
          <a:noFill/>
          <a:ln/>
        </p:spPr>
        <p:txBody>
          <a:bodyPr wrap="square" rtlCol="0" anchor="ctr"/>
          <a:lstStyle/>
          <a:p>
            <a:pPr indent="0" marL="0">
              <a:buNone/>
            </a:pPr>
            <a:r>
              <a:rPr lang="en-US" sz="1400" b="1" dirty="0">
                <a:solidFill>
                  <a:srgbClr val="02C39A"/>
                </a:solidFill>
              </a:rPr>
              <a:t>1.</a:t>
            </a:r>
            <a:endParaRPr lang="en-US" sz="1400" dirty="0"/>
          </a:p>
        </p:txBody>
      </p:sp>
      <p:sp>
        <p:nvSpPr>
          <p:cNvPr id="6" name="Text 4"/>
          <p:cNvSpPr/>
          <p:nvPr/>
        </p:nvSpPr>
        <p:spPr>
          <a:xfrm>
            <a:off x="1188720" y="1463040"/>
            <a:ext cx="7315200" cy="320040"/>
          </a:xfrm>
          <a:prstGeom prst="rect">
            <a:avLst/>
          </a:prstGeom>
          <a:noFill/>
          <a:ln/>
        </p:spPr>
        <p:txBody>
          <a:bodyPr wrap="square" lIns="0" tIns="0" rIns="0" bIns="0" rtlCol="0" anchor="t"/>
          <a:lstStyle/>
          <a:p>
            <a:pPr algn="l" indent="0" marL="0">
              <a:buNone/>
            </a:pPr>
            <a:r>
              <a:rPr lang="en-US" sz="1400" dirty="0">
                <a:solidFill>
                  <a:srgbClr val="1A1A1A"/>
                </a:solidFill>
              </a:rPr>
              <a:t>§3.1 Scanning Simulation: UV sphere → ray casting → hit positions</a:t>
            </a:r>
            <a:endParaRPr lang="en-US" sz="1400" dirty="0"/>
          </a:p>
        </p:txBody>
      </p:sp>
      <p:sp>
        <p:nvSpPr>
          <p:cNvPr id="7" name="Text 5"/>
          <p:cNvSpPr/>
          <p:nvPr/>
        </p:nvSpPr>
        <p:spPr>
          <a:xfrm>
            <a:off x="548640" y="1874520"/>
            <a:ext cx="457200" cy="320040"/>
          </a:xfrm>
          <a:prstGeom prst="rect">
            <a:avLst/>
          </a:prstGeom>
          <a:noFill/>
          <a:ln/>
        </p:spPr>
        <p:txBody>
          <a:bodyPr wrap="square" rtlCol="0" anchor="ctr"/>
          <a:lstStyle/>
          <a:p>
            <a:pPr indent="0" marL="0">
              <a:buNone/>
            </a:pPr>
            <a:r>
              <a:rPr lang="en-US" sz="1400" b="1" dirty="0">
                <a:solidFill>
                  <a:srgbClr val="02C39A"/>
                </a:solidFill>
              </a:rPr>
              <a:t>2.</a:t>
            </a:r>
            <a:endParaRPr lang="en-US" sz="1400" dirty="0"/>
          </a:p>
        </p:txBody>
      </p:sp>
      <p:sp>
        <p:nvSpPr>
          <p:cNvPr id="8" name="Text 6"/>
          <p:cNvSpPr/>
          <p:nvPr/>
        </p:nvSpPr>
        <p:spPr>
          <a:xfrm>
            <a:off x="1188720" y="1874520"/>
            <a:ext cx="7315200" cy="320040"/>
          </a:xfrm>
          <a:prstGeom prst="rect">
            <a:avLst/>
          </a:prstGeom>
          <a:noFill/>
          <a:ln/>
        </p:spPr>
        <p:txBody>
          <a:bodyPr wrap="square" lIns="0" tIns="0" rIns="0" bIns="0" rtlCol="0" anchor="t"/>
          <a:lstStyle/>
          <a:p>
            <a:pPr algn="l" indent="0" marL="0">
              <a:buNone/>
            </a:pPr>
            <a:r>
              <a:rPr lang="en-US" sz="1400" dirty="0">
                <a:solidFill>
                  <a:srgbClr val="1A1A1A"/>
                </a:solidFill>
              </a:rPr>
              <a:t>§3.2 Noise Model: r_noise = 5mm + 2mm × (distance/10m)</a:t>
            </a:r>
            <a:endParaRPr lang="en-US" sz="1400" dirty="0"/>
          </a:p>
        </p:txBody>
      </p:sp>
      <p:sp>
        <p:nvSpPr>
          <p:cNvPr id="9" name="Text 7"/>
          <p:cNvSpPr/>
          <p:nvPr/>
        </p:nvSpPr>
        <p:spPr>
          <a:xfrm>
            <a:off x="548640" y="2286000"/>
            <a:ext cx="457200" cy="320040"/>
          </a:xfrm>
          <a:prstGeom prst="rect">
            <a:avLst/>
          </a:prstGeom>
          <a:noFill/>
          <a:ln/>
        </p:spPr>
        <p:txBody>
          <a:bodyPr wrap="square" rtlCol="0" anchor="ctr"/>
          <a:lstStyle/>
          <a:p>
            <a:pPr indent="0" marL="0">
              <a:buNone/>
            </a:pPr>
            <a:r>
              <a:rPr lang="en-US" sz="1400" b="1" dirty="0">
                <a:solidFill>
                  <a:srgbClr val="02C39A"/>
                </a:solidFill>
              </a:rPr>
              <a:t>3.</a:t>
            </a:r>
            <a:endParaRPr lang="en-US" sz="1400" dirty="0"/>
          </a:p>
        </p:txBody>
      </p:sp>
      <p:sp>
        <p:nvSpPr>
          <p:cNvPr id="10" name="Text 8"/>
          <p:cNvSpPr/>
          <p:nvPr/>
        </p:nvSpPr>
        <p:spPr>
          <a:xfrm>
            <a:off x="1188720" y="2286000"/>
            <a:ext cx="7315200" cy="320040"/>
          </a:xfrm>
          <a:prstGeom prst="rect">
            <a:avLst/>
          </a:prstGeom>
          <a:noFill/>
          <a:ln/>
        </p:spPr>
        <p:txBody>
          <a:bodyPr wrap="square" lIns="0" tIns="0" rIns="0" bIns="0" rtlCol="0" anchor="t"/>
          <a:lstStyle/>
          <a:p>
            <a:pPr algn="l" indent="0" marL="0">
              <a:buNone/>
            </a:pPr>
            <a:r>
              <a:rPr lang="en-US" sz="1400" dirty="0">
                <a:solidFill>
                  <a:srgbClr val="1A1A1A"/>
                </a:solidFill>
              </a:rPr>
              <a:t>§3.3 Point Deletion: Optional occlusion filtering</a:t>
            </a:r>
            <a:endParaRPr lang="en-US" sz="1400" dirty="0"/>
          </a:p>
        </p:txBody>
      </p:sp>
      <p:sp>
        <p:nvSpPr>
          <p:cNvPr id="11" name="Text 9"/>
          <p:cNvSpPr/>
          <p:nvPr/>
        </p:nvSpPr>
        <p:spPr>
          <a:xfrm>
            <a:off x="548640" y="2697480"/>
            <a:ext cx="457200" cy="320040"/>
          </a:xfrm>
          <a:prstGeom prst="rect">
            <a:avLst/>
          </a:prstGeom>
          <a:noFill/>
          <a:ln/>
        </p:spPr>
        <p:txBody>
          <a:bodyPr wrap="square" rtlCol="0" anchor="ctr"/>
          <a:lstStyle/>
          <a:p>
            <a:pPr indent="0" marL="0">
              <a:buNone/>
            </a:pPr>
            <a:r>
              <a:rPr lang="en-US" sz="1400" b="1" dirty="0">
                <a:solidFill>
                  <a:srgbClr val="02C39A"/>
                </a:solidFill>
              </a:rPr>
              <a:t>4.</a:t>
            </a:r>
            <a:endParaRPr lang="en-US" sz="1400" dirty="0"/>
          </a:p>
        </p:txBody>
      </p:sp>
      <p:sp>
        <p:nvSpPr>
          <p:cNvPr id="12" name="Text 10"/>
          <p:cNvSpPr/>
          <p:nvPr/>
        </p:nvSpPr>
        <p:spPr>
          <a:xfrm>
            <a:off x="1188720" y="2697480"/>
            <a:ext cx="7315200" cy="320040"/>
          </a:xfrm>
          <a:prstGeom prst="rect">
            <a:avLst/>
          </a:prstGeom>
          <a:noFill/>
          <a:ln/>
        </p:spPr>
        <p:txBody>
          <a:bodyPr wrap="square" lIns="0" tIns="0" rIns="0" bIns="0" rtlCol="0" anchor="t"/>
          <a:lstStyle/>
          <a:p>
            <a:pPr algn="l" indent="0" marL="0">
              <a:buNone/>
            </a:pPr>
            <a:r>
              <a:rPr lang="en-US" sz="1400" dirty="0">
                <a:solidFill>
                  <a:srgbClr val="1A1A1A"/>
                </a:solidFill>
              </a:rPr>
              <a:t>§3.4 Color Assignment: RGB from mesh material</a:t>
            </a:r>
            <a:endParaRPr lang="en-US" sz="1400" dirty="0"/>
          </a:p>
        </p:txBody>
      </p:sp>
      <p:sp>
        <p:nvSpPr>
          <p:cNvPr id="13" name="Text 11"/>
          <p:cNvSpPr/>
          <p:nvPr/>
        </p:nvSpPr>
        <p:spPr>
          <a:xfrm>
            <a:off x="548640" y="3108960"/>
            <a:ext cx="457200" cy="320040"/>
          </a:xfrm>
          <a:prstGeom prst="rect">
            <a:avLst/>
          </a:prstGeom>
          <a:noFill/>
          <a:ln/>
        </p:spPr>
        <p:txBody>
          <a:bodyPr wrap="square" rtlCol="0" anchor="ctr"/>
          <a:lstStyle/>
          <a:p>
            <a:pPr indent="0" marL="0">
              <a:buNone/>
            </a:pPr>
            <a:r>
              <a:rPr lang="en-US" sz="1400" b="1" dirty="0">
                <a:solidFill>
                  <a:srgbClr val="02C39A"/>
                </a:solidFill>
              </a:rPr>
              <a:t>5.</a:t>
            </a:r>
            <a:endParaRPr lang="en-US" sz="1400" dirty="0"/>
          </a:p>
        </p:txBody>
      </p:sp>
      <p:sp>
        <p:nvSpPr>
          <p:cNvPr id="14" name="Text 12"/>
          <p:cNvSpPr/>
          <p:nvPr/>
        </p:nvSpPr>
        <p:spPr>
          <a:xfrm>
            <a:off x="1188720" y="3108960"/>
            <a:ext cx="7315200" cy="320040"/>
          </a:xfrm>
          <a:prstGeom prst="rect">
            <a:avLst/>
          </a:prstGeom>
          <a:noFill/>
          <a:ln/>
        </p:spPr>
        <p:txBody>
          <a:bodyPr wrap="square" lIns="0" tIns="0" rIns="0" bIns="0" rtlCol="0" anchor="t"/>
          <a:lstStyle/>
          <a:p>
            <a:pPr algn="l" indent="0" marL="0">
              <a:buNone/>
            </a:pPr>
            <a:r>
              <a:rPr lang="en-US" sz="1400" dirty="0">
                <a:solidFill>
                  <a:srgbClr val="1A1A1A"/>
                </a:solidFill>
              </a:rPr>
              <a:t>§3.5 Export: Save as PLY/LAS format</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065A82"/>
          </a:solidFill>
          <a:ln/>
        </p:spPr>
      </p:sp>
      <p:sp>
        <p:nvSpPr>
          <p:cNvPr id="3" name="Text 1"/>
          <p:cNvSpPr/>
          <p:nvPr/>
        </p:nvSpPr>
        <p:spPr>
          <a:xfrm>
            <a:off x="457200" y="137160"/>
            <a:ext cx="8229600" cy="457200"/>
          </a:xfrm>
          <a:prstGeom prst="rect">
            <a:avLst/>
          </a:prstGeom>
          <a:noFill/>
          <a:ln/>
        </p:spPr>
        <p:txBody>
          <a:bodyPr wrap="square" rtlCol="0" anchor="ctr"/>
          <a:lstStyle/>
          <a:p>
            <a:pPr algn="l" indent="0" marL="0">
              <a:buNone/>
            </a:pPr>
            <a:r>
              <a:rPr lang="en-US" sz="3600" b="1" dirty="0">
                <a:solidFill>
                  <a:srgbClr val="FFFFFF"/>
                </a:solidFill>
              </a:rPr>
              <a:t>Three-Phase Protocol</a:t>
            </a:r>
            <a:endParaRPr lang="en-US" sz="3600" dirty="0"/>
          </a:p>
        </p:txBody>
      </p:sp>
      <p:sp>
        <p:nvSpPr>
          <p:cNvPr id="4" name="Shape 2"/>
          <p:cNvSpPr/>
          <p:nvPr/>
        </p:nvSpPr>
        <p:spPr>
          <a:xfrm>
            <a:off x="457200" y="1097280"/>
            <a:ext cx="8229600" cy="822960"/>
          </a:xfrm>
          <a:prstGeom prst="roundRect">
            <a:avLst/>
          </a:prstGeom>
          <a:solidFill>
            <a:srgbClr val="065A82"/>
          </a:solidFill>
          <a:ln/>
        </p:spPr>
      </p:sp>
      <p:sp>
        <p:nvSpPr>
          <p:cNvPr id="5" name="Text 3"/>
          <p:cNvSpPr/>
          <p:nvPr/>
        </p:nvSpPr>
        <p:spPr>
          <a:xfrm>
            <a:off x="914400" y="1188720"/>
            <a:ext cx="3657600" cy="320040"/>
          </a:xfrm>
          <a:prstGeom prst="rect">
            <a:avLst/>
          </a:prstGeom>
          <a:noFill/>
          <a:ln/>
        </p:spPr>
        <p:txBody>
          <a:bodyPr wrap="square" rtlCol="0" anchor="ctr"/>
          <a:lstStyle/>
          <a:p>
            <a:pPr indent="0" marL="0">
              <a:buNone/>
            </a:pPr>
            <a:r>
              <a:rPr lang="en-US" sz="1400" b="1" dirty="0">
                <a:solidFill>
                  <a:srgbClr val="FFFFFF"/>
                </a:solidFill>
              </a:rPr>
              <a:t>Phase A: T0 Raycast</a:t>
            </a:r>
            <a:endParaRPr lang="en-US" sz="1400" dirty="0"/>
          </a:p>
        </p:txBody>
      </p:sp>
      <p:sp>
        <p:nvSpPr>
          <p:cNvPr id="6" name="Text 4"/>
          <p:cNvSpPr/>
          <p:nvPr/>
        </p:nvSpPr>
        <p:spPr>
          <a:xfrm>
            <a:off x="914400" y="1508760"/>
            <a:ext cx="3657600" cy="320040"/>
          </a:xfrm>
          <a:prstGeom prst="rect">
            <a:avLst/>
          </a:prstGeom>
          <a:noFill/>
          <a:ln/>
        </p:spPr>
        <p:txBody>
          <a:bodyPr wrap="square" rtlCol="0" anchor="ctr"/>
          <a:lstStyle/>
          <a:p>
            <a:pPr indent="0" marL="0">
              <a:buNone/>
            </a:pPr>
            <a:r>
              <a:rPr lang="en-US" sz="1200" i="1" dirty="0">
                <a:solidFill>
                  <a:srgbClr val="FFFFFF"/>
                </a:solidFill>
              </a:rPr>
              <a:t>Clean reference scan</a:t>
            </a:r>
            <a:endParaRPr lang="en-US" sz="1200" dirty="0"/>
          </a:p>
        </p:txBody>
      </p:sp>
      <p:sp>
        <p:nvSpPr>
          <p:cNvPr id="7" name="Shape 5"/>
          <p:cNvSpPr/>
          <p:nvPr/>
        </p:nvSpPr>
        <p:spPr>
          <a:xfrm>
            <a:off x="457200" y="2286000"/>
            <a:ext cx="8229600" cy="822960"/>
          </a:xfrm>
          <a:prstGeom prst="roundRect">
            <a:avLst/>
          </a:prstGeom>
          <a:solidFill>
            <a:srgbClr val="1C7293"/>
          </a:solidFill>
          <a:ln/>
        </p:spPr>
      </p:sp>
      <p:sp>
        <p:nvSpPr>
          <p:cNvPr id="8" name="Text 6"/>
          <p:cNvSpPr/>
          <p:nvPr/>
        </p:nvSpPr>
        <p:spPr>
          <a:xfrm>
            <a:off x="914400" y="2377440"/>
            <a:ext cx="3657600" cy="320040"/>
          </a:xfrm>
          <a:prstGeom prst="rect">
            <a:avLst/>
          </a:prstGeom>
          <a:noFill/>
          <a:ln/>
        </p:spPr>
        <p:txBody>
          <a:bodyPr wrap="square" rtlCol="0" anchor="ctr"/>
          <a:lstStyle/>
          <a:p>
            <a:pPr indent="0" marL="0">
              <a:buNone/>
            </a:pPr>
            <a:r>
              <a:rPr lang="en-US" sz="1400" b="1" dirty="0">
                <a:solidFill>
                  <a:srgbClr val="FFFFFF"/>
                </a:solidFill>
              </a:rPr>
              <a:t>Phase B: Deformation</a:t>
            </a:r>
            <a:endParaRPr lang="en-US" sz="1400" dirty="0"/>
          </a:p>
        </p:txBody>
      </p:sp>
      <p:sp>
        <p:nvSpPr>
          <p:cNvPr id="9" name="Text 7"/>
          <p:cNvSpPr/>
          <p:nvPr/>
        </p:nvSpPr>
        <p:spPr>
          <a:xfrm>
            <a:off x="914400" y="2697480"/>
            <a:ext cx="3657600" cy="320040"/>
          </a:xfrm>
          <a:prstGeom prst="rect">
            <a:avLst/>
          </a:prstGeom>
          <a:noFill/>
          <a:ln/>
        </p:spPr>
        <p:txBody>
          <a:bodyPr wrap="square" rtlCol="0" anchor="ctr"/>
          <a:lstStyle/>
          <a:p>
            <a:pPr indent="0" marL="0">
              <a:buNone/>
            </a:pPr>
            <a:r>
              <a:rPr lang="en-US" sz="1200" i="1" dirty="0">
                <a:solidFill>
                  <a:srgbClr val="FFFFFF"/>
                </a:solidFill>
              </a:rPr>
              <a:t>Inject known changes</a:t>
            </a:r>
            <a:endParaRPr lang="en-US" sz="1200" dirty="0"/>
          </a:p>
        </p:txBody>
      </p:sp>
      <p:sp>
        <p:nvSpPr>
          <p:cNvPr id="10" name="Shape 8"/>
          <p:cNvSpPr/>
          <p:nvPr/>
        </p:nvSpPr>
        <p:spPr>
          <a:xfrm>
            <a:off x="457200" y="3474720"/>
            <a:ext cx="8229600" cy="822960"/>
          </a:xfrm>
          <a:prstGeom prst="roundRect">
            <a:avLst/>
          </a:prstGeom>
          <a:solidFill>
            <a:srgbClr val="02C39A"/>
          </a:solidFill>
          <a:ln/>
        </p:spPr>
      </p:sp>
      <p:sp>
        <p:nvSpPr>
          <p:cNvPr id="11" name="Text 9"/>
          <p:cNvSpPr/>
          <p:nvPr/>
        </p:nvSpPr>
        <p:spPr>
          <a:xfrm>
            <a:off x="914400" y="3566160"/>
            <a:ext cx="3657600" cy="320040"/>
          </a:xfrm>
          <a:prstGeom prst="rect">
            <a:avLst/>
          </a:prstGeom>
          <a:noFill/>
          <a:ln/>
        </p:spPr>
        <p:txBody>
          <a:bodyPr wrap="square" rtlCol="0" anchor="ctr"/>
          <a:lstStyle/>
          <a:p>
            <a:pPr indent="0" marL="0">
              <a:buNone/>
            </a:pPr>
            <a:r>
              <a:rPr lang="en-US" sz="1400" b="1" dirty="0">
                <a:solidFill>
                  <a:srgbClr val="FFFFFF"/>
                </a:solidFill>
              </a:rPr>
              <a:t>Phase C: Tn Raycast</a:t>
            </a:r>
            <a:endParaRPr lang="en-US" sz="1400" dirty="0"/>
          </a:p>
        </p:txBody>
      </p:sp>
      <p:sp>
        <p:nvSpPr>
          <p:cNvPr id="12" name="Text 10"/>
          <p:cNvSpPr/>
          <p:nvPr/>
        </p:nvSpPr>
        <p:spPr>
          <a:xfrm>
            <a:off x="914400" y="3886200"/>
            <a:ext cx="3657600" cy="320040"/>
          </a:xfrm>
          <a:prstGeom prst="rect">
            <a:avLst/>
          </a:prstGeom>
          <a:noFill/>
          <a:ln/>
        </p:spPr>
        <p:txBody>
          <a:bodyPr wrap="square" rtlCol="0" anchor="ctr"/>
          <a:lstStyle/>
          <a:p>
            <a:pPr indent="0" marL="0">
              <a:buNone/>
            </a:pPr>
            <a:r>
              <a:rPr lang="en-US" sz="1200" i="1" dirty="0">
                <a:solidFill>
                  <a:srgbClr val="FFFFFF"/>
                </a:solidFill>
              </a:rPr>
              <a:t>Deformed scan</a:t>
            </a:r>
            <a:endParaRPr lang="en-US" sz="1200" dirty="0"/>
          </a:p>
        </p:txBody>
      </p:sp>
      <p:sp>
        <p:nvSpPr>
          <p:cNvPr id="13" name="Shape 11"/>
          <p:cNvSpPr/>
          <p:nvPr/>
        </p:nvSpPr>
        <p:spPr>
          <a:xfrm>
            <a:off x="4297680" y="4480560"/>
            <a:ext cx="274320" cy="365760"/>
          </a:xfrm>
          <a:prstGeom prst="triangle">
            <a:avLst/>
          </a:prstGeom>
          <a:solidFill>
            <a:srgbClr val="02C39A"/>
          </a:solidFill>
          <a:ln/>
        </p:spPr>
      </p:sp>
      <p:sp>
        <p:nvSpPr>
          <p:cNvPr id="14" name="Text 12"/>
          <p:cNvSpPr/>
          <p:nvPr/>
        </p:nvSpPr>
        <p:spPr>
          <a:xfrm>
            <a:off x="457200" y="4937760"/>
            <a:ext cx="8229600" cy="457200"/>
          </a:xfrm>
          <a:prstGeom prst="rect">
            <a:avLst/>
          </a:prstGeom>
          <a:noFill/>
          <a:ln/>
        </p:spPr>
        <p:txBody>
          <a:bodyPr wrap="square" rtlCol="0" anchor="ctr"/>
          <a:lstStyle/>
          <a:p>
            <a:pPr algn="ctr" indent="0" marL="0">
              <a:buNone/>
            </a:pPr>
            <a:r>
              <a:rPr lang="en-US" sz="1400" b="1" dirty="0">
                <a:solidFill>
                  <a:srgbClr val="02C39A"/>
                </a:solidFill>
              </a:rPr>
              <a:t>Validation: Tool measures deformation vs ground truth</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065A82"/>
          </a:solidFill>
          <a:ln/>
        </p:spPr>
      </p:sp>
      <p:sp>
        <p:nvSpPr>
          <p:cNvPr id="3" name="Text 1"/>
          <p:cNvSpPr/>
          <p:nvPr/>
        </p:nvSpPr>
        <p:spPr>
          <a:xfrm>
            <a:off x="457200" y="137160"/>
            <a:ext cx="8229600" cy="457200"/>
          </a:xfrm>
          <a:prstGeom prst="rect">
            <a:avLst/>
          </a:prstGeom>
          <a:noFill/>
          <a:ln/>
        </p:spPr>
        <p:txBody>
          <a:bodyPr wrap="square" rtlCol="0" anchor="ctr"/>
          <a:lstStyle/>
          <a:p>
            <a:pPr algn="l" indent="0" marL="0">
              <a:buNone/>
            </a:pPr>
            <a:r>
              <a:rPr lang="en-US" sz="3600" b="1" dirty="0">
                <a:solidFill>
                  <a:srgbClr val="FFFFFF"/>
                </a:solidFill>
              </a:rPr>
              <a:t>Phase A: T0 Raycast (1/2) - Setup</a:t>
            </a:r>
            <a:endParaRPr lang="en-US" sz="3600" dirty="0"/>
          </a:p>
        </p:txBody>
      </p:sp>
      <p:sp>
        <p:nvSpPr>
          <p:cNvPr id="4" name="Text 2"/>
          <p:cNvSpPr/>
          <p:nvPr/>
        </p:nvSpPr>
        <p:spPr>
          <a:xfrm>
            <a:off x="457200" y="914400"/>
            <a:ext cx="8229600" cy="365760"/>
          </a:xfrm>
          <a:prstGeom prst="rect">
            <a:avLst/>
          </a:prstGeom>
          <a:noFill/>
          <a:ln/>
        </p:spPr>
        <p:txBody>
          <a:bodyPr wrap="square" rtlCol="0" anchor="ctr"/>
          <a:lstStyle/>
          <a:p>
            <a:pPr indent="0" marL="0">
              <a:buNone/>
            </a:pPr>
            <a:r>
              <a:rPr lang="en-US" sz="1600" b="1" dirty="0">
                <a:solidFill>
                  <a:srgbClr val="065A82"/>
                </a:solidFill>
              </a:rPr>
              <a:t>Step 1: Load tunnel mesh</a:t>
            </a:r>
            <a:endParaRPr lang="en-US" sz="1600" dirty="0"/>
          </a:p>
        </p:txBody>
      </p:sp>
      <p:sp>
        <p:nvSpPr>
          <p:cNvPr id="5" name="Text 3"/>
          <p:cNvSpPr/>
          <p:nvPr/>
        </p:nvSpPr>
        <p:spPr>
          <a:xfrm>
            <a:off x="640080" y="1371600"/>
            <a:ext cx="7772400" cy="274320"/>
          </a:xfrm>
          <a:prstGeom prst="rect">
            <a:avLst/>
          </a:prstGeom>
          <a:noFill/>
          <a:ln/>
        </p:spPr>
        <p:txBody>
          <a:bodyPr wrap="square" lIns="0" tIns="0" rIns="0" bIns="0" rtlCol="0" anchor="t"/>
          <a:lstStyle/>
          <a:p>
            <a:pPr algn="l" indent="0" marL="0">
              <a:buNone/>
            </a:pPr>
            <a:r>
              <a:rPr lang="en-US" sz="1400" dirty="0">
                <a:solidFill>
                  <a:srgbClr val="1A1A1A"/>
                </a:solidFill>
              </a:rPr>
              <a:t>Input: tunnel_lidar_scene.blend (clean mesh)</a:t>
            </a:r>
            <a:endParaRPr lang="en-US" sz="1400" dirty="0"/>
          </a:p>
        </p:txBody>
      </p:sp>
      <p:sp>
        <p:nvSpPr>
          <p:cNvPr id="6" name="Text 4"/>
          <p:cNvSpPr/>
          <p:nvPr/>
        </p:nvSpPr>
        <p:spPr>
          <a:xfrm>
            <a:off x="640080" y="1737360"/>
            <a:ext cx="7772400" cy="274320"/>
          </a:xfrm>
          <a:prstGeom prst="rect">
            <a:avLst/>
          </a:prstGeom>
          <a:noFill/>
          <a:ln/>
        </p:spPr>
        <p:txBody>
          <a:bodyPr wrap="square" lIns="0" tIns="0" rIns="0" bIns="0" rtlCol="0" anchor="t"/>
          <a:lstStyle/>
          <a:p>
            <a:pPr algn="l" indent="0" marL="0">
              <a:buNone/>
            </a:pPr>
            <a:r>
              <a:rPr lang="en-US" sz="1400" dirty="0">
                <a:solidFill>
                  <a:srgbClr val="1A1A1A"/>
                </a:solidFill>
              </a:rPr>
              <a:t>Tunnel_Lining: 16,100 vertices (smooth surface)</a:t>
            </a:r>
            <a:endParaRPr lang="en-US" sz="1400" dirty="0"/>
          </a:p>
        </p:txBody>
      </p:sp>
      <p:sp>
        <p:nvSpPr>
          <p:cNvPr id="7" name="Text 5"/>
          <p:cNvSpPr/>
          <p:nvPr/>
        </p:nvSpPr>
        <p:spPr>
          <a:xfrm>
            <a:off x="457200" y="2286000"/>
            <a:ext cx="8229600" cy="365760"/>
          </a:xfrm>
          <a:prstGeom prst="rect">
            <a:avLst/>
          </a:prstGeom>
          <a:noFill/>
          <a:ln/>
        </p:spPr>
        <p:txBody>
          <a:bodyPr wrap="square" rtlCol="0" anchor="ctr"/>
          <a:lstStyle/>
          <a:p>
            <a:pPr indent="0" marL="0">
              <a:buNone/>
            </a:pPr>
            <a:r>
              <a:rPr lang="en-US" sz="1600" b="1" dirty="0">
                <a:solidFill>
                  <a:srgbClr val="065A82"/>
                </a:solidFill>
              </a:rPr>
              <a:t>Step 2: Create scanner sphere</a:t>
            </a:r>
            <a:endParaRPr lang="en-US" sz="1600" dirty="0"/>
          </a:p>
        </p:txBody>
      </p:sp>
      <p:sp>
        <p:nvSpPr>
          <p:cNvPr id="8" name="Shape 6"/>
          <p:cNvSpPr/>
          <p:nvPr/>
        </p:nvSpPr>
        <p:spPr>
          <a:xfrm>
            <a:off x="640080" y="2743200"/>
            <a:ext cx="7772400" cy="914400"/>
          </a:xfrm>
          <a:prstGeom prst="rect">
            <a:avLst/>
          </a:prstGeom>
          <a:solidFill>
            <a:srgbClr val="1E2A33"/>
          </a:solidFill>
          <a:ln w="12700">
            <a:solidFill>
              <a:srgbClr val="02C39A"/>
            </a:solidFill>
            <a:prstDash val="solid"/>
          </a:ln>
        </p:spPr>
      </p:sp>
      <p:sp>
        <p:nvSpPr>
          <p:cNvPr id="9" name="Text 7"/>
          <p:cNvSpPr/>
          <p:nvPr/>
        </p:nvSpPr>
        <p:spPr>
          <a:xfrm>
            <a:off x="777240" y="2834640"/>
            <a:ext cx="7498080" cy="731520"/>
          </a:xfrm>
          <a:prstGeom prst="rect">
            <a:avLst/>
          </a:prstGeom>
          <a:noFill/>
          <a:ln/>
        </p:spPr>
        <p:txBody>
          <a:bodyPr wrap="square" lIns="63500" tIns="63500" rIns="63500" bIns="63500" rtlCol="0" anchor="t"/>
          <a:lstStyle/>
          <a:p>
            <a:pPr algn="l" indent="0" marL="0">
              <a:buNone/>
            </a:pPr>
            <a:r>
              <a:rPr lang="en-US" sz="1000" dirty="0">
                <a:solidFill>
                  <a:srgbClr val="FFFFFF"/>
                </a:solidFill>
              </a:rPr>
              <a:t>Scanner location: (0, 10, 3) meters</a:t>
            </a:r>
            <a:endParaRPr lang="en-US" sz="1000" dirty="0"/>
          </a:p>
          <a:p>
            <a:pPr algn="l" indent="0" marL="0">
              <a:buNone/>
            </a:pPr>
            <a:r>
              <a:rPr lang="en-US" sz="1000" dirty="0">
                <a:solidFill>
                  <a:srgbClr val="FFFFFF"/>
                </a:solidFill>
              </a:rPr>
              <a:t>Sphere radius: 0.1 m</a:t>
            </a:r>
            <a:endParaRPr lang="en-US" sz="1000" dirty="0"/>
          </a:p>
          <a:p>
            <a:pPr algn="l" indent="0" marL="0">
              <a:buNone/>
            </a:pPr>
            <a:r>
              <a:rPr lang="en-US" sz="1000" dirty="0">
                <a:solidFill>
                  <a:srgbClr val="FFFFFF"/>
                </a:solidFill>
              </a:rPr>
              <a:t>Subdivisions: 32×16 (512 rays)</a:t>
            </a:r>
            <a:endParaRPr lang="en-US" sz="1000" dirty="0"/>
          </a:p>
        </p:txBody>
      </p:sp>
      <p:sp>
        <p:nvSpPr>
          <p:cNvPr id="10" name="Text 8"/>
          <p:cNvSpPr/>
          <p:nvPr/>
        </p:nvSpPr>
        <p:spPr>
          <a:xfrm>
            <a:off x="640080" y="3840480"/>
            <a:ext cx="7772400" cy="365760"/>
          </a:xfrm>
          <a:prstGeom prst="rect">
            <a:avLst/>
          </a:prstGeom>
          <a:noFill/>
          <a:ln/>
        </p:spPr>
        <p:txBody>
          <a:bodyPr wrap="square" rtlCol="0" anchor="ctr"/>
          <a:lstStyle/>
          <a:p>
            <a:pPr indent="0" marL="0">
              <a:buNone/>
            </a:pPr>
            <a:r>
              <a:rPr lang="en-US" sz="1200" i="1" dirty="0">
                <a:solidFill>
                  <a:srgbClr val="1A1A1A"/>
                </a:solidFill>
              </a:rPr>
              <a:t>Position: 10m along tunnel, 3m height (typical probe location)</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065A82"/>
          </a:solidFill>
          <a:ln/>
        </p:spPr>
      </p:sp>
      <p:sp>
        <p:nvSpPr>
          <p:cNvPr id="3" name="Text 1"/>
          <p:cNvSpPr/>
          <p:nvPr/>
        </p:nvSpPr>
        <p:spPr>
          <a:xfrm>
            <a:off x="457200" y="137160"/>
            <a:ext cx="8229600" cy="457200"/>
          </a:xfrm>
          <a:prstGeom prst="rect">
            <a:avLst/>
          </a:prstGeom>
          <a:noFill/>
          <a:ln/>
        </p:spPr>
        <p:txBody>
          <a:bodyPr wrap="square" rtlCol="0" anchor="ctr"/>
          <a:lstStyle/>
          <a:p>
            <a:pPr algn="l" indent="0" marL="0">
              <a:buNone/>
            </a:pPr>
            <a:r>
              <a:rPr lang="en-US" sz="3600" b="1" dirty="0">
                <a:solidFill>
                  <a:srgbClr val="FFFFFF"/>
                </a:solidFill>
              </a:rPr>
              <a:t>Phase A: T0 Raycast (2/2) - Execute</a:t>
            </a:r>
            <a:endParaRPr lang="en-US" sz="3600" dirty="0"/>
          </a:p>
        </p:txBody>
      </p:sp>
      <p:sp>
        <p:nvSpPr>
          <p:cNvPr id="4" name="Text 2"/>
          <p:cNvSpPr/>
          <p:nvPr/>
        </p:nvSpPr>
        <p:spPr>
          <a:xfrm>
            <a:off x="457200" y="914400"/>
            <a:ext cx="8229600" cy="365760"/>
          </a:xfrm>
          <a:prstGeom prst="rect">
            <a:avLst/>
          </a:prstGeom>
          <a:noFill/>
          <a:ln/>
        </p:spPr>
        <p:txBody>
          <a:bodyPr wrap="square" rtlCol="0" anchor="ctr"/>
          <a:lstStyle/>
          <a:p>
            <a:pPr indent="0" marL="0">
              <a:buNone/>
            </a:pPr>
            <a:r>
              <a:rPr lang="en-US" sz="1600" b="1" dirty="0">
                <a:solidFill>
                  <a:srgbClr val="065A82"/>
                </a:solidFill>
              </a:rPr>
              <a:t>Step 3: Raycast and export</a:t>
            </a:r>
            <a:endParaRPr lang="en-US" sz="1600" dirty="0"/>
          </a:p>
        </p:txBody>
      </p:sp>
      <p:sp>
        <p:nvSpPr>
          <p:cNvPr id="5" name="Shape 3"/>
          <p:cNvSpPr/>
          <p:nvPr/>
        </p:nvSpPr>
        <p:spPr>
          <a:xfrm>
            <a:off x="457200" y="1463040"/>
            <a:ext cx="8229600" cy="2286000"/>
          </a:xfrm>
          <a:prstGeom prst="rect">
            <a:avLst/>
          </a:prstGeom>
          <a:solidFill>
            <a:srgbClr val="1E2A33"/>
          </a:solidFill>
          <a:ln w="12700">
            <a:solidFill>
              <a:srgbClr val="02C39A"/>
            </a:solidFill>
            <a:prstDash val="solid"/>
          </a:ln>
        </p:spPr>
      </p:sp>
      <p:sp>
        <p:nvSpPr>
          <p:cNvPr id="6" name="Text 4"/>
          <p:cNvSpPr/>
          <p:nvPr/>
        </p:nvSpPr>
        <p:spPr>
          <a:xfrm>
            <a:off x="594360" y="1554480"/>
            <a:ext cx="7955280" cy="2103120"/>
          </a:xfrm>
          <a:prstGeom prst="rect">
            <a:avLst/>
          </a:prstGeom>
          <a:noFill/>
          <a:ln/>
        </p:spPr>
        <p:txBody>
          <a:bodyPr wrap="square" lIns="63500" tIns="63500" rIns="63500" bIns="63500" rtlCol="0" anchor="t"/>
          <a:lstStyle/>
          <a:p>
            <a:pPr algn="l" indent="0" marL="0">
              <a:buNone/>
            </a:pPr>
            <a:r>
              <a:rPr lang="en-US" sz="1000" dirty="0">
                <a:solidFill>
                  <a:srgbClr val="FFFFFF"/>
                </a:solidFill>
              </a:rPr>
              <a:t>for each vertex in scanner_sphere:</a:t>
            </a:r>
            <a:endParaRPr lang="en-US" sz="1000" dirty="0"/>
          </a:p>
          <a:p>
            <a:pPr algn="l" indent="0" marL="0">
              <a:buNone/>
            </a:pPr>
            <a:r>
              <a:rPr lang="en-US" sz="1000" dirty="0">
                <a:solidFill>
                  <a:srgbClr val="FFFFFF"/>
                </a:solidFill>
              </a:rPr>
              <a:t>  world_pos = scanner_center + vertex_offset</a:t>
            </a:r>
            <a:endParaRPr lang="en-US" sz="1000" dirty="0"/>
          </a:p>
          <a:p>
            <a:pPr algn="l" indent="0" marL="0">
              <a:buNone/>
            </a:pPr>
            <a:r>
              <a:rPr lang="en-US" sz="1000" dirty="0">
                <a:solidFill>
                  <a:srgbClr val="FFFFFF"/>
                </a:solidFill>
              </a:rPr>
              <a:t>  ray_direction = (world_pos - center).normalized()</a:t>
            </a:r>
            <a:endParaRPr lang="en-US" sz="1000" dirty="0"/>
          </a:p>
          <a:p>
            <a:pPr algn="l" indent="0" marL="0">
              <a:buNone/>
            </a:pPr>
            <a:endParaRPr lang="en-US" sz="1000" dirty="0"/>
          </a:p>
          <a:p>
            <a:pPr algn="l" indent="0" marL="0">
              <a:buNone/>
            </a:pPr>
            <a:r>
              <a:rPr lang="en-US" sz="1000" dirty="0">
                <a:solidFill>
                  <a:srgbClr val="FFFFFF"/>
                </a:solidFill>
              </a:rPr>
              <a:t>  hit_loc, hit_dist = raycast(world_pos, ray_dir, tunnel_lining)</a:t>
            </a:r>
            <a:endParaRPr lang="en-US" sz="1000" dirty="0"/>
          </a:p>
          <a:p>
            <a:pPr algn="l" indent="0" marL="0">
              <a:buNone/>
            </a:pPr>
            <a:endParaRPr lang="en-US" sz="1000" dirty="0"/>
          </a:p>
          <a:p>
            <a:pPr algn="l" indent="0" marL="0">
              <a:buNone/>
            </a:pPr>
            <a:r>
              <a:rPr lang="en-US" sz="1000" dirty="0">
                <a:solidFill>
                  <a:srgbClr val="FFFFFF"/>
                </a:solidFill>
              </a:rPr>
              <a:t>  if hit:</a:t>
            </a:r>
            <a:endParaRPr lang="en-US" sz="1000" dirty="0"/>
          </a:p>
          <a:p>
            <a:pPr algn="l" indent="0" marL="0">
              <a:buNone/>
            </a:pPr>
            <a:r>
              <a:rPr lang="en-US" sz="1000" dirty="0">
                <a:solidFill>
                  <a:srgbClr val="FFFFFF"/>
                </a:solidFill>
              </a:rPr>
              <a:t>    noise_mm = 5 + (hit_dist / 10) * 2</a:t>
            </a:r>
            <a:endParaRPr lang="en-US" sz="1000" dirty="0"/>
          </a:p>
          <a:p>
            <a:pPr algn="l" indent="0" marL="0">
              <a:buNone/>
            </a:pPr>
            <a:r>
              <a:rPr lang="en-US" sz="1000" dirty="0">
                <a:solidFill>
                  <a:srgbClr val="FFFFFF"/>
                </a:solidFill>
              </a:rPr>
              <a:t>    noisy_point = hit_loc + gaussian(0, noise_mm/1000)</a:t>
            </a:r>
            <a:endParaRPr lang="en-US" sz="1000" dirty="0"/>
          </a:p>
          <a:p>
            <a:pPr algn="l" indent="0" marL="0">
              <a:buNone/>
            </a:pPr>
            <a:r>
              <a:rPr lang="en-US" sz="1000" dirty="0">
                <a:solidFill>
                  <a:srgbClr val="FFFFFF"/>
                </a:solidFill>
              </a:rPr>
              <a:t>    T0_points.append(noisy_point)</a:t>
            </a:r>
            <a:endParaRPr lang="en-US" sz="1000" dirty="0"/>
          </a:p>
          <a:p>
            <a:pPr algn="l" indent="0" marL="0">
              <a:buNone/>
            </a:pPr>
            <a:endParaRPr lang="en-US" sz="1000" dirty="0"/>
          </a:p>
          <a:p>
            <a:pPr algn="l" indent="0" marL="0">
              <a:buNone/>
            </a:pPr>
            <a:r>
              <a:rPr lang="en-US" sz="1000" dirty="0">
                <a:solidFill>
                  <a:srgbClr val="FFFFFF"/>
                </a:solidFill>
              </a:rPr>
              <a:t>export T0_points → T0.las</a:t>
            </a:r>
            <a:endParaRPr lang="en-US" sz="1000" dirty="0"/>
          </a:p>
        </p:txBody>
      </p:sp>
      <p:sp>
        <p:nvSpPr>
          <p:cNvPr id="7" name="Text 5"/>
          <p:cNvSpPr/>
          <p:nvPr/>
        </p:nvSpPr>
        <p:spPr>
          <a:xfrm>
            <a:off x="457200" y="3931920"/>
            <a:ext cx="8229600" cy="365760"/>
          </a:xfrm>
          <a:prstGeom prst="rect">
            <a:avLst/>
          </a:prstGeom>
          <a:noFill/>
          <a:ln/>
        </p:spPr>
        <p:txBody>
          <a:bodyPr wrap="square" rtlCol="0" anchor="ctr"/>
          <a:lstStyle/>
          <a:p>
            <a:pPr indent="0" marL="0">
              <a:buNone/>
            </a:pPr>
            <a:r>
              <a:rPr lang="en-US" sz="1200" b="1" dirty="0">
                <a:solidFill>
                  <a:srgbClr val="02C39A"/>
                </a:solidFill>
              </a:rPr>
              <a:t>Output: T0.las (364 points, noise-corrupted clean reference)</a:t>
            </a:r>
            <a:endParaRPr lang="en-US" sz="1200" dirty="0"/>
          </a:p>
        </p:txBody>
      </p:sp>
      <p:sp>
        <p:nvSpPr>
          <p:cNvPr id="8" name="Shape 6"/>
          <p:cNvSpPr/>
          <p:nvPr/>
        </p:nvSpPr>
        <p:spPr>
          <a:xfrm>
            <a:off x="457200" y="4480560"/>
            <a:ext cx="8229600" cy="822960"/>
          </a:xfrm>
          <a:prstGeom prst="rect">
            <a:avLst/>
          </a:prstGeom>
          <a:solidFill>
            <a:srgbClr val="1E2A33"/>
          </a:solidFill>
          <a:ln w="12700">
            <a:solidFill>
              <a:srgbClr val="02C39A"/>
            </a:solidFill>
            <a:prstDash val="solid"/>
          </a:ln>
        </p:spPr>
      </p:sp>
      <p:sp>
        <p:nvSpPr>
          <p:cNvPr id="9" name="Text 7"/>
          <p:cNvSpPr/>
          <p:nvPr/>
        </p:nvSpPr>
        <p:spPr>
          <a:xfrm>
            <a:off x="594360" y="4572000"/>
            <a:ext cx="7955280" cy="640080"/>
          </a:xfrm>
          <a:prstGeom prst="rect">
            <a:avLst/>
          </a:prstGeom>
          <a:noFill/>
          <a:ln/>
        </p:spPr>
        <p:txBody>
          <a:bodyPr wrap="square" lIns="63500" tIns="63500" rIns="63500" bIns="63500" rtlCol="0" anchor="t"/>
          <a:lstStyle/>
          <a:p>
            <a:pPr algn="l" indent="0" marL="0">
              <a:buNone/>
            </a:pPr>
            <a:r>
              <a:rPr lang="en-US" sz="1000" dirty="0">
                <a:solidFill>
                  <a:srgbClr val="FFFFFF"/>
                </a:solidFill>
              </a:rPr>
              <a:t>Radius (fitted): 3.0000 m</a:t>
            </a:r>
            <a:endParaRPr lang="en-US" sz="1000" dirty="0"/>
          </a:p>
          <a:p>
            <a:pPr algn="l" indent="0" marL="0">
              <a:buNone/>
            </a:pPr>
            <a:r>
              <a:rPr lang="en-US" sz="1000" dirty="0">
                <a:solidFill>
                  <a:srgbClr val="FFFFFF"/>
                </a:solidFill>
              </a:rPr>
              <a:t>Eccentricity: 0.1 mm</a:t>
            </a:r>
            <a:endParaRPr lang="en-US" sz="1000" dirty="0"/>
          </a:p>
          <a:p>
            <a:pPr algn="l" indent="0" marL="0">
              <a:buNone/>
            </a:pPr>
            <a:r>
              <a:rPr lang="en-US" sz="1000" dirty="0">
                <a:solidFill>
                  <a:srgbClr val="FFFFFF"/>
                </a:solidFill>
              </a:rPr>
              <a:t>Ovality: 0.05%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065A82"/>
          </a:solidFill>
          <a:ln/>
        </p:spPr>
      </p:sp>
      <p:sp>
        <p:nvSpPr>
          <p:cNvPr id="3" name="Text 1"/>
          <p:cNvSpPr/>
          <p:nvPr/>
        </p:nvSpPr>
        <p:spPr>
          <a:xfrm>
            <a:off x="457200" y="137160"/>
            <a:ext cx="8229600" cy="457200"/>
          </a:xfrm>
          <a:prstGeom prst="rect">
            <a:avLst/>
          </a:prstGeom>
          <a:noFill/>
          <a:ln/>
        </p:spPr>
        <p:txBody>
          <a:bodyPr wrap="square" rtlCol="0" anchor="ctr"/>
          <a:lstStyle/>
          <a:p>
            <a:pPr algn="l" indent="0" marL="0">
              <a:buNone/>
            </a:pPr>
            <a:r>
              <a:rPr lang="en-US" sz="3600" b="1" dirty="0">
                <a:solidFill>
                  <a:srgbClr val="FFFFFF"/>
                </a:solidFill>
              </a:rPr>
              <a:t>Phase B: Inject Deformation (1/2)</a:t>
            </a:r>
            <a:endParaRPr lang="en-US" sz="3600" dirty="0"/>
          </a:p>
        </p:txBody>
      </p:sp>
      <p:sp>
        <p:nvSpPr>
          <p:cNvPr id="4" name="Text 2"/>
          <p:cNvSpPr/>
          <p:nvPr/>
        </p:nvSpPr>
        <p:spPr>
          <a:xfrm>
            <a:off x="457200" y="914400"/>
            <a:ext cx="8229600" cy="365760"/>
          </a:xfrm>
          <a:prstGeom prst="rect">
            <a:avLst/>
          </a:prstGeom>
          <a:noFill/>
          <a:ln/>
        </p:spPr>
        <p:txBody>
          <a:bodyPr wrap="square" rtlCol="0" anchor="ctr"/>
          <a:lstStyle/>
          <a:p>
            <a:pPr indent="0" marL="0">
              <a:buNone/>
            </a:pPr>
            <a:r>
              <a:rPr lang="en-US" sz="1600" b="1" dirty="0">
                <a:solidFill>
                  <a:srgbClr val="065A82"/>
                </a:solidFill>
              </a:rPr>
              <a:t>Define ground truth deformation parameters</a:t>
            </a:r>
            <a:endParaRPr lang="en-US" sz="1600" dirty="0"/>
          </a:p>
        </p:txBody>
      </p:sp>
      <p:sp>
        <p:nvSpPr>
          <p:cNvPr id="5" name="Shape 3"/>
          <p:cNvSpPr/>
          <p:nvPr/>
        </p:nvSpPr>
        <p:spPr>
          <a:xfrm>
            <a:off x="457200" y="1463040"/>
            <a:ext cx="8229600" cy="2560320"/>
          </a:xfrm>
          <a:prstGeom prst="rect">
            <a:avLst/>
          </a:prstGeom>
          <a:solidFill>
            <a:srgbClr val="1E2A33"/>
          </a:solidFill>
          <a:ln w="12700">
            <a:solidFill>
              <a:srgbClr val="02C39A"/>
            </a:solidFill>
            <a:prstDash val="solid"/>
          </a:ln>
        </p:spPr>
      </p:sp>
      <p:sp>
        <p:nvSpPr>
          <p:cNvPr id="6" name="Text 4"/>
          <p:cNvSpPr/>
          <p:nvPr/>
        </p:nvSpPr>
        <p:spPr>
          <a:xfrm>
            <a:off x="594360" y="1554480"/>
            <a:ext cx="7955280" cy="2377440"/>
          </a:xfrm>
          <a:prstGeom prst="rect">
            <a:avLst/>
          </a:prstGeom>
          <a:noFill/>
          <a:ln/>
        </p:spPr>
        <p:txBody>
          <a:bodyPr wrap="square" lIns="63500" tIns="63500" rIns="63500" bIns="63500" rtlCol="0" anchor="t"/>
          <a:lstStyle/>
          <a:p>
            <a:pPr algn="l" indent="0" marL="0">
              <a:buNone/>
            </a:pPr>
            <a:r>
              <a:rPr lang="en-US" sz="1000" dirty="0">
                <a:solidFill>
                  <a:srgbClr val="FFFFFF"/>
                </a:solidFill>
              </a:rPr>
              <a:t>Deformation 1 (Crown settlement):</a:t>
            </a:r>
            <a:endParaRPr lang="en-US" sz="1000" dirty="0"/>
          </a:p>
          <a:p>
            <a:pPr algn="l" indent="0" marL="0">
              <a:buNone/>
            </a:pPr>
            <a:r>
              <a:rPr lang="en-US" sz="1000" dirty="0">
                <a:solidFill>
                  <a:srgbClr val="FFFFFF"/>
                </a:solidFill>
              </a:rPr>
              <a:t>  ├─ Location: chainage 20 m</a:t>
            </a:r>
            <a:endParaRPr lang="en-US" sz="1000" dirty="0"/>
          </a:p>
          <a:p>
            <a:pPr algn="l" indent="0" marL="0">
              <a:buNone/>
            </a:pPr>
            <a:r>
              <a:rPr lang="en-US" sz="1000" dirty="0">
                <a:solidFill>
                  <a:srgbClr val="FFFFFF"/>
                </a:solidFill>
              </a:rPr>
              <a:t>  ├─ Magnitude: -7 mm (downward)</a:t>
            </a:r>
            <a:endParaRPr lang="en-US" sz="1000" dirty="0"/>
          </a:p>
          <a:p>
            <a:pPr algn="l" indent="0" marL="0">
              <a:buNone/>
            </a:pPr>
            <a:r>
              <a:rPr lang="en-US" sz="1000" dirty="0">
                <a:solidFill>
                  <a:srgbClr val="FFFFFF"/>
                </a:solidFill>
              </a:rPr>
              <a:t>  └─ Extent: ±2m gaussian taper</a:t>
            </a:r>
            <a:endParaRPr lang="en-US" sz="1000" dirty="0"/>
          </a:p>
          <a:p>
            <a:pPr algn="l" indent="0" marL="0">
              <a:buNone/>
            </a:pPr>
            <a:endParaRPr lang="en-US" sz="1000" dirty="0"/>
          </a:p>
          <a:p>
            <a:pPr algn="l" indent="0" marL="0">
              <a:buNone/>
            </a:pPr>
            <a:r>
              <a:rPr lang="en-US" sz="1000" dirty="0">
                <a:solidFill>
                  <a:srgbClr val="FFFFFF"/>
                </a:solidFill>
              </a:rPr>
              <a:t>Deformation 2 (Sidewall convergence):</a:t>
            </a:r>
            <a:endParaRPr lang="en-US" sz="1000" dirty="0"/>
          </a:p>
          <a:p>
            <a:pPr algn="l" indent="0" marL="0">
              <a:buNone/>
            </a:pPr>
            <a:r>
              <a:rPr lang="en-US" sz="1000" dirty="0">
                <a:solidFill>
                  <a:srgbClr val="FFFFFF"/>
                </a:solidFill>
              </a:rPr>
              <a:t>  ├─ Location: chainage 45 m</a:t>
            </a:r>
            <a:endParaRPr lang="en-US" sz="1000" dirty="0"/>
          </a:p>
          <a:p>
            <a:pPr algn="l" indent="0" marL="0">
              <a:buNone/>
            </a:pPr>
            <a:r>
              <a:rPr lang="en-US" sz="1000" dirty="0">
                <a:solidFill>
                  <a:srgbClr val="FFFFFF"/>
                </a:solidFill>
              </a:rPr>
              <a:t>  ├─ Magnitude: -5 mm (inward)</a:t>
            </a:r>
            <a:endParaRPr lang="en-US" sz="1000" dirty="0"/>
          </a:p>
          <a:p>
            <a:pPr algn="l" indent="0" marL="0">
              <a:buNone/>
            </a:pPr>
            <a:r>
              <a:rPr lang="en-US" sz="1000" dirty="0">
                <a:solidFill>
                  <a:srgbClr val="FFFFFF"/>
                </a:solidFill>
              </a:rPr>
              <a:t>  └─ Extent: ±3m gaussian taper</a:t>
            </a:r>
            <a:endParaRPr lang="en-US" sz="1000" dirty="0"/>
          </a:p>
          <a:p>
            <a:pPr algn="l" indent="0" marL="0">
              <a:buNone/>
            </a:pPr>
            <a:endParaRPr lang="en-US" sz="1000" dirty="0"/>
          </a:p>
          <a:p>
            <a:pPr algn="l" indent="0" marL="0">
              <a:buNone/>
            </a:pPr>
            <a:r>
              <a:rPr lang="en-US" sz="1000" dirty="0">
                <a:solidFill>
                  <a:srgbClr val="FFFFFF"/>
                </a:solidFill>
              </a:rPr>
              <a:t>Deformation 3 (Local damage):</a:t>
            </a:r>
            <a:endParaRPr lang="en-US" sz="1000" dirty="0"/>
          </a:p>
          <a:p>
            <a:pPr algn="l" indent="0" marL="0">
              <a:buNone/>
            </a:pPr>
            <a:r>
              <a:rPr lang="en-US" sz="1000" dirty="0">
                <a:solidFill>
                  <a:srgbClr val="FFFFFF"/>
                </a:solidFill>
              </a:rPr>
              <a:t>  ├─ Location: chainage 65 m</a:t>
            </a:r>
            <a:endParaRPr lang="en-US" sz="1000" dirty="0"/>
          </a:p>
          <a:p>
            <a:pPr algn="l" indent="0" marL="0">
              <a:buNone/>
            </a:pPr>
            <a:r>
              <a:rPr lang="en-US" sz="1000" dirty="0">
                <a:solidFill>
                  <a:srgbClr val="FFFFFF"/>
                </a:solidFill>
              </a:rPr>
              <a:t>  ├─ Magnitude: -15 mm (localized)</a:t>
            </a:r>
            <a:endParaRPr lang="en-US" sz="1000" dirty="0"/>
          </a:p>
          <a:p>
            <a:pPr algn="l" indent="0" marL="0">
              <a:buNone/>
            </a:pPr>
            <a:r>
              <a:rPr lang="en-US" sz="1000" dirty="0">
                <a:solidFill>
                  <a:srgbClr val="FFFFFF"/>
                </a:solidFill>
              </a:rPr>
              <a:t>  └─ Type: point defect</a:t>
            </a:r>
            <a:endParaRPr lang="en-US" sz="1000" dirty="0"/>
          </a:p>
        </p:txBody>
      </p:sp>
      <p:sp>
        <p:nvSpPr>
          <p:cNvPr id="7" name="Text 5"/>
          <p:cNvSpPr/>
          <p:nvPr/>
        </p:nvSpPr>
        <p:spPr>
          <a:xfrm>
            <a:off x="457200" y="4206240"/>
            <a:ext cx="8229600" cy="365760"/>
          </a:xfrm>
          <a:prstGeom prst="rect">
            <a:avLst/>
          </a:prstGeom>
          <a:noFill/>
          <a:ln/>
        </p:spPr>
        <p:txBody>
          <a:bodyPr wrap="square" rtlCol="0" anchor="ctr"/>
          <a:lstStyle/>
          <a:p>
            <a:pPr indent="0" marL="0">
              <a:buNone/>
            </a:pPr>
            <a:r>
              <a:rPr lang="en-US" sz="1200" i="1" dirty="0">
                <a:solidFill>
                  <a:srgbClr val="1A1A1A"/>
                </a:solidFill>
              </a:rPr>
              <a:t>Record in ground_truth.csv for later comparison</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065A82"/>
          </a:solidFill>
          <a:ln/>
        </p:spPr>
      </p:sp>
      <p:sp>
        <p:nvSpPr>
          <p:cNvPr id="3" name="Text 1"/>
          <p:cNvSpPr/>
          <p:nvPr/>
        </p:nvSpPr>
        <p:spPr>
          <a:xfrm>
            <a:off x="457200" y="137160"/>
            <a:ext cx="8229600" cy="457200"/>
          </a:xfrm>
          <a:prstGeom prst="rect">
            <a:avLst/>
          </a:prstGeom>
          <a:noFill/>
          <a:ln/>
        </p:spPr>
        <p:txBody>
          <a:bodyPr wrap="square" rtlCol="0" anchor="ctr"/>
          <a:lstStyle/>
          <a:p>
            <a:pPr algn="l" indent="0" marL="0">
              <a:buNone/>
            </a:pPr>
            <a:r>
              <a:rPr lang="en-US" sz="3600" b="1" dirty="0">
                <a:solidFill>
                  <a:srgbClr val="FFFFFF"/>
                </a:solidFill>
              </a:rPr>
              <a:t>Phase B: Inject Deformation (2/2)</a:t>
            </a:r>
            <a:endParaRPr lang="en-US" sz="3600" dirty="0"/>
          </a:p>
        </p:txBody>
      </p:sp>
      <p:sp>
        <p:nvSpPr>
          <p:cNvPr id="4" name="Text 2"/>
          <p:cNvSpPr/>
          <p:nvPr/>
        </p:nvSpPr>
        <p:spPr>
          <a:xfrm>
            <a:off x="457200" y="914400"/>
            <a:ext cx="8229600" cy="365760"/>
          </a:xfrm>
          <a:prstGeom prst="rect">
            <a:avLst/>
          </a:prstGeom>
          <a:noFill/>
          <a:ln/>
        </p:spPr>
        <p:txBody>
          <a:bodyPr wrap="square" rtlCol="0" anchor="ctr"/>
          <a:lstStyle/>
          <a:p>
            <a:pPr indent="0" marL="0">
              <a:buNone/>
            </a:pPr>
            <a:r>
              <a:rPr lang="en-US" sz="1600" b="1" dirty="0">
                <a:solidFill>
                  <a:srgbClr val="065A82"/>
                </a:solidFill>
              </a:rPr>
              <a:t>Modify Blender mesh</a:t>
            </a:r>
            <a:endParaRPr lang="en-US" sz="1600" dirty="0"/>
          </a:p>
        </p:txBody>
      </p:sp>
      <p:sp>
        <p:nvSpPr>
          <p:cNvPr id="5" name="Shape 3"/>
          <p:cNvSpPr/>
          <p:nvPr/>
        </p:nvSpPr>
        <p:spPr>
          <a:xfrm>
            <a:off x="457200" y="1463040"/>
            <a:ext cx="8229600" cy="2377440"/>
          </a:xfrm>
          <a:prstGeom prst="rect">
            <a:avLst/>
          </a:prstGeom>
          <a:solidFill>
            <a:srgbClr val="1E2A33"/>
          </a:solidFill>
          <a:ln w="12700">
            <a:solidFill>
              <a:srgbClr val="02C39A"/>
            </a:solidFill>
            <a:prstDash val="solid"/>
          </a:ln>
        </p:spPr>
      </p:sp>
      <p:sp>
        <p:nvSpPr>
          <p:cNvPr id="6" name="Text 4"/>
          <p:cNvSpPr/>
          <p:nvPr/>
        </p:nvSpPr>
        <p:spPr>
          <a:xfrm>
            <a:off x="594360" y="1554480"/>
            <a:ext cx="7955280" cy="2194560"/>
          </a:xfrm>
          <a:prstGeom prst="rect">
            <a:avLst/>
          </a:prstGeom>
          <a:noFill/>
          <a:ln/>
        </p:spPr>
        <p:txBody>
          <a:bodyPr wrap="square" lIns="63500" tIns="63500" rIns="63500" bIns="63500" rtlCol="0" anchor="t"/>
          <a:lstStyle/>
          <a:p>
            <a:pPr algn="l" indent="0" marL="0">
              <a:buNone/>
            </a:pPr>
            <a:r>
              <a:rPr lang="en-US" sz="1000" dirty="0">
                <a:solidFill>
                  <a:srgbClr val="FFFFFF"/>
                </a:solidFill>
              </a:rPr>
              <a:t>for vertex in tunnel_lining_mesh:</a:t>
            </a:r>
            <a:endParaRPr lang="en-US" sz="1000" dirty="0"/>
          </a:p>
          <a:p>
            <a:pPr algn="l" indent="0" marL="0">
              <a:buNone/>
            </a:pPr>
            <a:r>
              <a:rPr lang="en-US" sz="1000" dirty="0">
                <a:solidFill>
                  <a:srgbClr val="FFFFFF"/>
                </a:solidFill>
              </a:rPr>
              <a:t>  y = vertex.co.y  # chainage</a:t>
            </a:r>
            <a:endParaRPr lang="en-US" sz="1000" dirty="0"/>
          </a:p>
          <a:p>
            <a:pPr algn="l" indent="0" marL="0">
              <a:buNone/>
            </a:pPr>
            <a:endParaRPr lang="en-US" sz="1000" dirty="0"/>
          </a:p>
          <a:p>
            <a:pPr algn="l" indent="0" marL="0">
              <a:buNone/>
            </a:pPr>
            <a:r>
              <a:rPr lang="en-US" sz="1000" dirty="0">
                <a:solidFill>
                  <a:srgbClr val="FFFFFF"/>
                </a:solidFill>
              </a:rPr>
              <a:t>  # Crown settlement at Y=20m</a:t>
            </a:r>
            <a:endParaRPr lang="en-US" sz="1000" dirty="0"/>
          </a:p>
          <a:p>
            <a:pPr algn="l" indent="0" marL="0">
              <a:buNone/>
            </a:pPr>
            <a:r>
              <a:rPr lang="en-US" sz="1000" dirty="0">
                <a:solidFill>
                  <a:srgbClr val="FFFFFF"/>
                </a:solidFill>
              </a:rPr>
              <a:t>  if 18 &lt; y &lt; 22:</a:t>
            </a:r>
            <a:endParaRPr lang="en-US" sz="1000" dirty="0"/>
          </a:p>
          <a:p>
            <a:pPr algn="l" indent="0" marL="0">
              <a:buNone/>
            </a:pPr>
            <a:r>
              <a:rPr lang="en-US" sz="1000" dirty="0">
                <a:solidFill>
                  <a:srgbClr val="FFFFFF"/>
                </a:solidFill>
              </a:rPr>
              <a:t>    offset = -0.007 * gaussian_taper(y - 20)</a:t>
            </a:r>
            <a:endParaRPr lang="en-US" sz="1000" dirty="0"/>
          </a:p>
          <a:p>
            <a:pPr algn="l" indent="0" marL="0">
              <a:buNone/>
            </a:pPr>
            <a:r>
              <a:rPr lang="en-US" sz="1000" dirty="0">
                <a:solidFill>
                  <a:srgbClr val="FFFFFF"/>
                </a:solidFill>
              </a:rPr>
              <a:t>    vertex.co.z += offset</a:t>
            </a:r>
            <a:endParaRPr lang="en-US" sz="1000" dirty="0"/>
          </a:p>
          <a:p>
            <a:pPr algn="l" indent="0" marL="0">
              <a:buNone/>
            </a:pPr>
            <a:endParaRPr lang="en-US" sz="1000" dirty="0"/>
          </a:p>
          <a:p>
            <a:pPr algn="l" indent="0" marL="0">
              <a:buNone/>
            </a:pPr>
            <a:r>
              <a:rPr lang="en-US" sz="1000" dirty="0">
                <a:solidFill>
                  <a:srgbClr val="FFFFFF"/>
                </a:solidFill>
              </a:rPr>
              <a:t>  # Sidewall convergence at Y=45m</a:t>
            </a:r>
            <a:endParaRPr lang="en-US" sz="1000" dirty="0"/>
          </a:p>
          <a:p>
            <a:pPr algn="l" indent="0" marL="0">
              <a:buNone/>
            </a:pPr>
            <a:r>
              <a:rPr lang="en-US" sz="1000" dirty="0">
                <a:solidFill>
                  <a:srgbClr val="FFFFFF"/>
                </a:solidFill>
              </a:rPr>
              <a:t>  if 42 &lt; y &lt; 48:</a:t>
            </a:r>
            <a:endParaRPr lang="en-US" sz="1000" dirty="0"/>
          </a:p>
          <a:p>
            <a:pPr algn="l" indent="0" marL="0">
              <a:buNone/>
            </a:pPr>
            <a:r>
              <a:rPr lang="en-US" sz="1000" dirty="0">
                <a:solidFill>
                  <a:srgbClr val="FFFFFF"/>
                </a:solidFill>
              </a:rPr>
              <a:t>    offset = -0.005 * gaussian_taper(y - 45)</a:t>
            </a:r>
            <a:endParaRPr lang="en-US" sz="1000" dirty="0"/>
          </a:p>
          <a:p>
            <a:pPr algn="l" indent="0" marL="0">
              <a:buNone/>
            </a:pPr>
            <a:r>
              <a:rPr lang="en-US" sz="1000" dirty="0">
                <a:solidFill>
                  <a:srgbClr val="FFFFFF"/>
                </a:solidFill>
              </a:rPr>
              <a:t>    vertex.co.x *= (1 + offset / radius)</a:t>
            </a:r>
            <a:endParaRPr lang="en-US" sz="1000" dirty="0"/>
          </a:p>
          <a:p>
            <a:pPr algn="l" indent="0" marL="0">
              <a:buNone/>
            </a:pPr>
            <a:r>
              <a:rPr lang="en-US" sz="1000" dirty="0">
                <a:solidFill>
                  <a:srgbClr val="FFFFFF"/>
                </a:solidFill>
              </a:rPr>
              <a:t>    vertex.co.y *= (1 + offset / radius)</a:t>
            </a:r>
            <a:endParaRPr lang="en-US" sz="1000" dirty="0"/>
          </a:p>
          <a:p>
            <a:pPr algn="l" indent="0" marL="0">
              <a:buNone/>
            </a:pPr>
            <a:endParaRPr lang="en-US" sz="1000" dirty="0"/>
          </a:p>
          <a:p>
            <a:pPr algn="l" indent="0" marL="0">
              <a:buNone/>
            </a:pPr>
            <a:r>
              <a:rPr lang="en-US" sz="1000" dirty="0">
                <a:solidFill>
                  <a:srgbClr val="FFFFFF"/>
                </a:solidFill>
              </a:rPr>
              <a:t>mesh.update()</a:t>
            </a:r>
            <a:endParaRPr lang="en-US" sz="1000" dirty="0"/>
          </a:p>
          <a:p>
            <a:pPr algn="l" indent="0" marL="0">
              <a:buNone/>
            </a:pPr>
            <a:r>
              <a:rPr lang="en-US" sz="1000" dirty="0">
                <a:solidFill>
                  <a:srgbClr val="FFFFFF"/>
                </a:solidFill>
              </a:rPr>
              <a:t>save("tunnel_deformed.blend")</a:t>
            </a:r>
            <a:endParaRPr lang="en-US" sz="1000" dirty="0"/>
          </a:p>
        </p:txBody>
      </p:sp>
      <p:sp>
        <p:nvSpPr>
          <p:cNvPr id="7" name="Text 5"/>
          <p:cNvSpPr/>
          <p:nvPr/>
        </p:nvSpPr>
        <p:spPr>
          <a:xfrm>
            <a:off x="457200" y="4023360"/>
            <a:ext cx="8229600" cy="320040"/>
          </a:xfrm>
          <a:prstGeom prst="rect">
            <a:avLst/>
          </a:prstGeom>
          <a:noFill/>
          <a:ln/>
        </p:spPr>
        <p:txBody>
          <a:bodyPr wrap="square" rtlCol="0" anchor="ctr"/>
          <a:lstStyle/>
          <a:p>
            <a:pPr indent="0" marL="0">
              <a:buNone/>
            </a:pPr>
            <a:r>
              <a:rPr lang="en-US" sz="1200" b="1" dirty="0">
                <a:solidFill>
                  <a:srgbClr val="02C39A"/>
                </a:solidFill>
              </a:rPr>
              <a:t>Verification: Crown ↓7mm, Width ↓5mm, Mesh valid ✓</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065A82"/>
          </a:solidFill>
          <a:ln/>
        </p:spPr>
      </p:sp>
      <p:sp>
        <p:nvSpPr>
          <p:cNvPr id="3" name="Text 1"/>
          <p:cNvSpPr/>
          <p:nvPr/>
        </p:nvSpPr>
        <p:spPr>
          <a:xfrm>
            <a:off x="457200" y="137160"/>
            <a:ext cx="8229600" cy="457200"/>
          </a:xfrm>
          <a:prstGeom prst="rect">
            <a:avLst/>
          </a:prstGeom>
          <a:noFill/>
          <a:ln/>
        </p:spPr>
        <p:txBody>
          <a:bodyPr wrap="square" rtlCol="0" anchor="ctr"/>
          <a:lstStyle/>
          <a:p>
            <a:pPr algn="l" indent="0" marL="0">
              <a:buNone/>
            </a:pPr>
            <a:r>
              <a:rPr lang="en-US" sz="3600" b="1" dirty="0">
                <a:solidFill>
                  <a:srgbClr val="FFFFFF"/>
                </a:solidFill>
              </a:rPr>
              <a:t>Phase C: Tn Raycast (1/2)</a:t>
            </a:r>
            <a:endParaRPr lang="en-US" sz="3600" dirty="0"/>
          </a:p>
        </p:txBody>
      </p:sp>
      <p:sp>
        <p:nvSpPr>
          <p:cNvPr id="4" name="Text 2"/>
          <p:cNvSpPr/>
          <p:nvPr/>
        </p:nvSpPr>
        <p:spPr>
          <a:xfrm>
            <a:off x="457200" y="914400"/>
            <a:ext cx="8229600" cy="457200"/>
          </a:xfrm>
          <a:prstGeom prst="rect">
            <a:avLst/>
          </a:prstGeom>
          <a:noFill/>
          <a:ln/>
        </p:spPr>
        <p:txBody>
          <a:bodyPr wrap="square" rtlCol="0" anchor="ctr"/>
          <a:lstStyle/>
          <a:p>
            <a:pPr indent="0" marL="0">
              <a:buNone/>
            </a:pPr>
            <a:r>
              <a:rPr lang="en-US" sz="1400" b="1" dirty="0">
                <a:solidFill>
                  <a:srgbClr val="02C39A"/>
                </a:solidFill>
              </a:rPr>
              <a:t>Key rule: SAME scanner position as T0</a:t>
            </a:r>
            <a:endParaRPr lang="en-US" sz="1400" dirty="0"/>
          </a:p>
        </p:txBody>
      </p:sp>
      <p:sp>
        <p:nvSpPr>
          <p:cNvPr id="5" name="Shape 3"/>
          <p:cNvSpPr/>
          <p:nvPr/>
        </p:nvSpPr>
        <p:spPr>
          <a:xfrm>
            <a:off x="457200" y="1554480"/>
            <a:ext cx="8229600" cy="2743200"/>
          </a:xfrm>
          <a:prstGeom prst="rect">
            <a:avLst/>
          </a:prstGeom>
          <a:solidFill>
            <a:srgbClr val="1E2A33"/>
          </a:solidFill>
          <a:ln w="12700">
            <a:solidFill>
              <a:srgbClr val="02C39A"/>
            </a:solidFill>
            <a:prstDash val="solid"/>
          </a:ln>
        </p:spPr>
      </p:sp>
      <p:sp>
        <p:nvSpPr>
          <p:cNvPr id="6" name="Text 4"/>
          <p:cNvSpPr/>
          <p:nvPr/>
        </p:nvSpPr>
        <p:spPr>
          <a:xfrm>
            <a:off x="594360" y="1645920"/>
            <a:ext cx="7955280" cy="2560320"/>
          </a:xfrm>
          <a:prstGeom prst="rect">
            <a:avLst/>
          </a:prstGeom>
          <a:noFill/>
          <a:ln/>
        </p:spPr>
        <p:txBody>
          <a:bodyPr wrap="square" lIns="63500" tIns="63500" rIns="63500" bIns="63500" rtlCol="0" anchor="t"/>
          <a:lstStyle/>
          <a:p>
            <a:pPr algn="l" indent="0" marL="0">
              <a:buNone/>
            </a:pPr>
            <a:r>
              <a:rPr lang="en-US" sz="1000" dirty="0">
                <a:solidFill>
                  <a:srgbClr val="FFFFFF"/>
                </a:solidFill>
              </a:rPr>
              <a:t># CRITICAL: Same location, same sphere</a:t>
            </a:r>
            <a:endParaRPr lang="en-US" sz="1000" dirty="0"/>
          </a:p>
          <a:p>
            <a:pPr algn="l" indent="0" marL="0">
              <a:buNone/>
            </a:pPr>
            <a:r>
              <a:rPr lang="en-US" sz="1000" dirty="0">
                <a:solidFill>
                  <a:srgbClr val="FFFFFF"/>
                </a:solidFill>
              </a:rPr>
              <a:t>scanner_location = (0, 10, 3)  # IDENTICAL TO T0</a:t>
            </a:r>
            <a:endParaRPr lang="en-US" sz="1000" dirty="0"/>
          </a:p>
          <a:p>
            <a:pPr algn="l" indent="0" marL="0">
              <a:buNone/>
            </a:pPr>
            <a:r>
              <a:rPr lang="en-US" sz="1000" dirty="0">
                <a:solidFill>
                  <a:srgbClr val="FFFFFF"/>
                </a:solidFill>
              </a:rPr>
              <a:t>scanner_sphere = UV_Sphere(subdivisions=32x16, location=scanner_location)</a:t>
            </a:r>
            <a:endParaRPr lang="en-US" sz="1000" dirty="0"/>
          </a:p>
          <a:p>
            <a:pPr algn="l" indent="0" marL="0">
              <a:buNone/>
            </a:pPr>
            <a:endParaRPr lang="en-US" sz="1000" dirty="0"/>
          </a:p>
          <a:p>
            <a:pPr algn="l" indent="0" marL="0">
              <a:buNone/>
            </a:pPr>
            <a:r>
              <a:rPr lang="en-US" sz="1000" dirty="0">
                <a:solidFill>
                  <a:srgbClr val="FFFFFF"/>
                </a:solidFill>
              </a:rPr>
              <a:t># Load DEFORMED mesh (different from T0)</a:t>
            </a:r>
            <a:endParaRPr lang="en-US" sz="1000" dirty="0"/>
          </a:p>
          <a:p>
            <a:pPr algn="l" indent="0" marL="0">
              <a:buNone/>
            </a:pPr>
            <a:r>
              <a:rPr lang="en-US" sz="1000" dirty="0">
                <a:solidFill>
                  <a:srgbClr val="FFFFFF"/>
                </a:solidFill>
              </a:rPr>
              <a:t>tunnel_mesh = load("tunnel_deformed.blend").Tunnel_Lining</a:t>
            </a:r>
            <a:endParaRPr lang="en-US" sz="1000" dirty="0"/>
          </a:p>
          <a:p>
            <a:pPr algn="l" indent="0" marL="0">
              <a:buNone/>
            </a:pPr>
            <a:endParaRPr lang="en-US" sz="1000" dirty="0"/>
          </a:p>
          <a:p>
            <a:pPr algn="l" indent="0" marL="0">
              <a:buNone/>
            </a:pPr>
            <a:r>
              <a:rPr lang="en-US" sz="1000" dirty="0">
                <a:solidFill>
                  <a:srgbClr val="FFFFFF"/>
                </a:solidFill>
              </a:rPr>
              <a:t># Raycast (same algorithm as T0)</a:t>
            </a:r>
            <a:endParaRPr lang="en-US" sz="1000" dirty="0"/>
          </a:p>
          <a:p>
            <a:pPr algn="l" indent="0" marL="0">
              <a:buNone/>
            </a:pPr>
            <a:r>
              <a:rPr lang="en-US" sz="1000" dirty="0">
                <a:solidFill>
                  <a:srgbClr val="FFFFFF"/>
                </a:solidFill>
              </a:rPr>
              <a:t>for vertex in scanner_sphere:</a:t>
            </a:r>
            <a:endParaRPr lang="en-US" sz="1000" dirty="0"/>
          </a:p>
          <a:p>
            <a:pPr algn="l" indent="0" marL="0">
              <a:buNone/>
            </a:pPr>
            <a:r>
              <a:rPr lang="en-US" sz="1000" dirty="0">
                <a:solidFill>
                  <a:srgbClr val="FFFFFF"/>
                </a:solidFill>
              </a:rPr>
              <a:t>  world_pos = scanner_center + vertex_offset</a:t>
            </a:r>
            <a:endParaRPr lang="en-US" sz="1000" dirty="0"/>
          </a:p>
          <a:p>
            <a:pPr algn="l" indent="0" marL="0">
              <a:buNone/>
            </a:pPr>
            <a:r>
              <a:rPr lang="en-US" sz="1000" dirty="0">
                <a:solidFill>
                  <a:srgbClr val="FFFFFF"/>
                </a:solidFill>
              </a:rPr>
              <a:t>  ray_dir = (world_pos - center).normalized()</a:t>
            </a:r>
            <a:endParaRPr lang="en-US" sz="1000" dirty="0"/>
          </a:p>
          <a:p>
            <a:pPr algn="l" indent="0" marL="0">
              <a:buNone/>
            </a:pPr>
            <a:endParaRPr lang="en-US" sz="1000" dirty="0"/>
          </a:p>
          <a:p>
            <a:pPr algn="l" indent="0" marL="0">
              <a:buNone/>
            </a:pPr>
            <a:r>
              <a:rPr lang="en-US" sz="1000" dirty="0">
                <a:solidFill>
                  <a:srgbClr val="FFFFFF"/>
                </a:solidFill>
              </a:rPr>
              <a:t>  hit_loc, hit_dist = raycast(world_pos, ray_dir, tunnel_mesh)  # NOW: deformed!</a:t>
            </a:r>
            <a:endParaRPr lang="en-US" sz="1000" dirty="0"/>
          </a:p>
          <a:p>
            <a:pPr algn="l" indent="0" marL="0">
              <a:buNone/>
            </a:pPr>
            <a:endParaRPr lang="en-US" sz="1000" dirty="0"/>
          </a:p>
          <a:p>
            <a:pPr algn="l" indent="0" marL="0">
              <a:buNone/>
            </a:pPr>
            <a:r>
              <a:rPr lang="en-US" sz="1000" dirty="0">
                <a:solidFill>
                  <a:srgbClr val="FFFFFF"/>
                </a:solidFill>
              </a:rPr>
              <a:t>  if hit:</a:t>
            </a:r>
            <a:endParaRPr lang="en-US" sz="1000" dirty="0"/>
          </a:p>
          <a:p>
            <a:pPr algn="l" indent="0" marL="0">
              <a:buNone/>
            </a:pPr>
            <a:r>
              <a:rPr lang="en-US" sz="1000" dirty="0">
                <a:solidFill>
                  <a:srgbClr val="FFFFFF"/>
                </a:solidFill>
              </a:rPr>
              <a:t>    noise_mm = 5 + (hit_dist / 10) * 2  # SAME noise as T0</a:t>
            </a:r>
            <a:endParaRPr lang="en-US" sz="1000" dirty="0"/>
          </a:p>
          <a:p>
            <a:pPr algn="l" indent="0" marL="0">
              <a:buNone/>
            </a:pPr>
            <a:r>
              <a:rPr lang="en-US" sz="1000" dirty="0">
                <a:solidFill>
                  <a:srgbClr val="FFFFFF"/>
                </a:solidFill>
              </a:rPr>
              <a:t>    noisy_point = hit_loc + gaussian(0, noise_mm/1000)</a:t>
            </a:r>
            <a:endParaRPr lang="en-US" sz="1000" dirty="0"/>
          </a:p>
          <a:p>
            <a:pPr algn="l" indent="0" marL="0">
              <a:buNone/>
            </a:pPr>
            <a:r>
              <a:rPr lang="en-US" sz="1000" dirty="0">
                <a:solidFill>
                  <a:srgbClr val="FFFFFF"/>
                </a:solidFill>
              </a:rPr>
              <a:t>    Tn_points.append(noisy_point)</a:t>
            </a:r>
            <a:endParaRPr lang="en-US" sz="1000" dirty="0"/>
          </a:p>
          <a:p>
            <a:pPr algn="l" indent="0" marL="0">
              <a:buNone/>
            </a:pPr>
            <a:endParaRPr lang="en-US" sz="1000" dirty="0"/>
          </a:p>
          <a:p>
            <a:pPr algn="l" indent="0" marL="0">
              <a:buNone/>
            </a:pPr>
            <a:r>
              <a:rPr lang="en-US" sz="1000" dirty="0">
                <a:solidFill>
                  <a:srgbClr val="FFFFFF"/>
                </a:solidFill>
              </a:rPr>
              <a:t>export Tn_points → Tn.las</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065A82"/>
          </a:solidFill>
          <a:ln/>
        </p:spPr>
      </p:sp>
      <p:sp>
        <p:nvSpPr>
          <p:cNvPr id="3" name="Text 1"/>
          <p:cNvSpPr/>
          <p:nvPr/>
        </p:nvSpPr>
        <p:spPr>
          <a:xfrm>
            <a:off x="457200" y="137160"/>
            <a:ext cx="8229600" cy="457200"/>
          </a:xfrm>
          <a:prstGeom prst="rect">
            <a:avLst/>
          </a:prstGeom>
          <a:noFill/>
          <a:ln/>
        </p:spPr>
        <p:txBody>
          <a:bodyPr wrap="square" rtlCol="0" anchor="ctr"/>
          <a:lstStyle/>
          <a:p>
            <a:pPr algn="l" indent="0" marL="0">
              <a:buNone/>
            </a:pPr>
            <a:r>
              <a:rPr lang="en-US" sz="3600" b="1" dirty="0">
                <a:solidFill>
                  <a:srgbClr val="FFFFFF"/>
                </a:solidFill>
              </a:rPr>
              <a:t>Phase C: Tn Raycast (2/2)</a:t>
            </a:r>
            <a:endParaRPr lang="en-US" sz="3600" dirty="0"/>
          </a:p>
        </p:txBody>
      </p:sp>
      <p:sp>
        <p:nvSpPr>
          <p:cNvPr id="4" name="Text 2"/>
          <p:cNvSpPr/>
          <p:nvPr/>
        </p:nvSpPr>
        <p:spPr>
          <a:xfrm>
            <a:off x="457200" y="914400"/>
            <a:ext cx="8229600" cy="365760"/>
          </a:xfrm>
          <a:prstGeom prst="rect">
            <a:avLst/>
          </a:prstGeom>
          <a:noFill/>
          <a:ln/>
        </p:spPr>
        <p:txBody>
          <a:bodyPr wrap="square" rtlCol="0" anchor="ctr"/>
          <a:lstStyle/>
          <a:p>
            <a:pPr indent="0" marL="0">
              <a:buNone/>
            </a:pPr>
            <a:r>
              <a:rPr lang="en-US" sz="1600" b="1" dirty="0">
                <a:solidFill>
                  <a:srgbClr val="065A82"/>
                </a:solidFill>
              </a:rPr>
              <a:t>Output: Tn.las (deformed scan)</a:t>
            </a:r>
            <a:endParaRPr lang="en-US" sz="1600" dirty="0"/>
          </a:p>
        </p:txBody>
      </p:sp>
      <p:sp>
        <p:nvSpPr>
          <p:cNvPr id="5" name="Shape 3"/>
          <p:cNvSpPr/>
          <p:nvPr/>
        </p:nvSpPr>
        <p:spPr>
          <a:xfrm>
            <a:off x="457200" y="1463040"/>
            <a:ext cx="3931920" cy="1280160"/>
          </a:xfrm>
          <a:prstGeom prst="rect">
            <a:avLst/>
          </a:prstGeom>
          <a:solidFill>
            <a:srgbClr val="F0F4F8"/>
          </a:solidFill>
          <a:ln w="12700">
            <a:solidFill>
              <a:srgbClr val="065A82"/>
            </a:solidFill>
            <a:prstDash val="solid"/>
          </a:ln>
        </p:spPr>
      </p:sp>
      <p:sp>
        <p:nvSpPr>
          <p:cNvPr id="6" name="Text 4"/>
          <p:cNvSpPr/>
          <p:nvPr/>
        </p:nvSpPr>
        <p:spPr>
          <a:xfrm>
            <a:off x="640080" y="1600200"/>
            <a:ext cx="3566160" cy="274320"/>
          </a:xfrm>
          <a:prstGeom prst="rect">
            <a:avLst/>
          </a:prstGeom>
          <a:noFill/>
          <a:ln/>
        </p:spPr>
        <p:txBody>
          <a:bodyPr wrap="square" rtlCol="0" anchor="ctr"/>
          <a:lstStyle/>
          <a:p>
            <a:pPr indent="0" marL="0">
              <a:buNone/>
            </a:pPr>
            <a:r>
              <a:rPr lang="en-US" sz="1200" b="1" dirty="0">
                <a:solidFill>
                  <a:srgbClr val="065A82"/>
                </a:solidFill>
              </a:rPr>
              <a:t>T0 (Clean)</a:t>
            </a:r>
            <a:endParaRPr lang="en-US" sz="1200" dirty="0"/>
          </a:p>
        </p:txBody>
      </p:sp>
      <p:sp>
        <p:nvSpPr>
          <p:cNvPr id="7" name="Text 5"/>
          <p:cNvSpPr/>
          <p:nvPr/>
        </p:nvSpPr>
        <p:spPr>
          <a:xfrm>
            <a:off x="640080" y="1920240"/>
            <a:ext cx="3566160" cy="731520"/>
          </a:xfrm>
          <a:prstGeom prst="rect">
            <a:avLst/>
          </a:prstGeom>
          <a:noFill/>
          <a:ln/>
        </p:spPr>
        <p:txBody>
          <a:bodyPr wrap="square" rtlCol="0" anchor="ctr"/>
          <a:lstStyle/>
          <a:p>
            <a:pPr indent="0" marL="0">
              <a:buNone/>
            </a:pPr>
            <a:r>
              <a:rPr lang="en-US" sz="1100" dirty="0">
                <a:solidFill>
                  <a:srgbClr val="1A1A1A"/>
                </a:solidFill>
              </a:rPr>
              <a:t>Radius: 3.0000 m</a:t>
            </a:r>
            <a:endParaRPr lang="en-US" sz="1100" dirty="0"/>
          </a:p>
          <a:p>
            <a:pPr indent="0" marL="0">
              <a:buNone/>
            </a:pPr>
            <a:r>
              <a:rPr lang="en-US" sz="1100" dirty="0">
                <a:solidFill>
                  <a:srgbClr val="1A1A1A"/>
                </a:solidFill>
              </a:rPr>
              <a:t>Eccent: 0.1 mm</a:t>
            </a:r>
            <a:endParaRPr lang="en-US" sz="1100" dirty="0"/>
          </a:p>
          <a:p>
            <a:pPr indent="0" marL="0">
              <a:buNone/>
            </a:pPr>
            <a:r>
              <a:rPr lang="en-US" sz="1100" dirty="0">
                <a:solidFill>
                  <a:srgbClr val="1A1A1A"/>
                </a:solidFill>
              </a:rPr>
              <a:t>Ovality: 0.05%</a:t>
            </a:r>
            <a:endParaRPr lang="en-US" sz="1100" dirty="0"/>
          </a:p>
          <a:p>
            <a:pPr indent="0" marL="0">
              <a:buNone/>
            </a:pPr>
            <a:r>
              <a:rPr lang="en-US" sz="1100" dirty="0">
                <a:solidFill>
                  <a:srgbClr val="1A1A1A"/>
                </a:solidFill>
              </a:rPr>
              <a:t>Points: 364</a:t>
            </a:r>
            <a:endParaRPr lang="en-US" sz="1100" dirty="0"/>
          </a:p>
        </p:txBody>
      </p:sp>
      <p:sp>
        <p:nvSpPr>
          <p:cNvPr id="8" name="Shape 6"/>
          <p:cNvSpPr/>
          <p:nvPr/>
        </p:nvSpPr>
        <p:spPr>
          <a:xfrm>
            <a:off x="4572000" y="2011680"/>
            <a:ext cx="274320" cy="274320"/>
          </a:xfrm>
          <a:prstGeom prst="triangle">
            <a:avLst/>
          </a:prstGeom>
          <a:solidFill>
            <a:srgbClr val="02C39A"/>
          </a:solidFill>
          <a:ln/>
        </p:spPr>
      </p:sp>
      <p:sp>
        <p:nvSpPr>
          <p:cNvPr id="9" name="Shape 7"/>
          <p:cNvSpPr/>
          <p:nvPr/>
        </p:nvSpPr>
        <p:spPr>
          <a:xfrm>
            <a:off x="4754880" y="1463040"/>
            <a:ext cx="3931920" cy="1280160"/>
          </a:xfrm>
          <a:prstGeom prst="rect">
            <a:avLst/>
          </a:prstGeom>
          <a:solidFill>
            <a:srgbClr val="F0F4F8"/>
          </a:solidFill>
          <a:ln w="12700">
            <a:solidFill>
              <a:srgbClr val="1C7293"/>
            </a:solidFill>
            <a:prstDash val="solid"/>
          </a:ln>
        </p:spPr>
      </p:sp>
      <p:sp>
        <p:nvSpPr>
          <p:cNvPr id="10" name="Text 8"/>
          <p:cNvSpPr/>
          <p:nvPr/>
        </p:nvSpPr>
        <p:spPr>
          <a:xfrm>
            <a:off x="4937760" y="1600200"/>
            <a:ext cx="3566160" cy="274320"/>
          </a:xfrm>
          <a:prstGeom prst="rect">
            <a:avLst/>
          </a:prstGeom>
          <a:noFill/>
          <a:ln/>
        </p:spPr>
        <p:txBody>
          <a:bodyPr wrap="square" rtlCol="0" anchor="ctr"/>
          <a:lstStyle/>
          <a:p>
            <a:pPr indent="0" marL="0">
              <a:buNone/>
            </a:pPr>
            <a:r>
              <a:rPr lang="en-US" sz="1200" b="1" dirty="0">
                <a:solidFill>
                  <a:srgbClr val="1C7293"/>
                </a:solidFill>
              </a:rPr>
              <a:t>Tn (Deformed)</a:t>
            </a:r>
            <a:endParaRPr lang="en-US" sz="1200" dirty="0"/>
          </a:p>
        </p:txBody>
      </p:sp>
      <p:sp>
        <p:nvSpPr>
          <p:cNvPr id="11" name="Text 9"/>
          <p:cNvSpPr/>
          <p:nvPr/>
        </p:nvSpPr>
        <p:spPr>
          <a:xfrm>
            <a:off x="4937760" y="1920240"/>
            <a:ext cx="3566160" cy="731520"/>
          </a:xfrm>
          <a:prstGeom prst="rect">
            <a:avLst/>
          </a:prstGeom>
          <a:noFill/>
          <a:ln/>
        </p:spPr>
        <p:txBody>
          <a:bodyPr wrap="square" rtlCol="0" anchor="ctr"/>
          <a:lstStyle/>
          <a:p>
            <a:pPr indent="0" marL="0">
              <a:buNone/>
            </a:pPr>
            <a:r>
              <a:rPr lang="en-US" sz="1100" dirty="0">
                <a:solidFill>
                  <a:srgbClr val="1A1A1A"/>
                </a:solidFill>
              </a:rPr>
              <a:t>Radius: 2.9995 m</a:t>
            </a:r>
            <a:endParaRPr lang="en-US" sz="1100" dirty="0"/>
          </a:p>
          <a:p>
            <a:pPr indent="0" marL="0">
              <a:buNone/>
            </a:pPr>
            <a:r>
              <a:rPr lang="en-US" sz="1100" dirty="0">
                <a:solidFill>
                  <a:srgbClr val="1A1A1A"/>
                </a:solidFill>
              </a:rPr>
              <a:t>Eccent: 1.5 mm</a:t>
            </a:r>
            <a:endParaRPr lang="en-US" sz="1100" dirty="0"/>
          </a:p>
          <a:p>
            <a:pPr indent="0" marL="0">
              <a:buNone/>
            </a:pPr>
            <a:r>
              <a:rPr lang="en-US" sz="1100" dirty="0">
                <a:solidFill>
                  <a:srgbClr val="1A1A1A"/>
                </a:solidFill>
              </a:rPr>
              <a:t>Ovality: 0.08%</a:t>
            </a:r>
            <a:endParaRPr lang="en-US" sz="1100" dirty="0"/>
          </a:p>
          <a:p>
            <a:pPr indent="0" marL="0">
              <a:buNone/>
            </a:pPr>
            <a:r>
              <a:rPr lang="en-US" sz="1100" dirty="0">
                <a:solidFill>
                  <a:srgbClr val="1A1A1A"/>
                </a:solidFill>
              </a:rPr>
              <a:t>Points: 364</a:t>
            </a:r>
            <a:endParaRPr lang="en-US" sz="1100" dirty="0"/>
          </a:p>
        </p:txBody>
      </p:sp>
      <p:sp>
        <p:nvSpPr>
          <p:cNvPr id="12" name="Text 10"/>
          <p:cNvSpPr/>
          <p:nvPr/>
        </p:nvSpPr>
        <p:spPr>
          <a:xfrm>
            <a:off x="457200" y="3017520"/>
            <a:ext cx="8229600" cy="274320"/>
          </a:xfrm>
          <a:prstGeom prst="rect">
            <a:avLst/>
          </a:prstGeom>
          <a:noFill/>
          <a:ln/>
        </p:spPr>
        <p:txBody>
          <a:bodyPr wrap="square" rtlCol="0" anchor="ctr"/>
          <a:lstStyle/>
          <a:p>
            <a:pPr indent="0" marL="0">
              <a:buNone/>
            </a:pPr>
            <a:r>
              <a:rPr lang="en-US" sz="1200" b="1" dirty="0">
                <a:solidFill>
                  <a:srgbClr val="02C39A"/>
                </a:solidFill>
              </a:rPr>
              <a:t>Difference (due to deformation):</a:t>
            </a:r>
            <a:endParaRPr lang="en-US" sz="1200" dirty="0"/>
          </a:p>
        </p:txBody>
      </p:sp>
      <p:sp>
        <p:nvSpPr>
          <p:cNvPr id="13" name="Shape 11"/>
          <p:cNvSpPr/>
          <p:nvPr/>
        </p:nvSpPr>
        <p:spPr>
          <a:xfrm>
            <a:off x="457200" y="3474720"/>
            <a:ext cx="8229600" cy="1097280"/>
          </a:xfrm>
          <a:prstGeom prst="rect">
            <a:avLst/>
          </a:prstGeom>
          <a:solidFill>
            <a:srgbClr val="1E2A33"/>
          </a:solidFill>
          <a:ln w="12700">
            <a:solidFill>
              <a:srgbClr val="02C39A"/>
            </a:solidFill>
            <a:prstDash val="solid"/>
          </a:ln>
        </p:spPr>
      </p:sp>
      <p:sp>
        <p:nvSpPr>
          <p:cNvPr id="14" name="Text 12"/>
          <p:cNvSpPr/>
          <p:nvPr/>
        </p:nvSpPr>
        <p:spPr>
          <a:xfrm>
            <a:off x="594360" y="3566160"/>
            <a:ext cx="7955280" cy="914400"/>
          </a:xfrm>
          <a:prstGeom prst="rect">
            <a:avLst/>
          </a:prstGeom>
          <a:noFill/>
          <a:ln/>
        </p:spPr>
        <p:txBody>
          <a:bodyPr wrap="square" lIns="63500" tIns="63500" rIns="63500" bIns="63500" rtlCol="0" anchor="t"/>
          <a:lstStyle/>
          <a:p>
            <a:pPr algn="l" indent="0" marL="0">
              <a:buNone/>
            </a:pPr>
            <a:r>
              <a:rPr lang="en-US" sz="1000" dirty="0">
                <a:solidFill>
                  <a:srgbClr val="FFFFFF"/>
                </a:solidFill>
              </a:rPr>
              <a:t>ΔRadius: -0.5 mm (convergence effect)</a:t>
            </a:r>
            <a:endParaRPr lang="en-US" sz="1000" dirty="0"/>
          </a:p>
          <a:p>
            <a:pPr algn="l" indent="0" marL="0">
              <a:buNone/>
            </a:pPr>
            <a:r>
              <a:rPr lang="en-US" sz="1000" dirty="0">
                <a:solidFill>
                  <a:srgbClr val="FFFFFF"/>
                </a:solidFill>
              </a:rPr>
              <a:t>ΔEccent: +1.4 mm (asymmetric settlement)</a:t>
            </a:r>
            <a:endParaRPr lang="en-US" sz="1000" dirty="0"/>
          </a:p>
          <a:p>
            <a:pPr algn="l" indent="0" marL="0">
              <a:buNone/>
            </a:pPr>
            <a:r>
              <a:rPr lang="en-US" sz="1000" dirty="0">
                <a:solidFill>
                  <a:srgbClr val="FFFFFF"/>
                </a:solidFill>
              </a:rPr>
              <a:t>ΔOvality: +0.03% (ovalization from deformation)</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065A82"/>
          </a:solidFill>
          <a:ln/>
        </p:spPr>
      </p:sp>
      <p:sp>
        <p:nvSpPr>
          <p:cNvPr id="3" name="Text 1"/>
          <p:cNvSpPr/>
          <p:nvPr/>
        </p:nvSpPr>
        <p:spPr>
          <a:xfrm>
            <a:off x="457200" y="137160"/>
            <a:ext cx="8229600" cy="457200"/>
          </a:xfrm>
          <a:prstGeom prst="rect">
            <a:avLst/>
          </a:prstGeom>
          <a:noFill/>
          <a:ln/>
        </p:spPr>
        <p:txBody>
          <a:bodyPr wrap="square" rtlCol="0" anchor="ctr"/>
          <a:lstStyle/>
          <a:p>
            <a:pPr algn="l" indent="0" marL="0">
              <a:buNone/>
            </a:pPr>
            <a:r>
              <a:rPr lang="en-US" sz="3600" b="1" dirty="0">
                <a:solidFill>
                  <a:srgbClr val="FFFFFF"/>
                </a:solidFill>
              </a:rPr>
              <a:t>Validation: Load &amp; Measure</a:t>
            </a:r>
            <a:endParaRPr lang="en-US" sz="3600" dirty="0"/>
          </a:p>
        </p:txBody>
      </p:sp>
      <p:sp>
        <p:nvSpPr>
          <p:cNvPr id="4" name="Text 2"/>
          <p:cNvSpPr/>
          <p:nvPr/>
        </p:nvSpPr>
        <p:spPr>
          <a:xfrm>
            <a:off x="640080" y="1097280"/>
            <a:ext cx="7772400" cy="320040"/>
          </a:xfrm>
          <a:prstGeom prst="rect">
            <a:avLst/>
          </a:prstGeom>
          <a:noFill/>
          <a:ln/>
        </p:spPr>
        <p:txBody>
          <a:bodyPr wrap="square" rtlCol="0" anchor="ctr"/>
          <a:lstStyle/>
          <a:p>
            <a:pPr algn="l" indent="0" marL="0">
              <a:buNone/>
            </a:pPr>
            <a:r>
              <a:rPr lang="en-US" sz="1300" dirty="0">
                <a:solidFill>
                  <a:srgbClr val="1A1A1A"/>
                </a:solidFill>
              </a:rPr>
              <a:t>1. Load T0.las into tool → record baseline metrics (R, e, oval)</a:t>
            </a:r>
            <a:endParaRPr lang="en-US" sz="1300" dirty="0"/>
          </a:p>
        </p:txBody>
      </p:sp>
      <p:sp>
        <p:nvSpPr>
          <p:cNvPr id="5" name="Text 3"/>
          <p:cNvSpPr/>
          <p:nvPr/>
        </p:nvSpPr>
        <p:spPr>
          <a:xfrm>
            <a:off x="640080" y="1508760"/>
            <a:ext cx="7772400" cy="320040"/>
          </a:xfrm>
          <a:prstGeom prst="rect">
            <a:avLst/>
          </a:prstGeom>
          <a:noFill/>
          <a:ln/>
        </p:spPr>
        <p:txBody>
          <a:bodyPr wrap="square" rtlCol="0" anchor="ctr"/>
          <a:lstStyle/>
          <a:p>
            <a:pPr algn="l" indent="0" marL="0">
              <a:buNone/>
            </a:pPr>
            <a:r>
              <a:rPr lang="en-US" sz="1300" dirty="0">
                <a:solidFill>
                  <a:srgbClr val="1A1A1A"/>
                </a:solidFill>
              </a:rPr>
              <a:t>2. Load Tn.las into tool → measure deformation (Step 6)</a:t>
            </a:r>
            <a:endParaRPr lang="en-US" sz="1300" dirty="0"/>
          </a:p>
        </p:txBody>
      </p:sp>
      <p:sp>
        <p:nvSpPr>
          <p:cNvPr id="6" name="Text 4"/>
          <p:cNvSpPr/>
          <p:nvPr/>
        </p:nvSpPr>
        <p:spPr>
          <a:xfrm>
            <a:off x="640080" y="1920240"/>
            <a:ext cx="7772400" cy="320040"/>
          </a:xfrm>
          <a:prstGeom prst="rect">
            <a:avLst/>
          </a:prstGeom>
          <a:noFill/>
          <a:ln/>
        </p:spPr>
        <p:txBody>
          <a:bodyPr wrap="square" rtlCol="0" anchor="ctr"/>
          <a:lstStyle/>
          <a:p>
            <a:pPr algn="l" indent="0" marL="0">
              <a:buNone/>
            </a:pPr>
            <a:r>
              <a:rPr lang="en-US" sz="1300" dirty="0">
                <a:solidFill>
                  <a:srgbClr val="1A1A1A"/>
                </a:solidFill>
              </a:rPr>
              <a:t>3. Tool reports: crown_settle, convergence, local_damage</a:t>
            </a:r>
            <a:endParaRPr lang="en-US" sz="1300" dirty="0"/>
          </a:p>
        </p:txBody>
      </p:sp>
      <p:sp>
        <p:nvSpPr>
          <p:cNvPr id="7" name="Text 5"/>
          <p:cNvSpPr/>
          <p:nvPr/>
        </p:nvSpPr>
        <p:spPr>
          <a:xfrm>
            <a:off x="640080" y="2331720"/>
            <a:ext cx="7772400" cy="320040"/>
          </a:xfrm>
          <a:prstGeom prst="rect">
            <a:avLst/>
          </a:prstGeom>
          <a:noFill/>
          <a:ln/>
        </p:spPr>
        <p:txBody>
          <a:bodyPr wrap="square" rtlCol="0" anchor="ctr"/>
          <a:lstStyle/>
          <a:p>
            <a:pPr algn="l" indent="0" marL="0">
              <a:buNone/>
            </a:pPr>
            <a:r>
              <a:rPr lang="en-US" sz="1300" dirty="0">
                <a:solidFill>
                  <a:srgbClr val="1A1A1A"/>
                </a:solidFill>
              </a:rPr>
              <a:t>4. Compare tool output vs ground_truth.csv</a:t>
            </a:r>
            <a:endParaRPr lang="en-US" sz="1300" dirty="0"/>
          </a:p>
        </p:txBody>
      </p:sp>
      <p:sp>
        <p:nvSpPr>
          <p:cNvPr id="8" name="Text 6"/>
          <p:cNvSpPr/>
          <p:nvPr/>
        </p:nvSpPr>
        <p:spPr>
          <a:xfrm>
            <a:off x="640080" y="2743200"/>
            <a:ext cx="7772400" cy="320040"/>
          </a:xfrm>
          <a:prstGeom prst="rect">
            <a:avLst/>
          </a:prstGeom>
          <a:noFill/>
          <a:ln/>
        </p:spPr>
        <p:txBody>
          <a:bodyPr wrap="square" rtlCol="0" anchor="ctr"/>
          <a:lstStyle/>
          <a:p>
            <a:pPr algn="l" indent="0" marL="0">
              <a:buNone/>
            </a:pPr>
            <a:r>
              <a:rPr lang="en-US" sz="1300" dirty="0">
                <a:solidFill>
                  <a:srgbClr val="1A1A1A"/>
                </a:solidFill>
              </a:rPr>
              <a:t>5. Calculate error: |measured - prescribed|</a:t>
            </a:r>
            <a:endParaRPr lang="en-US" sz="1300" dirty="0"/>
          </a:p>
        </p:txBody>
      </p:sp>
      <p:sp>
        <p:nvSpPr>
          <p:cNvPr id="9" name="Text 7"/>
          <p:cNvSpPr/>
          <p:nvPr/>
        </p:nvSpPr>
        <p:spPr>
          <a:xfrm>
            <a:off x="640080" y="3154680"/>
            <a:ext cx="7772400" cy="320040"/>
          </a:xfrm>
          <a:prstGeom prst="rect">
            <a:avLst/>
          </a:prstGeom>
          <a:noFill/>
          <a:ln/>
        </p:spPr>
        <p:txBody>
          <a:bodyPr wrap="square" rtlCol="0" anchor="ctr"/>
          <a:lstStyle/>
          <a:p>
            <a:pPr algn="l" indent="0" marL="0">
              <a:buNone/>
            </a:pPr>
            <a:r>
              <a:rPr lang="en-US" sz="1300" dirty="0">
                <a:solidFill>
                  <a:srgbClr val="1A1A1A"/>
                </a:solidFill>
              </a:rPr>
              <a:t>6. Assert: error &lt; ±1mm for PASS</a:t>
            </a:r>
            <a:endParaRPr lang="en-US" sz="1300" dirty="0"/>
          </a:p>
        </p:txBody>
      </p:sp>
      <p:sp>
        <p:nvSpPr>
          <p:cNvPr id="10" name="Shape 8"/>
          <p:cNvSpPr/>
          <p:nvPr/>
        </p:nvSpPr>
        <p:spPr>
          <a:xfrm>
            <a:off x="457200" y="3840480"/>
            <a:ext cx="8229600" cy="1097280"/>
          </a:xfrm>
          <a:prstGeom prst="rect">
            <a:avLst/>
          </a:prstGeom>
          <a:solidFill>
            <a:srgbClr val="02C39A"/>
          </a:solidFill>
          <a:ln/>
        </p:spPr>
      </p:sp>
      <p:sp>
        <p:nvSpPr>
          <p:cNvPr id="11" name="Text 9"/>
          <p:cNvSpPr/>
          <p:nvPr/>
        </p:nvSpPr>
        <p:spPr>
          <a:xfrm>
            <a:off x="640080" y="3977640"/>
            <a:ext cx="7863840" cy="914400"/>
          </a:xfrm>
          <a:prstGeom prst="rect">
            <a:avLst/>
          </a:prstGeom>
          <a:noFill/>
          <a:ln/>
        </p:spPr>
        <p:txBody>
          <a:bodyPr wrap="square" rtlCol="0" anchor="ctr"/>
          <a:lstStyle/>
          <a:p>
            <a:pPr algn="ctr" indent="0" marL="0">
              <a:buNone/>
            </a:pPr>
            <a:r>
              <a:rPr lang="en-US" sz="1300" b="1" dirty="0">
                <a:solidFill>
                  <a:srgbClr val="FFFFFF"/>
                </a:solidFill>
              </a:rPr>
              <a:t>✓ If error &lt; ±1mm → Tool is VALIDATED</a:t>
            </a:r>
            <a:endParaRPr lang="en-US" sz="1300" dirty="0"/>
          </a:p>
          <a:p>
            <a:pPr algn="ctr" indent="0" marL="0">
              <a:buNone/>
            </a:pPr>
            <a:r>
              <a:rPr lang="en-US" sz="1300" b="1" dirty="0">
                <a:solidFill>
                  <a:srgbClr val="FFFFFF"/>
                </a:solidFill>
              </a:rPr>
              <a:t>✗ If error &gt; ±1mm → Debug registration, noise, fitting</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065A82"/>
          </a:solidFill>
          <a:ln/>
        </p:spPr>
      </p:sp>
      <p:sp>
        <p:nvSpPr>
          <p:cNvPr id="3" name="Text 1"/>
          <p:cNvSpPr/>
          <p:nvPr/>
        </p:nvSpPr>
        <p:spPr>
          <a:xfrm>
            <a:off x="457200" y="137160"/>
            <a:ext cx="8229600" cy="457200"/>
          </a:xfrm>
          <a:prstGeom prst="rect">
            <a:avLst/>
          </a:prstGeom>
          <a:noFill/>
          <a:ln/>
        </p:spPr>
        <p:txBody>
          <a:bodyPr wrap="square" rtlCol="0" anchor="ctr"/>
          <a:lstStyle/>
          <a:p>
            <a:pPr algn="l" indent="0" marL="0">
              <a:buNone/>
            </a:pPr>
            <a:r>
              <a:rPr lang="en-US" sz="3600" b="1" dirty="0">
                <a:solidFill>
                  <a:srgbClr val="FFFFFF"/>
                </a:solidFill>
              </a:rPr>
              <a:t>Build Confidence: 4 Validation Scenarios</a:t>
            </a:r>
            <a:endParaRPr lang="en-US" sz="3600" dirty="0"/>
          </a:p>
        </p:txBody>
      </p:sp>
      <p:sp>
        <p:nvSpPr>
          <p:cNvPr id="4" name="Shape 2"/>
          <p:cNvSpPr/>
          <p:nvPr/>
        </p:nvSpPr>
        <p:spPr>
          <a:xfrm>
            <a:off x="548640" y="1024128"/>
            <a:ext cx="320040" cy="320040"/>
          </a:xfrm>
          <a:prstGeom prst="ellipse">
            <a:avLst/>
          </a:prstGeom>
          <a:solidFill>
            <a:srgbClr val="02C39A"/>
          </a:solidFill>
          <a:ln/>
        </p:spPr>
      </p:sp>
      <p:sp>
        <p:nvSpPr>
          <p:cNvPr id="5" name="Text 3"/>
          <p:cNvSpPr/>
          <p:nvPr/>
        </p:nvSpPr>
        <p:spPr>
          <a:xfrm>
            <a:off x="548640" y="1005840"/>
            <a:ext cx="320040" cy="320040"/>
          </a:xfrm>
          <a:prstGeom prst="rect">
            <a:avLst/>
          </a:prstGeom>
          <a:noFill/>
          <a:ln/>
        </p:spPr>
        <p:txBody>
          <a:bodyPr wrap="square" rtlCol="0" anchor="ctr"/>
          <a:lstStyle/>
          <a:p>
            <a:pPr algn="ctr" indent="0" marL="0">
              <a:buNone/>
            </a:pPr>
            <a:r>
              <a:rPr lang="en-US" sz="1400" b="1" dirty="0">
                <a:solidFill>
                  <a:srgbClr val="FFFFFF"/>
                </a:solidFill>
              </a:rPr>
              <a:t>A</a:t>
            </a:r>
            <a:endParaRPr lang="en-US" sz="1400" dirty="0"/>
          </a:p>
        </p:txBody>
      </p:sp>
      <p:sp>
        <p:nvSpPr>
          <p:cNvPr id="6" name="Text 4"/>
          <p:cNvSpPr/>
          <p:nvPr/>
        </p:nvSpPr>
        <p:spPr>
          <a:xfrm>
            <a:off x="1005840" y="1005840"/>
            <a:ext cx="7680960" cy="182880"/>
          </a:xfrm>
          <a:prstGeom prst="rect">
            <a:avLst/>
          </a:prstGeom>
          <a:noFill/>
          <a:ln/>
        </p:spPr>
        <p:txBody>
          <a:bodyPr wrap="square" rtlCol="0" anchor="ctr"/>
          <a:lstStyle/>
          <a:p>
            <a:pPr indent="0" marL="0">
              <a:buNone/>
            </a:pPr>
            <a:r>
              <a:rPr lang="en-US" sz="1200" b="1" dirty="0">
                <a:solidFill>
                  <a:srgbClr val="065A82"/>
                </a:solidFill>
              </a:rPr>
              <a:t>Scenario A: No deformation</a:t>
            </a:r>
            <a:endParaRPr lang="en-US" sz="1200" dirty="0"/>
          </a:p>
        </p:txBody>
      </p:sp>
      <p:sp>
        <p:nvSpPr>
          <p:cNvPr id="7" name="Text 5"/>
          <p:cNvSpPr/>
          <p:nvPr/>
        </p:nvSpPr>
        <p:spPr>
          <a:xfrm>
            <a:off x="1005840" y="1234440"/>
            <a:ext cx="7680960" cy="228600"/>
          </a:xfrm>
          <a:prstGeom prst="rect">
            <a:avLst/>
          </a:prstGeom>
          <a:noFill/>
          <a:ln/>
        </p:spPr>
        <p:txBody>
          <a:bodyPr wrap="square" rtlCol="0" anchor="ctr"/>
          <a:lstStyle/>
          <a:p>
            <a:pPr indent="0" marL="0">
              <a:buNone/>
            </a:pPr>
            <a:r>
              <a:rPr lang="en-US" sz="1100" i="1" dirty="0">
                <a:solidFill>
                  <a:srgbClr val="1A1A1A"/>
                </a:solidFill>
              </a:rPr>
              <a:t>T0 → T0 (identity). Expect: error ≈ 0mm.</a:t>
            </a:r>
            <a:endParaRPr lang="en-US" sz="1100" dirty="0"/>
          </a:p>
        </p:txBody>
      </p:sp>
      <p:sp>
        <p:nvSpPr>
          <p:cNvPr id="8" name="Shape 6"/>
          <p:cNvSpPr/>
          <p:nvPr/>
        </p:nvSpPr>
        <p:spPr>
          <a:xfrm>
            <a:off x="548640" y="1755648"/>
            <a:ext cx="320040" cy="320040"/>
          </a:xfrm>
          <a:prstGeom prst="ellipse">
            <a:avLst/>
          </a:prstGeom>
          <a:solidFill>
            <a:srgbClr val="02C39A"/>
          </a:solidFill>
          <a:ln/>
        </p:spPr>
      </p:sp>
      <p:sp>
        <p:nvSpPr>
          <p:cNvPr id="9" name="Text 7"/>
          <p:cNvSpPr/>
          <p:nvPr/>
        </p:nvSpPr>
        <p:spPr>
          <a:xfrm>
            <a:off x="548640" y="1737360"/>
            <a:ext cx="320040" cy="320040"/>
          </a:xfrm>
          <a:prstGeom prst="rect">
            <a:avLst/>
          </a:prstGeom>
          <a:noFill/>
          <a:ln/>
        </p:spPr>
        <p:txBody>
          <a:bodyPr wrap="square" rtlCol="0" anchor="ctr"/>
          <a:lstStyle/>
          <a:p>
            <a:pPr algn="ctr" indent="0" marL="0">
              <a:buNone/>
            </a:pPr>
            <a:r>
              <a:rPr lang="en-US" sz="1400" b="1" dirty="0">
                <a:solidFill>
                  <a:srgbClr val="FFFFFF"/>
                </a:solidFill>
              </a:rPr>
              <a:t>B</a:t>
            </a:r>
            <a:endParaRPr lang="en-US" sz="1400" dirty="0"/>
          </a:p>
        </p:txBody>
      </p:sp>
      <p:sp>
        <p:nvSpPr>
          <p:cNvPr id="10" name="Text 8"/>
          <p:cNvSpPr/>
          <p:nvPr/>
        </p:nvSpPr>
        <p:spPr>
          <a:xfrm>
            <a:off x="1005840" y="1737360"/>
            <a:ext cx="7680960" cy="182880"/>
          </a:xfrm>
          <a:prstGeom prst="rect">
            <a:avLst/>
          </a:prstGeom>
          <a:noFill/>
          <a:ln/>
        </p:spPr>
        <p:txBody>
          <a:bodyPr wrap="square" rtlCol="0" anchor="ctr"/>
          <a:lstStyle/>
          <a:p>
            <a:pPr indent="0" marL="0">
              <a:buNone/>
            </a:pPr>
            <a:r>
              <a:rPr lang="en-US" sz="1200" b="1" dirty="0">
                <a:solidFill>
                  <a:srgbClr val="065A82"/>
                </a:solidFill>
              </a:rPr>
              <a:t>Scenario B: Single metric</a:t>
            </a:r>
            <a:endParaRPr lang="en-US" sz="1200" dirty="0"/>
          </a:p>
        </p:txBody>
      </p:sp>
      <p:sp>
        <p:nvSpPr>
          <p:cNvPr id="11" name="Text 9"/>
          <p:cNvSpPr/>
          <p:nvPr/>
        </p:nvSpPr>
        <p:spPr>
          <a:xfrm>
            <a:off x="1005840" y="1965960"/>
            <a:ext cx="7680960" cy="228600"/>
          </a:xfrm>
          <a:prstGeom prst="rect">
            <a:avLst/>
          </a:prstGeom>
          <a:noFill/>
          <a:ln/>
        </p:spPr>
        <p:txBody>
          <a:bodyPr wrap="square" rtlCol="0" anchor="ctr"/>
          <a:lstStyle/>
          <a:p>
            <a:pPr indent="0" marL="0">
              <a:buNone/>
            </a:pPr>
            <a:r>
              <a:rPr lang="en-US" sz="1100" i="1" dirty="0">
                <a:solidFill>
                  <a:srgbClr val="1A1A1A"/>
                </a:solidFill>
              </a:rPr>
              <a:t>Test each: crown-only, convergence-only, damage-only.</a:t>
            </a:r>
            <a:endParaRPr lang="en-US" sz="1100" dirty="0"/>
          </a:p>
        </p:txBody>
      </p:sp>
      <p:sp>
        <p:nvSpPr>
          <p:cNvPr id="12" name="Shape 10"/>
          <p:cNvSpPr/>
          <p:nvPr/>
        </p:nvSpPr>
        <p:spPr>
          <a:xfrm>
            <a:off x="548640" y="2487168"/>
            <a:ext cx="320040" cy="320040"/>
          </a:xfrm>
          <a:prstGeom prst="ellipse">
            <a:avLst/>
          </a:prstGeom>
          <a:solidFill>
            <a:srgbClr val="02C39A"/>
          </a:solidFill>
          <a:ln/>
        </p:spPr>
      </p:sp>
      <p:sp>
        <p:nvSpPr>
          <p:cNvPr id="13" name="Text 11"/>
          <p:cNvSpPr/>
          <p:nvPr/>
        </p:nvSpPr>
        <p:spPr>
          <a:xfrm>
            <a:off x="548640" y="2468880"/>
            <a:ext cx="320040" cy="320040"/>
          </a:xfrm>
          <a:prstGeom prst="rect">
            <a:avLst/>
          </a:prstGeom>
          <a:noFill/>
          <a:ln/>
        </p:spPr>
        <p:txBody>
          <a:bodyPr wrap="square" rtlCol="0" anchor="ctr"/>
          <a:lstStyle/>
          <a:p>
            <a:pPr algn="ctr" indent="0" marL="0">
              <a:buNone/>
            </a:pPr>
            <a:r>
              <a:rPr lang="en-US" sz="1400" b="1" dirty="0">
                <a:solidFill>
                  <a:srgbClr val="FFFFFF"/>
                </a:solidFill>
              </a:rPr>
              <a:t>C</a:t>
            </a:r>
            <a:endParaRPr lang="en-US" sz="1400" dirty="0"/>
          </a:p>
        </p:txBody>
      </p:sp>
      <p:sp>
        <p:nvSpPr>
          <p:cNvPr id="14" name="Text 12"/>
          <p:cNvSpPr/>
          <p:nvPr/>
        </p:nvSpPr>
        <p:spPr>
          <a:xfrm>
            <a:off x="1005840" y="2468880"/>
            <a:ext cx="7680960" cy="182880"/>
          </a:xfrm>
          <a:prstGeom prst="rect">
            <a:avLst/>
          </a:prstGeom>
          <a:noFill/>
          <a:ln/>
        </p:spPr>
        <p:txBody>
          <a:bodyPr wrap="square" rtlCol="0" anchor="ctr"/>
          <a:lstStyle/>
          <a:p>
            <a:pPr indent="0" marL="0">
              <a:buNone/>
            </a:pPr>
            <a:r>
              <a:rPr lang="en-US" sz="1200" b="1" dirty="0">
                <a:solidFill>
                  <a:srgbClr val="065A82"/>
                </a:solidFill>
              </a:rPr>
              <a:t>Scenario C: Combined</a:t>
            </a:r>
            <a:endParaRPr lang="en-US" sz="1200" dirty="0"/>
          </a:p>
        </p:txBody>
      </p:sp>
      <p:sp>
        <p:nvSpPr>
          <p:cNvPr id="15" name="Text 13"/>
          <p:cNvSpPr/>
          <p:nvPr/>
        </p:nvSpPr>
        <p:spPr>
          <a:xfrm>
            <a:off x="1005840" y="2697480"/>
            <a:ext cx="7680960" cy="228600"/>
          </a:xfrm>
          <a:prstGeom prst="rect">
            <a:avLst/>
          </a:prstGeom>
          <a:noFill/>
          <a:ln/>
        </p:spPr>
        <p:txBody>
          <a:bodyPr wrap="square" rtlCol="0" anchor="ctr"/>
          <a:lstStyle/>
          <a:p>
            <a:pPr indent="0" marL="0">
              <a:buNone/>
            </a:pPr>
            <a:r>
              <a:rPr lang="en-US" sz="1100" i="1" dirty="0">
                <a:solidFill>
                  <a:srgbClr val="1A1A1A"/>
                </a:solidFill>
              </a:rPr>
              <a:t>All 3 deformations at once (realistic multi-component).</a:t>
            </a:r>
            <a:endParaRPr lang="en-US" sz="1100" dirty="0"/>
          </a:p>
        </p:txBody>
      </p:sp>
      <p:sp>
        <p:nvSpPr>
          <p:cNvPr id="16" name="Shape 14"/>
          <p:cNvSpPr/>
          <p:nvPr/>
        </p:nvSpPr>
        <p:spPr>
          <a:xfrm>
            <a:off x="548640" y="3218688"/>
            <a:ext cx="320040" cy="320040"/>
          </a:xfrm>
          <a:prstGeom prst="ellipse">
            <a:avLst/>
          </a:prstGeom>
          <a:solidFill>
            <a:srgbClr val="02C39A"/>
          </a:solidFill>
          <a:ln/>
        </p:spPr>
      </p:sp>
      <p:sp>
        <p:nvSpPr>
          <p:cNvPr id="17" name="Text 15"/>
          <p:cNvSpPr/>
          <p:nvPr/>
        </p:nvSpPr>
        <p:spPr>
          <a:xfrm>
            <a:off x="548640" y="3200400"/>
            <a:ext cx="320040" cy="320040"/>
          </a:xfrm>
          <a:prstGeom prst="rect">
            <a:avLst/>
          </a:prstGeom>
          <a:noFill/>
          <a:ln/>
        </p:spPr>
        <p:txBody>
          <a:bodyPr wrap="square" rtlCol="0" anchor="ctr"/>
          <a:lstStyle/>
          <a:p>
            <a:pPr algn="ctr" indent="0" marL="0">
              <a:buNone/>
            </a:pPr>
            <a:r>
              <a:rPr lang="en-US" sz="1400" b="1" dirty="0">
                <a:solidFill>
                  <a:srgbClr val="FFFFFF"/>
                </a:solidFill>
              </a:rPr>
              <a:t>D</a:t>
            </a:r>
            <a:endParaRPr lang="en-US" sz="1400" dirty="0"/>
          </a:p>
        </p:txBody>
      </p:sp>
      <p:sp>
        <p:nvSpPr>
          <p:cNvPr id="18" name="Text 16"/>
          <p:cNvSpPr/>
          <p:nvPr/>
        </p:nvSpPr>
        <p:spPr>
          <a:xfrm>
            <a:off x="1005840" y="3200400"/>
            <a:ext cx="7680960" cy="182880"/>
          </a:xfrm>
          <a:prstGeom prst="rect">
            <a:avLst/>
          </a:prstGeom>
          <a:noFill/>
          <a:ln/>
        </p:spPr>
        <p:txBody>
          <a:bodyPr wrap="square" rtlCol="0" anchor="ctr"/>
          <a:lstStyle/>
          <a:p>
            <a:pPr indent="0" marL="0">
              <a:buNone/>
            </a:pPr>
            <a:r>
              <a:rPr lang="en-US" sz="1200" b="1" dirty="0">
                <a:solidFill>
                  <a:srgbClr val="065A82"/>
                </a:solidFill>
              </a:rPr>
              <a:t>Scenario D: Offset scanner</a:t>
            </a:r>
            <a:endParaRPr lang="en-US" sz="1200" dirty="0"/>
          </a:p>
        </p:txBody>
      </p:sp>
      <p:sp>
        <p:nvSpPr>
          <p:cNvPr id="19" name="Text 17"/>
          <p:cNvSpPr/>
          <p:nvPr/>
        </p:nvSpPr>
        <p:spPr>
          <a:xfrm>
            <a:off x="1005840" y="3429000"/>
            <a:ext cx="7680960" cy="228600"/>
          </a:xfrm>
          <a:prstGeom prst="rect">
            <a:avLst/>
          </a:prstGeom>
          <a:noFill/>
          <a:ln/>
        </p:spPr>
        <p:txBody>
          <a:bodyPr wrap="square" rtlCol="0" anchor="ctr"/>
          <a:lstStyle/>
          <a:p>
            <a:pPr indent="0" marL="0">
              <a:buNone/>
            </a:pPr>
            <a:r>
              <a:rPr lang="en-US" sz="1100" i="1" dirty="0">
                <a:solidFill>
                  <a:srgbClr val="1A1A1A"/>
                </a:solidFill>
              </a:rPr>
              <a:t>Raycast from different position. Deformation still measurable.</a:t>
            </a:r>
            <a:endParaRPr lang="en-US" sz="1100" dirty="0"/>
          </a:p>
        </p:txBody>
      </p:sp>
      <p:sp>
        <p:nvSpPr>
          <p:cNvPr id="20" name="Text 18"/>
          <p:cNvSpPr/>
          <p:nvPr/>
        </p:nvSpPr>
        <p:spPr>
          <a:xfrm>
            <a:off x="457200" y="4114800"/>
            <a:ext cx="8229600" cy="365760"/>
          </a:xfrm>
          <a:prstGeom prst="rect">
            <a:avLst/>
          </a:prstGeom>
          <a:noFill/>
          <a:ln/>
        </p:spPr>
        <p:txBody>
          <a:bodyPr wrap="square" rtlCol="0" anchor="ctr"/>
          <a:lstStyle/>
          <a:p>
            <a:pPr indent="0" marL="0">
              <a:buNone/>
            </a:pPr>
            <a:r>
              <a:rPr lang="en-US" sz="1200" b="1" dirty="0">
                <a:solidFill>
                  <a:srgbClr val="02C39A"/>
                </a:solidFill>
              </a:rPr>
              <a:t>Record all results in validation_results.csv</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065A82"/>
          </a:solidFill>
          <a:ln/>
        </p:spPr>
      </p:sp>
      <p:sp>
        <p:nvSpPr>
          <p:cNvPr id="3" name="Text 1"/>
          <p:cNvSpPr/>
          <p:nvPr/>
        </p:nvSpPr>
        <p:spPr>
          <a:xfrm>
            <a:off x="457200" y="137160"/>
            <a:ext cx="8229600" cy="457200"/>
          </a:xfrm>
          <a:prstGeom prst="rect">
            <a:avLst/>
          </a:prstGeom>
          <a:noFill/>
          <a:ln/>
        </p:spPr>
        <p:txBody>
          <a:bodyPr wrap="square" rtlCol="0" anchor="ctr"/>
          <a:lstStyle/>
          <a:p>
            <a:pPr algn="l" indent="0" marL="0">
              <a:buNone/>
            </a:pPr>
            <a:r>
              <a:rPr lang="en-US" sz="3600" b="1" dirty="0">
                <a:solidFill>
                  <a:srgbClr val="FFFFFF"/>
                </a:solidFill>
              </a:rPr>
              <a:t>Implementation Checklist</a:t>
            </a:r>
            <a:endParaRPr lang="en-US" sz="3600" dirty="0"/>
          </a:p>
        </p:txBody>
      </p:sp>
      <p:sp>
        <p:nvSpPr>
          <p:cNvPr id="4" name="Text 2"/>
          <p:cNvSpPr/>
          <p:nvPr/>
        </p:nvSpPr>
        <p:spPr>
          <a:xfrm>
            <a:off x="640080" y="1005840"/>
            <a:ext cx="7772400" cy="274320"/>
          </a:xfrm>
          <a:prstGeom prst="rect">
            <a:avLst/>
          </a:prstGeom>
          <a:noFill/>
          <a:ln/>
        </p:spPr>
        <p:txBody>
          <a:bodyPr wrap="square" rtlCol="0" anchor="ctr"/>
          <a:lstStyle/>
          <a:p>
            <a:pPr indent="0" marL="0">
              <a:buNone/>
            </a:pPr>
            <a:r>
              <a:rPr lang="en-US" sz="1100" dirty="0">
                <a:solidFill>
                  <a:srgbClr val="1A1A1A"/>
                </a:solidFill>
              </a:rPr>
              <a:t>[ ] Load tunnel_lidar_scene.blend</a:t>
            </a:r>
            <a:endParaRPr lang="en-US" sz="1100" dirty="0"/>
          </a:p>
        </p:txBody>
      </p:sp>
      <p:sp>
        <p:nvSpPr>
          <p:cNvPr id="5" name="Text 3"/>
          <p:cNvSpPr/>
          <p:nvPr/>
        </p:nvSpPr>
        <p:spPr>
          <a:xfrm>
            <a:off x="640080" y="1325880"/>
            <a:ext cx="7772400" cy="274320"/>
          </a:xfrm>
          <a:prstGeom prst="rect">
            <a:avLst/>
          </a:prstGeom>
          <a:noFill/>
          <a:ln/>
        </p:spPr>
        <p:txBody>
          <a:bodyPr wrap="square" rtlCol="0" anchor="ctr"/>
          <a:lstStyle/>
          <a:p>
            <a:pPr indent="0" marL="0">
              <a:buNone/>
            </a:pPr>
            <a:r>
              <a:rPr lang="en-US" sz="1100" dirty="0">
                <a:solidFill>
                  <a:srgbClr val="1A1A1A"/>
                </a:solidFill>
              </a:rPr>
              <a:t>[ ] Verify Tunnel_Lining mesh (16,100 verts)</a:t>
            </a:r>
            <a:endParaRPr lang="en-US" sz="1100" dirty="0"/>
          </a:p>
        </p:txBody>
      </p:sp>
      <p:sp>
        <p:nvSpPr>
          <p:cNvPr id="6" name="Text 4"/>
          <p:cNvSpPr/>
          <p:nvPr/>
        </p:nvSpPr>
        <p:spPr>
          <a:xfrm>
            <a:off x="640080" y="1645920"/>
            <a:ext cx="7772400" cy="274320"/>
          </a:xfrm>
          <a:prstGeom prst="rect">
            <a:avLst/>
          </a:prstGeom>
          <a:noFill/>
          <a:ln/>
        </p:spPr>
        <p:txBody>
          <a:bodyPr wrap="square" rtlCol="0" anchor="ctr"/>
          <a:lstStyle/>
          <a:p>
            <a:pPr indent="0" marL="0">
              <a:buNone/>
            </a:pPr>
            <a:r>
              <a:rPr lang="en-US" sz="1100" dirty="0">
                <a:solidFill>
                  <a:srgbClr val="1A1A1A"/>
                </a:solidFill>
              </a:rPr>
              <a:t>[ ] Setup scanner sphere @ (0, 10, 3)</a:t>
            </a:r>
            <a:endParaRPr lang="en-US" sz="1100" dirty="0"/>
          </a:p>
        </p:txBody>
      </p:sp>
      <p:sp>
        <p:nvSpPr>
          <p:cNvPr id="7" name="Text 5"/>
          <p:cNvSpPr/>
          <p:nvPr/>
        </p:nvSpPr>
        <p:spPr>
          <a:xfrm>
            <a:off x="640080" y="1965960"/>
            <a:ext cx="7772400" cy="274320"/>
          </a:xfrm>
          <a:prstGeom prst="rect">
            <a:avLst/>
          </a:prstGeom>
          <a:noFill/>
          <a:ln/>
        </p:spPr>
        <p:txBody>
          <a:bodyPr wrap="square" rtlCol="0" anchor="ctr"/>
          <a:lstStyle/>
          <a:p>
            <a:pPr indent="0" marL="0">
              <a:buNone/>
            </a:pPr>
            <a:r>
              <a:rPr lang="en-US" sz="1100" dirty="0">
                <a:solidFill>
                  <a:srgbClr val="1A1A1A"/>
                </a:solidFill>
              </a:rPr>
              <a:t>[ ] Raycast T0 → export T0.las</a:t>
            </a:r>
            <a:endParaRPr lang="en-US" sz="1100" dirty="0"/>
          </a:p>
        </p:txBody>
      </p:sp>
      <p:sp>
        <p:nvSpPr>
          <p:cNvPr id="8" name="Text 6"/>
          <p:cNvSpPr/>
          <p:nvPr/>
        </p:nvSpPr>
        <p:spPr>
          <a:xfrm>
            <a:off x="640080" y="2286000"/>
            <a:ext cx="7772400" cy="274320"/>
          </a:xfrm>
          <a:prstGeom prst="rect">
            <a:avLst/>
          </a:prstGeom>
          <a:noFill/>
          <a:ln/>
        </p:spPr>
        <p:txBody>
          <a:bodyPr wrap="square" rtlCol="0" anchor="ctr"/>
          <a:lstStyle/>
          <a:p>
            <a:pPr indent="0" marL="0">
              <a:buNone/>
            </a:pPr>
            <a:r>
              <a:rPr lang="en-US" sz="1100" dirty="0">
                <a:solidFill>
                  <a:srgbClr val="1A1A1A"/>
                </a:solidFill>
              </a:rPr>
              <a:t>[ ] Record T0 metadata</a:t>
            </a:r>
            <a:endParaRPr lang="en-US" sz="1100" dirty="0"/>
          </a:p>
        </p:txBody>
      </p:sp>
      <p:sp>
        <p:nvSpPr>
          <p:cNvPr id="9" name="Text 7"/>
          <p:cNvSpPr/>
          <p:nvPr/>
        </p:nvSpPr>
        <p:spPr>
          <a:xfrm>
            <a:off x="640080" y="2606040"/>
            <a:ext cx="7772400" cy="274320"/>
          </a:xfrm>
          <a:prstGeom prst="rect">
            <a:avLst/>
          </a:prstGeom>
          <a:noFill/>
          <a:ln/>
        </p:spPr>
        <p:txBody>
          <a:bodyPr wrap="square" rtlCol="0" anchor="ctr"/>
          <a:lstStyle/>
          <a:p>
            <a:pPr indent="0" marL="0">
              <a:buNone/>
            </a:pPr>
            <a:r>
              <a:rPr lang="en-US" sz="1100" dirty="0">
                <a:solidFill>
                  <a:srgbClr val="1A1A1A"/>
                </a:solidFill>
              </a:rPr>
              <a:t>[ ] Create deformed mesh (crown, convergence)</a:t>
            </a:r>
            <a:endParaRPr lang="en-US" sz="1100" dirty="0"/>
          </a:p>
        </p:txBody>
      </p:sp>
      <p:sp>
        <p:nvSpPr>
          <p:cNvPr id="10" name="Text 8"/>
          <p:cNvSpPr/>
          <p:nvPr/>
        </p:nvSpPr>
        <p:spPr>
          <a:xfrm>
            <a:off x="640080" y="2926080"/>
            <a:ext cx="7772400" cy="274320"/>
          </a:xfrm>
          <a:prstGeom prst="rect">
            <a:avLst/>
          </a:prstGeom>
          <a:noFill/>
          <a:ln/>
        </p:spPr>
        <p:txBody>
          <a:bodyPr wrap="square" rtlCol="0" anchor="ctr"/>
          <a:lstStyle/>
          <a:p>
            <a:pPr indent="0" marL="0">
              <a:buNone/>
            </a:pPr>
            <a:r>
              <a:rPr lang="en-US" sz="1100" dirty="0">
                <a:solidFill>
                  <a:srgbClr val="1A1A1A"/>
                </a:solidFill>
              </a:rPr>
              <a:t>[ ] Raycast Tn → export Tn.las</a:t>
            </a:r>
            <a:endParaRPr lang="en-US" sz="1100" dirty="0"/>
          </a:p>
        </p:txBody>
      </p:sp>
      <p:sp>
        <p:nvSpPr>
          <p:cNvPr id="11" name="Text 9"/>
          <p:cNvSpPr/>
          <p:nvPr/>
        </p:nvSpPr>
        <p:spPr>
          <a:xfrm>
            <a:off x="640080" y="3246120"/>
            <a:ext cx="7772400" cy="274320"/>
          </a:xfrm>
          <a:prstGeom prst="rect">
            <a:avLst/>
          </a:prstGeom>
          <a:noFill/>
          <a:ln/>
        </p:spPr>
        <p:txBody>
          <a:bodyPr wrap="square" rtlCol="0" anchor="ctr"/>
          <a:lstStyle/>
          <a:p>
            <a:pPr indent="0" marL="0">
              <a:buNone/>
            </a:pPr>
            <a:r>
              <a:rPr lang="en-US" sz="1100" dirty="0">
                <a:solidFill>
                  <a:srgbClr val="1A1A1A"/>
                </a:solidFill>
              </a:rPr>
              <a:t>[ ] Load T0, Tn into tool</a:t>
            </a:r>
            <a:endParaRPr lang="en-US" sz="1100" dirty="0"/>
          </a:p>
        </p:txBody>
      </p:sp>
      <p:sp>
        <p:nvSpPr>
          <p:cNvPr id="12" name="Text 10"/>
          <p:cNvSpPr/>
          <p:nvPr/>
        </p:nvSpPr>
        <p:spPr>
          <a:xfrm>
            <a:off x="640080" y="3566160"/>
            <a:ext cx="7772400" cy="274320"/>
          </a:xfrm>
          <a:prstGeom prst="rect">
            <a:avLst/>
          </a:prstGeom>
          <a:noFill/>
          <a:ln/>
        </p:spPr>
        <p:txBody>
          <a:bodyPr wrap="square" rtlCol="0" anchor="ctr"/>
          <a:lstStyle/>
          <a:p>
            <a:pPr indent="0" marL="0">
              <a:buNone/>
            </a:pPr>
            <a:r>
              <a:rPr lang="en-US" sz="1100" dirty="0">
                <a:solidFill>
                  <a:srgbClr val="1A1A1A"/>
                </a:solidFill>
              </a:rPr>
              <a:t>[ ] Measure deformation metrics</a:t>
            </a:r>
            <a:endParaRPr lang="en-US" sz="1100" dirty="0"/>
          </a:p>
        </p:txBody>
      </p:sp>
      <p:sp>
        <p:nvSpPr>
          <p:cNvPr id="13" name="Text 11"/>
          <p:cNvSpPr/>
          <p:nvPr/>
        </p:nvSpPr>
        <p:spPr>
          <a:xfrm>
            <a:off x="640080" y="3886200"/>
            <a:ext cx="7772400" cy="274320"/>
          </a:xfrm>
          <a:prstGeom prst="rect">
            <a:avLst/>
          </a:prstGeom>
          <a:noFill/>
          <a:ln/>
        </p:spPr>
        <p:txBody>
          <a:bodyPr wrap="square" rtlCol="0" anchor="ctr"/>
          <a:lstStyle/>
          <a:p>
            <a:pPr indent="0" marL="0">
              <a:buNone/>
            </a:pPr>
            <a:r>
              <a:rPr lang="en-US" sz="1100" dirty="0">
                <a:solidFill>
                  <a:srgbClr val="1A1A1A"/>
                </a:solidFill>
              </a:rPr>
              <a:t>[ ] Compare vs ground_truth.csv</a:t>
            </a:r>
            <a:endParaRPr lang="en-US" sz="1100" dirty="0"/>
          </a:p>
        </p:txBody>
      </p:sp>
      <p:sp>
        <p:nvSpPr>
          <p:cNvPr id="14" name="Text 12"/>
          <p:cNvSpPr/>
          <p:nvPr/>
        </p:nvSpPr>
        <p:spPr>
          <a:xfrm>
            <a:off x="640080" y="4206240"/>
            <a:ext cx="7772400" cy="274320"/>
          </a:xfrm>
          <a:prstGeom prst="rect">
            <a:avLst/>
          </a:prstGeom>
          <a:noFill/>
          <a:ln/>
        </p:spPr>
        <p:txBody>
          <a:bodyPr wrap="square" rtlCol="0" anchor="ctr"/>
          <a:lstStyle/>
          <a:p>
            <a:pPr indent="0" marL="0">
              <a:buNone/>
            </a:pPr>
            <a:r>
              <a:rPr lang="en-US" sz="1100" dirty="0">
                <a:solidFill>
                  <a:srgbClr val="1A1A1A"/>
                </a:solidFill>
              </a:rPr>
              <a:t>[ ] Calculate error</a:t>
            </a:r>
            <a:endParaRPr lang="en-US" sz="1100" dirty="0"/>
          </a:p>
        </p:txBody>
      </p:sp>
      <p:sp>
        <p:nvSpPr>
          <p:cNvPr id="15" name="Text 13"/>
          <p:cNvSpPr/>
          <p:nvPr/>
        </p:nvSpPr>
        <p:spPr>
          <a:xfrm>
            <a:off x="640080" y="4526280"/>
            <a:ext cx="7772400" cy="274320"/>
          </a:xfrm>
          <a:prstGeom prst="rect">
            <a:avLst/>
          </a:prstGeom>
          <a:noFill/>
          <a:ln/>
        </p:spPr>
        <p:txBody>
          <a:bodyPr wrap="square" rtlCol="0" anchor="ctr"/>
          <a:lstStyle/>
          <a:p>
            <a:pPr indent="0" marL="0">
              <a:buNone/>
            </a:pPr>
            <a:r>
              <a:rPr lang="en-US" sz="1100" dirty="0">
                <a:solidFill>
                  <a:srgbClr val="1A1A1A"/>
                </a:solidFill>
              </a:rPr>
              <a:t>[ ] Repeat scenarios B, C, D</a:t>
            </a:r>
            <a:endParaRPr lang="en-US" sz="1100" dirty="0"/>
          </a:p>
        </p:txBody>
      </p:sp>
      <p:sp>
        <p:nvSpPr>
          <p:cNvPr id="16" name="Text 14"/>
          <p:cNvSpPr/>
          <p:nvPr/>
        </p:nvSpPr>
        <p:spPr>
          <a:xfrm>
            <a:off x="640080" y="4846320"/>
            <a:ext cx="7772400" cy="274320"/>
          </a:xfrm>
          <a:prstGeom prst="rect">
            <a:avLst/>
          </a:prstGeom>
          <a:noFill/>
          <a:ln/>
        </p:spPr>
        <p:txBody>
          <a:bodyPr wrap="square" rtlCol="0" anchor="ctr"/>
          <a:lstStyle/>
          <a:p>
            <a:pPr indent="0" marL="0">
              <a:buNone/>
            </a:pPr>
            <a:r>
              <a:rPr lang="en-US" sz="1100" dirty="0">
                <a:solidFill>
                  <a:srgbClr val="1A1A1A"/>
                </a:solidFill>
              </a:rPr>
              <a:t>[ ] Write validation report</a:t>
            </a:r>
            <a:endParaRPr lang="en-US" sz="1100" dirty="0"/>
          </a:p>
        </p:txBody>
      </p:sp>
      <p:sp>
        <p:nvSpPr>
          <p:cNvPr id="17" name="Text 15"/>
          <p:cNvSpPr/>
          <p:nvPr/>
        </p:nvSpPr>
        <p:spPr>
          <a:xfrm>
            <a:off x="640080" y="5166360"/>
            <a:ext cx="7772400" cy="274320"/>
          </a:xfrm>
          <a:prstGeom prst="rect">
            <a:avLst/>
          </a:prstGeom>
          <a:noFill/>
          <a:ln/>
        </p:spPr>
        <p:txBody>
          <a:bodyPr wrap="square" rtlCol="0" anchor="ctr"/>
          <a:lstStyle/>
          <a:p>
            <a:pPr indent="0" marL="0">
              <a:buNone/>
            </a:pPr>
            <a:r>
              <a:rPr lang="en-US" sz="1100" dirty="0">
                <a:solidFill>
                  <a:srgbClr val="1A1A1A"/>
                </a:solidFill>
              </a:rPr>
              <a:t>[ ] Commit to git</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065A82"/>
          </a:solidFill>
          <a:ln/>
        </p:spPr>
      </p:sp>
      <p:sp>
        <p:nvSpPr>
          <p:cNvPr id="3" name="Text 1"/>
          <p:cNvSpPr/>
          <p:nvPr/>
        </p:nvSpPr>
        <p:spPr>
          <a:xfrm>
            <a:off x="457200" y="137160"/>
            <a:ext cx="8229600" cy="457200"/>
          </a:xfrm>
          <a:prstGeom prst="rect">
            <a:avLst/>
          </a:prstGeom>
          <a:noFill/>
          <a:ln/>
        </p:spPr>
        <p:txBody>
          <a:bodyPr wrap="square" rtlCol="0" anchor="ctr"/>
          <a:lstStyle/>
          <a:p>
            <a:pPr algn="l" indent="0" marL="0">
              <a:buNone/>
            </a:pPr>
            <a:r>
              <a:rPr lang="en-US" sz="3600" b="1" dirty="0">
                <a:solidFill>
                  <a:srgbClr val="FFFFFF"/>
                </a:solidFill>
              </a:rPr>
              <a:t>Summary: TLSynth Protocol</a:t>
            </a:r>
            <a:endParaRPr lang="en-US" sz="3600" dirty="0"/>
          </a:p>
        </p:txBody>
      </p:sp>
      <p:sp>
        <p:nvSpPr>
          <p:cNvPr id="4" name="Text 2"/>
          <p:cNvSpPr/>
          <p:nvPr/>
        </p:nvSpPr>
        <p:spPr>
          <a:xfrm>
            <a:off x="457200" y="914400"/>
            <a:ext cx="8229600" cy="320040"/>
          </a:xfrm>
          <a:prstGeom prst="rect">
            <a:avLst/>
          </a:prstGeom>
          <a:noFill/>
          <a:ln/>
        </p:spPr>
        <p:txBody>
          <a:bodyPr wrap="square" rtlCol="0" anchor="ctr"/>
          <a:lstStyle/>
          <a:p>
            <a:pPr indent="0" marL="0">
              <a:buNone/>
            </a:pPr>
            <a:r>
              <a:rPr lang="en-US" sz="1400" b="1" dirty="0">
                <a:solidFill>
                  <a:srgbClr val="065A82"/>
                </a:solidFill>
              </a:rPr>
              <a:t>What we create:</a:t>
            </a:r>
            <a:endParaRPr lang="en-US" sz="1400" dirty="0"/>
          </a:p>
        </p:txBody>
      </p:sp>
      <p:sp>
        <p:nvSpPr>
          <p:cNvPr id="5" name="Text 3"/>
          <p:cNvSpPr/>
          <p:nvPr/>
        </p:nvSpPr>
        <p:spPr>
          <a:xfrm>
            <a:off x="640080" y="1371600"/>
            <a:ext cx="7772400" cy="320040"/>
          </a:xfrm>
          <a:prstGeom prst="rect">
            <a:avLst/>
          </a:prstGeom>
          <a:noFill/>
          <a:ln/>
        </p:spPr>
        <p:txBody>
          <a:bodyPr wrap="square" rtlCol="0" anchor="ctr"/>
          <a:lstStyle/>
          <a:p>
            <a:pPr indent="0" marL="0">
              <a:buNone/>
            </a:pPr>
            <a:r>
              <a:rPr lang="en-US" sz="1200" dirty="0">
                <a:solidFill>
                  <a:srgbClr val="1A1A1A"/>
                </a:solidFill>
              </a:rPr>
              <a:t>• T0.las: Clean reference (364 points, 3.0m radius)</a:t>
            </a:r>
            <a:endParaRPr lang="en-US" sz="1200" dirty="0"/>
          </a:p>
        </p:txBody>
      </p:sp>
      <p:sp>
        <p:nvSpPr>
          <p:cNvPr id="6" name="Text 4"/>
          <p:cNvSpPr/>
          <p:nvPr/>
        </p:nvSpPr>
        <p:spPr>
          <a:xfrm>
            <a:off x="640080" y="1783080"/>
            <a:ext cx="7772400" cy="320040"/>
          </a:xfrm>
          <a:prstGeom prst="rect">
            <a:avLst/>
          </a:prstGeom>
          <a:noFill/>
          <a:ln/>
        </p:spPr>
        <p:txBody>
          <a:bodyPr wrap="square" rtlCol="0" anchor="ctr"/>
          <a:lstStyle/>
          <a:p>
            <a:pPr indent="0" marL="0">
              <a:buNone/>
            </a:pPr>
            <a:r>
              <a:rPr lang="en-US" sz="1200" dirty="0">
                <a:solidFill>
                  <a:srgbClr val="1A1A1A"/>
                </a:solidFill>
              </a:rPr>
              <a:t>• Tn.las: Deformed scan (known -7mm crown, -5mm convergence)</a:t>
            </a:r>
            <a:endParaRPr lang="en-US" sz="1200" dirty="0"/>
          </a:p>
        </p:txBody>
      </p:sp>
      <p:sp>
        <p:nvSpPr>
          <p:cNvPr id="7" name="Text 5"/>
          <p:cNvSpPr/>
          <p:nvPr/>
        </p:nvSpPr>
        <p:spPr>
          <a:xfrm>
            <a:off x="640080" y="2194560"/>
            <a:ext cx="7772400" cy="320040"/>
          </a:xfrm>
          <a:prstGeom prst="rect">
            <a:avLst/>
          </a:prstGeom>
          <a:noFill/>
          <a:ln/>
        </p:spPr>
        <p:txBody>
          <a:bodyPr wrap="square" rtlCol="0" anchor="ctr"/>
          <a:lstStyle/>
          <a:p>
            <a:pPr indent="0" marL="0">
              <a:buNone/>
            </a:pPr>
            <a:r>
              <a:rPr lang="en-US" sz="1200" dirty="0">
                <a:solidFill>
                  <a:srgbClr val="1A1A1A"/>
                </a:solidFill>
              </a:rPr>
              <a:t>• ground_truth.csv: Prescribed deformation values</a:t>
            </a:r>
            <a:endParaRPr lang="en-US" sz="1200" dirty="0"/>
          </a:p>
        </p:txBody>
      </p:sp>
      <p:sp>
        <p:nvSpPr>
          <p:cNvPr id="8" name="Text 6"/>
          <p:cNvSpPr/>
          <p:nvPr/>
        </p:nvSpPr>
        <p:spPr>
          <a:xfrm>
            <a:off x="640080" y="2606040"/>
            <a:ext cx="7772400" cy="320040"/>
          </a:xfrm>
          <a:prstGeom prst="rect">
            <a:avLst/>
          </a:prstGeom>
          <a:noFill/>
          <a:ln/>
        </p:spPr>
        <p:txBody>
          <a:bodyPr wrap="square" rtlCol="0" anchor="ctr"/>
          <a:lstStyle/>
          <a:p>
            <a:pPr indent="0" marL="0">
              <a:buNone/>
            </a:pPr>
            <a:r>
              <a:rPr lang="en-US" sz="1200" dirty="0">
                <a:solidFill>
                  <a:srgbClr val="1A1A1A"/>
                </a:solidFill>
              </a:rPr>
              <a:t>• validation_results.csv: Measured vs ground truth comparison</a:t>
            </a:r>
            <a:endParaRPr lang="en-US" sz="1200" dirty="0"/>
          </a:p>
        </p:txBody>
      </p:sp>
      <p:sp>
        <p:nvSpPr>
          <p:cNvPr id="9" name="Text 7"/>
          <p:cNvSpPr/>
          <p:nvPr/>
        </p:nvSpPr>
        <p:spPr>
          <a:xfrm>
            <a:off x="457200" y="3017520"/>
            <a:ext cx="8229600" cy="365760"/>
          </a:xfrm>
          <a:prstGeom prst="rect">
            <a:avLst/>
          </a:prstGeom>
          <a:noFill/>
          <a:ln/>
        </p:spPr>
        <p:txBody>
          <a:bodyPr wrap="square" rtlCol="0" anchor="ctr"/>
          <a:lstStyle/>
          <a:p>
            <a:pPr indent="0" marL="0">
              <a:buNone/>
            </a:pPr>
            <a:r>
              <a:rPr lang="en-US" sz="1300" b="1" dirty="0">
                <a:solidFill>
                  <a:srgbClr val="02C39A"/>
                </a:solidFill>
              </a:rPr>
              <a:t>Outcome: Validate tunnel_analysis tool accuracy (mm-level)</a:t>
            </a:r>
            <a:endParaRPr lang="en-US" sz="1300" dirty="0"/>
          </a:p>
        </p:txBody>
      </p:sp>
      <p:sp>
        <p:nvSpPr>
          <p:cNvPr id="10" name="Text 8"/>
          <p:cNvSpPr/>
          <p:nvPr/>
        </p:nvSpPr>
        <p:spPr>
          <a:xfrm>
            <a:off x="457200" y="3657600"/>
            <a:ext cx="8229600" cy="365760"/>
          </a:xfrm>
          <a:prstGeom prst="rect">
            <a:avLst/>
          </a:prstGeom>
          <a:noFill/>
          <a:ln/>
        </p:spPr>
        <p:txBody>
          <a:bodyPr wrap="square" rtlCol="0" anchor="ctr"/>
          <a:lstStyle/>
          <a:p>
            <a:pPr indent="0" marL="0">
              <a:buNone/>
            </a:pPr>
            <a:r>
              <a:rPr lang="en-US" sz="1200" i="1" dirty="0">
                <a:solidFill>
                  <a:srgbClr val="1A1A1A"/>
                </a:solidFill>
              </a:rPr>
              <a:t>Based on TLSynth paper §3.1-3.5 (Scanning Simulation Pipeline)</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2026-06-23T09:25:24Z</dcterms:created>
  <dcterms:modified xsi:type="dcterms:W3CDTF">2026-06-23T09:25:24Z</dcterms:modified>
</cp:coreProperties>
</file>