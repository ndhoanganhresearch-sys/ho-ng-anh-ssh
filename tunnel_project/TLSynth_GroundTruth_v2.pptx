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protocol creates synthetic ground truth data using raycasting. We start with clean tunnel mesh, raycast to get T0 baseline, inject deformation, raycast again to get Tn, then validate tool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Understand core vocabulary: raycasting simulates laser scanning, ground truth is known deformation we inject, T0/Tn are temporal states, validation checks if tool measures them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is 3 phases plus validation. Phase A: clean baseline. Phase B: inject known deformation into mesh. Phase C: scan deformed mesh. Validation: load both into tool, compare measurements. Total ~2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A creates the clean baseline. Load Blender tunnel mesh, create UV sphere at scanner location, raycast 512 rays, add realistic noise, export T0.las. Record metadata for comparison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B injects known deformation into tunnel mesh. Define exact amounts and locations (crown, convergence, damage). Modify vertices using Blender script or Python. Record all ground truth values before proceeding to Phase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C raycasts the deformed mesh using identical scanner setup. Only difference: target mesh changed to deformed version. Same scanner location, same ray count, same noise = differences are ONLY from deformation.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 both scans into tool, measure deformation, compare vs ground truth. If error is small, tool is accurate. If large, debug the pipeline: check registration, noise level, fitting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protocol with 4 scenarios to build robustness. Scenario A: noise floor. Scenario B: isolated measurements. Scenario C: realistic stress test. Scenario D: generalization. Pass all 4 = confident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to complete full protocol: ~2 hours for Scenario A baseline validation. Optional: repeat with scenarios B/C/D for additional robustness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target: mm-level precision. Crown and convergence &lt; 1mm each. Damage &lt; 2mm. Overall MAE &lt; 0.6mm (historical baseline). Success = error &lt; ±1mm for all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deliverables: T0.las, Tn.las, metadata, validation report. Outcome: tool validation at mm-level accuracy. Ready to deploy for field tunnel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3"/>
        </a:solidFill>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0F2A43"/>
          </a:solidFill>
          <a:ln/>
        </p:spPr>
      </p:sp>
      <p:sp>
        <p:nvSpPr>
          <p:cNvPr id="3" name="Shape 1"/>
          <p:cNvSpPr/>
          <p:nvPr/>
        </p:nvSpPr>
        <p:spPr>
          <a:xfrm>
            <a:off x="0" y="2560320"/>
            <a:ext cx="9144000" cy="91440"/>
          </a:xfrm>
          <a:prstGeom prst="rect">
            <a:avLst/>
          </a:prstGeom>
          <a:solidFill>
            <a:srgbClr val="27AE60"/>
          </a:solidFill>
          <a:ln/>
        </p:spPr>
      </p:sp>
      <p:sp>
        <p:nvSpPr>
          <p:cNvPr id="4" name="Text 2"/>
          <p:cNvSpPr/>
          <p:nvPr/>
        </p:nvSpPr>
        <p:spPr>
          <a:xfrm>
            <a:off x="457200" y="2011680"/>
            <a:ext cx="8229600" cy="914400"/>
          </a:xfrm>
          <a:prstGeom prst="rect">
            <a:avLst/>
          </a:prstGeom>
          <a:noFill/>
          <a:ln/>
        </p:spPr>
        <p:txBody>
          <a:bodyPr wrap="square" rtlCol="0" anchor="ctr"/>
          <a:lstStyle/>
          <a:p>
            <a:pPr indent="0" marL="0">
              <a:buNone/>
            </a:pPr>
            <a:r>
              <a:rPr lang="en-US" sz="5400" b="1" dirty="0">
                <a:solidFill>
                  <a:srgbClr val="FFFFFF"/>
                </a:solidFill>
              </a:rPr>
              <a:t>TLSynth Raycasting Protocol</a:t>
            </a:r>
            <a:endParaRPr lang="en-US" sz="5400" dirty="0"/>
          </a:p>
        </p:txBody>
      </p:sp>
      <p:sp>
        <p:nvSpPr>
          <p:cNvPr id="5" name="Text 3"/>
          <p:cNvSpPr/>
          <p:nvPr/>
        </p:nvSpPr>
        <p:spPr>
          <a:xfrm>
            <a:off x="457200" y="2926080"/>
            <a:ext cx="8229600" cy="1097280"/>
          </a:xfrm>
          <a:prstGeom prst="rect">
            <a:avLst/>
          </a:prstGeom>
          <a:noFill/>
          <a:ln/>
        </p:spPr>
        <p:txBody>
          <a:bodyPr wrap="square" rtlCol="0" anchor="ctr"/>
          <a:lstStyle/>
          <a:p>
            <a:pPr indent="0" marL="0">
              <a:buNone/>
            </a:pPr>
            <a:r>
              <a:rPr lang="en-US" sz="2000" dirty="0">
                <a:solidFill>
                  <a:srgbClr val="27AE60"/>
                </a:solidFill>
              </a:rPr>
              <a:t>Creating synthetic ground truth for tunnel deformation validation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A43"/>
          </a:solidFill>
          <a:ln/>
        </p:spPr>
      </p:sp>
      <p:sp>
        <p:nvSpPr>
          <p:cNvPr id="3" name="Text 1"/>
          <p:cNvSpPr/>
          <p:nvPr/>
        </p:nvSpPr>
        <p:spPr>
          <a:xfrm>
            <a:off x="457200" y="91440"/>
            <a:ext cx="8229600" cy="457200"/>
          </a:xfrm>
          <a:prstGeom prst="rect">
            <a:avLst/>
          </a:prstGeom>
          <a:noFill/>
          <a:ln/>
        </p:spPr>
        <p:txBody>
          <a:bodyPr wrap="square" rtlCol="0" anchor="ctr"/>
          <a:lstStyle/>
          <a:p>
            <a:pPr indent="0" marL="0">
              <a:buNone/>
            </a:pPr>
            <a:r>
              <a:rPr lang="en-US" sz="3200" b="1" dirty="0">
                <a:solidFill>
                  <a:srgbClr val="FFFFFF"/>
                </a:solidFill>
              </a:rPr>
              <a:t>Purpose &amp; Scope</a:t>
            </a:r>
            <a:endParaRPr lang="en-US" sz="3200" dirty="0"/>
          </a:p>
        </p:txBody>
      </p:sp>
      <p:sp>
        <p:nvSpPr>
          <p:cNvPr id="4" name="Shape 2"/>
          <p:cNvSpPr/>
          <p:nvPr/>
        </p:nvSpPr>
        <p:spPr>
          <a:xfrm>
            <a:off x="457200" y="1024128"/>
            <a:ext cx="320040" cy="320040"/>
          </a:xfrm>
          <a:prstGeom prst="ellipse">
            <a:avLst/>
          </a:prstGeom>
          <a:solidFill>
            <a:srgbClr val="0E7C86"/>
          </a:solidFill>
          <a:ln/>
        </p:spPr>
      </p:sp>
      <p:sp>
        <p:nvSpPr>
          <p:cNvPr id="5" name="Text 3"/>
          <p:cNvSpPr/>
          <p:nvPr/>
        </p:nvSpPr>
        <p:spPr>
          <a:xfrm>
            <a:off x="457200" y="1005840"/>
            <a:ext cx="320040" cy="320040"/>
          </a:xfrm>
          <a:prstGeom prst="rect">
            <a:avLst/>
          </a:prstGeom>
          <a:noFill/>
          <a:ln/>
        </p:spPr>
        <p:txBody>
          <a:bodyPr wrap="square" rtlCol="0" anchor="ctr"/>
          <a:lstStyle/>
          <a:p>
            <a:pPr algn="ctr" indent="0" marL="0">
              <a:buNone/>
            </a:pPr>
            <a:r>
              <a:rPr lang="en-US" sz="1400" b="1" dirty="0">
                <a:solidFill>
                  <a:srgbClr val="FFFFFF"/>
                </a:solidFill>
              </a:rPr>
              <a:t>1</a:t>
            </a:r>
            <a:endParaRPr lang="en-US" sz="1400" dirty="0"/>
          </a:p>
        </p:txBody>
      </p:sp>
      <p:sp>
        <p:nvSpPr>
          <p:cNvPr id="6" name="Text 4"/>
          <p:cNvSpPr/>
          <p:nvPr/>
        </p:nvSpPr>
        <p:spPr>
          <a:xfrm>
            <a:off x="914400" y="1005840"/>
            <a:ext cx="7772400" cy="320040"/>
          </a:xfrm>
          <a:prstGeom prst="rect">
            <a:avLst/>
          </a:prstGeom>
          <a:noFill/>
          <a:ln/>
        </p:spPr>
        <p:txBody>
          <a:bodyPr wrap="square" rtlCol="0" anchor="t"/>
          <a:lstStyle/>
          <a:p>
            <a:pPr algn="l" indent="0" marL="0">
              <a:buNone/>
            </a:pPr>
            <a:r>
              <a:rPr lang="en-US" sz="1300" dirty="0">
                <a:solidFill>
                  <a:srgbClr val="1A1A1A"/>
                </a:solidFill>
              </a:rPr>
              <a:t>• Create synthetic tunnel point clouds with KNOWN deformation</a:t>
            </a:r>
            <a:endParaRPr lang="en-US" sz="1300" dirty="0"/>
          </a:p>
        </p:txBody>
      </p:sp>
      <p:sp>
        <p:nvSpPr>
          <p:cNvPr id="7" name="Shape 5"/>
          <p:cNvSpPr/>
          <p:nvPr/>
        </p:nvSpPr>
        <p:spPr>
          <a:xfrm>
            <a:off x="457200" y="1463040"/>
            <a:ext cx="320040" cy="320040"/>
          </a:xfrm>
          <a:prstGeom prst="ellipse">
            <a:avLst/>
          </a:prstGeom>
          <a:solidFill>
            <a:srgbClr val="0E7C86"/>
          </a:solidFill>
          <a:ln/>
        </p:spPr>
      </p:sp>
      <p:sp>
        <p:nvSpPr>
          <p:cNvPr id="8" name="Text 6"/>
          <p:cNvSpPr/>
          <p:nvPr/>
        </p:nvSpPr>
        <p:spPr>
          <a:xfrm>
            <a:off x="457200" y="1444752"/>
            <a:ext cx="320040" cy="320040"/>
          </a:xfrm>
          <a:prstGeom prst="rect">
            <a:avLst/>
          </a:prstGeom>
          <a:noFill/>
          <a:ln/>
        </p:spPr>
        <p:txBody>
          <a:bodyPr wrap="square" rtlCol="0" anchor="ctr"/>
          <a:lstStyle/>
          <a:p>
            <a:pPr algn="ctr" indent="0" marL="0">
              <a:buNone/>
            </a:pPr>
            <a:r>
              <a:rPr lang="en-US" sz="1400" b="1" dirty="0">
                <a:solidFill>
                  <a:srgbClr val="FFFFFF"/>
                </a:solidFill>
              </a:rPr>
              <a:t>2</a:t>
            </a:r>
            <a:endParaRPr lang="en-US" sz="1400" dirty="0"/>
          </a:p>
        </p:txBody>
      </p:sp>
      <p:sp>
        <p:nvSpPr>
          <p:cNvPr id="9" name="Text 7"/>
          <p:cNvSpPr/>
          <p:nvPr/>
        </p:nvSpPr>
        <p:spPr>
          <a:xfrm>
            <a:off x="914400" y="1444752"/>
            <a:ext cx="7772400" cy="320040"/>
          </a:xfrm>
          <a:prstGeom prst="rect">
            <a:avLst/>
          </a:prstGeom>
          <a:noFill/>
          <a:ln/>
        </p:spPr>
        <p:txBody>
          <a:bodyPr wrap="square" rtlCol="0" anchor="t"/>
          <a:lstStyle/>
          <a:p>
            <a:pPr algn="l" indent="0" marL="0">
              <a:buNone/>
            </a:pPr>
            <a:r>
              <a:rPr lang="en-US" sz="1300" dirty="0">
                <a:solidFill>
                  <a:srgbClr val="1A1A1A"/>
                </a:solidFill>
              </a:rPr>
              <a:t>• Validate tunnel_analysis tool accuracy (mm-level precision)</a:t>
            </a:r>
            <a:endParaRPr lang="en-US" sz="1300" dirty="0"/>
          </a:p>
        </p:txBody>
      </p:sp>
      <p:sp>
        <p:nvSpPr>
          <p:cNvPr id="10" name="Shape 8"/>
          <p:cNvSpPr/>
          <p:nvPr/>
        </p:nvSpPr>
        <p:spPr>
          <a:xfrm>
            <a:off x="457200" y="1901952"/>
            <a:ext cx="320040" cy="320040"/>
          </a:xfrm>
          <a:prstGeom prst="ellipse">
            <a:avLst/>
          </a:prstGeom>
          <a:solidFill>
            <a:srgbClr val="0E7C86"/>
          </a:solidFill>
          <a:ln/>
        </p:spPr>
      </p:sp>
      <p:sp>
        <p:nvSpPr>
          <p:cNvPr id="11" name="Text 9"/>
          <p:cNvSpPr/>
          <p:nvPr/>
        </p:nvSpPr>
        <p:spPr>
          <a:xfrm>
            <a:off x="457200" y="1883664"/>
            <a:ext cx="320040" cy="320040"/>
          </a:xfrm>
          <a:prstGeom prst="rect">
            <a:avLst/>
          </a:prstGeom>
          <a:noFill/>
          <a:ln/>
        </p:spPr>
        <p:txBody>
          <a:bodyPr wrap="square" rtlCol="0" anchor="ctr"/>
          <a:lstStyle/>
          <a:p>
            <a:pPr algn="ctr" indent="0" marL="0">
              <a:buNone/>
            </a:pPr>
            <a:r>
              <a:rPr lang="en-US" sz="1400" b="1" dirty="0">
                <a:solidFill>
                  <a:srgbClr val="FFFFFF"/>
                </a:solidFill>
              </a:rPr>
              <a:t>3</a:t>
            </a:r>
            <a:endParaRPr lang="en-US" sz="1400" dirty="0"/>
          </a:p>
        </p:txBody>
      </p:sp>
      <p:sp>
        <p:nvSpPr>
          <p:cNvPr id="12" name="Text 10"/>
          <p:cNvSpPr/>
          <p:nvPr/>
        </p:nvSpPr>
        <p:spPr>
          <a:xfrm>
            <a:off x="914400" y="1883664"/>
            <a:ext cx="7772400" cy="320040"/>
          </a:xfrm>
          <a:prstGeom prst="rect">
            <a:avLst/>
          </a:prstGeom>
          <a:noFill/>
          <a:ln/>
        </p:spPr>
        <p:txBody>
          <a:bodyPr wrap="square" rtlCol="0" anchor="t"/>
          <a:lstStyle/>
          <a:p>
            <a:pPr algn="l" indent="0" marL="0">
              <a:buNone/>
            </a:pPr>
            <a:r>
              <a:rPr lang="en-US" sz="1300" dirty="0">
                <a:solidFill>
                  <a:srgbClr val="1A1A1A"/>
                </a:solidFill>
              </a:rPr>
              <a:t>• Follow TLSynth paper methodology (§3.1-3.5)</a:t>
            </a:r>
            <a:endParaRPr lang="en-US" sz="1300" dirty="0"/>
          </a:p>
        </p:txBody>
      </p:sp>
      <p:sp>
        <p:nvSpPr>
          <p:cNvPr id="13" name="Shape 11"/>
          <p:cNvSpPr/>
          <p:nvPr/>
        </p:nvSpPr>
        <p:spPr>
          <a:xfrm>
            <a:off x="457200" y="2340864"/>
            <a:ext cx="320040" cy="320040"/>
          </a:xfrm>
          <a:prstGeom prst="ellipse">
            <a:avLst/>
          </a:prstGeom>
          <a:solidFill>
            <a:srgbClr val="0E7C86"/>
          </a:solidFill>
          <a:ln/>
        </p:spPr>
      </p:sp>
      <p:sp>
        <p:nvSpPr>
          <p:cNvPr id="14" name="Text 12"/>
          <p:cNvSpPr/>
          <p:nvPr/>
        </p:nvSpPr>
        <p:spPr>
          <a:xfrm>
            <a:off x="457200" y="2322576"/>
            <a:ext cx="320040" cy="320040"/>
          </a:xfrm>
          <a:prstGeom prst="rect">
            <a:avLst/>
          </a:prstGeom>
          <a:noFill/>
          <a:ln/>
        </p:spPr>
        <p:txBody>
          <a:bodyPr wrap="square" rtlCol="0" anchor="ctr"/>
          <a:lstStyle/>
          <a:p>
            <a:pPr algn="ctr" indent="0" marL="0">
              <a:buNone/>
            </a:pPr>
            <a:r>
              <a:rPr lang="en-US" sz="1400" b="1" dirty="0">
                <a:solidFill>
                  <a:srgbClr val="FFFFFF"/>
                </a:solidFill>
              </a:rPr>
              <a:t>4</a:t>
            </a:r>
            <a:endParaRPr lang="en-US" sz="1400" dirty="0"/>
          </a:p>
        </p:txBody>
      </p:sp>
      <p:sp>
        <p:nvSpPr>
          <p:cNvPr id="15" name="Text 13"/>
          <p:cNvSpPr/>
          <p:nvPr/>
        </p:nvSpPr>
        <p:spPr>
          <a:xfrm>
            <a:off x="914400" y="2322576"/>
            <a:ext cx="7772400" cy="320040"/>
          </a:xfrm>
          <a:prstGeom prst="rect">
            <a:avLst/>
          </a:prstGeom>
          <a:noFill/>
          <a:ln/>
        </p:spPr>
        <p:txBody>
          <a:bodyPr wrap="square" rtlCol="0" anchor="t"/>
          <a:lstStyle/>
          <a:p>
            <a:pPr algn="l" indent="0" marL="0">
              <a:buNone/>
            </a:pPr>
            <a:r>
              <a:rPr lang="en-US" sz="1300" dirty="0">
                <a:solidFill>
                  <a:srgbClr val="1A1A1A"/>
                </a:solidFill>
              </a:rPr>
              <a:t>• Build confidence through 4 validation scenarios</a:t>
            </a:r>
            <a:endParaRPr lang="en-US" sz="1300" dirty="0"/>
          </a:p>
        </p:txBody>
      </p:sp>
      <p:sp>
        <p:nvSpPr>
          <p:cNvPr id="16" name="Shape 14"/>
          <p:cNvSpPr/>
          <p:nvPr/>
        </p:nvSpPr>
        <p:spPr>
          <a:xfrm>
            <a:off x="457200" y="2779776"/>
            <a:ext cx="320040" cy="320040"/>
          </a:xfrm>
          <a:prstGeom prst="ellipse">
            <a:avLst/>
          </a:prstGeom>
          <a:solidFill>
            <a:srgbClr val="0E7C86"/>
          </a:solidFill>
          <a:ln/>
        </p:spPr>
      </p:sp>
      <p:sp>
        <p:nvSpPr>
          <p:cNvPr id="17" name="Text 15"/>
          <p:cNvSpPr/>
          <p:nvPr/>
        </p:nvSpPr>
        <p:spPr>
          <a:xfrm>
            <a:off x="457200" y="2761488"/>
            <a:ext cx="320040" cy="320040"/>
          </a:xfrm>
          <a:prstGeom prst="rect">
            <a:avLst/>
          </a:prstGeom>
          <a:noFill/>
          <a:ln/>
        </p:spPr>
        <p:txBody>
          <a:bodyPr wrap="square" rtlCol="0" anchor="ctr"/>
          <a:lstStyle/>
          <a:p>
            <a:pPr algn="ctr" indent="0" marL="0">
              <a:buNone/>
            </a:pPr>
            <a:r>
              <a:rPr lang="en-US" sz="1400" b="1" dirty="0">
                <a:solidFill>
                  <a:srgbClr val="FFFFFF"/>
                </a:solidFill>
              </a:rPr>
              <a:t>5</a:t>
            </a:r>
            <a:endParaRPr lang="en-US" sz="1400" dirty="0"/>
          </a:p>
        </p:txBody>
      </p:sp>
      <p:sp>
        <p:nvSpPr>
          <p:cNvPr id="18" name="Text 16"/>
          <p:cNvSpPr/>
          <p:nvPr/>
        </p:nvSpPr>
        <p:spPr>
          <a:xfrm>
            <a:off x="914400" y="2761488"/>
            <a:ext cx="7772400" cy="320040"/>
          </a:xfrm>
          <a:prstGeom prst="rect">
            <a:avLst/>
          </a:prstGeom>
          <a:noFill/>
          <a:ln/>
        </p:spPr>
        <p:txBody>
          <a:bodyPr wrap="square" rtlCol="0" anchor="t"/>
          <a:lstStyle/>
          <a:p>
            <a:pPr algn="l" indent="0" marL="0">
              <a:buNone/>
            </a:pPr>
            <a:r>
              <a:rPr lang="en-US" sz="1300" dirty="0">
                <a:solidFill>
                  <a:srgbClr val="1A1A1A"/>
                </a:solidFill>
              </a:rPr>
              <a:t>• Ensure reproducibility and documentation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A43"/>
          </a:solidFill>
          <a:ln/>
        </p:spPr>
      </p:sp>
      <p:sp>
        <p:nvSpPr>
          <p:cNvPr id="3" name="Text 1"/>
          <p:cNvSpPr/>
          <p:nvPr/>
        </p:nvSpPr>
        <p:spPr>
          <a:xfrm>
            <a:off x="457200" y="91440"/>
            <a:ext cx="8229600" cy="457200"/>
          </a:xfrm>
          <a:prstGeom prst="rect">
            <a:avLst/>
          </a:prstGeom>
          <a:noFill/>
          <a:ln/>
        </p:spPr>
        <p:txBody>
          <a:bodyPr wrap="square" rtlCol="0" anchor="ctr"/>
          <a:lstStyle/>
          <a:p>
            <a:pPr indent="0" marL="0">
              <a:buNone/>
            </a:pPr>
            <a:r>
              <a:rPr lang="en-US" sz="3200" b="1" dirty="0">
                <a:solidFill>
                  <a:srgbClr val="FFFFFF"/>
                </a:solidFill>
              </a:rPr>
              <a:t>Key Concepts at a Glance</a:t>
            </a:r>
            <a:endParaRPr lang="en-US" sz="3200" dirty="0"/>
          </a:p>
        </p:txBody>
      </p:sp>
      <p:sp>
        <p:nvSpPr>
          <p:cNvPr id="4" name="Shape 2"/>
          <p:cNvSpPr/>
          <p:nvPr/>
        </p:nvSpPr>
        <p:spPr>
          <a:xfrm>
            <a:off x="457200" y="1005840"/>
            <a:ext cx="1645920" cy="274320"/>
          </a:xfrm>
          <a:prstGeom prst="roundRect">
            <a:avLst/>
          </a:prstGeom>
          <a:solidFill>
            <a:srgbClr val="27AE60"/>
          </a:solidFill>
          <a:ln/>
        </p:spPr>
      </p:sp>
      <p:sp>
        <p:nvSpPr>
          <p:cNvPr id="5" name="Text 3"/>
          <p:cNvSpPr/>
          <p:nvPr/>
        </p:nvSpPr>
        <p:spPr>
          <a:xfrm>
            <a:off x="548640" y="1042416"/>
            <a:ext cx="1463040" cy="201168"/>
          </a:xfrm>
          <a:prstGeom prst="rect">
            <a:avLst/>
          </a:prstGeom>
          <a:noFill/>
          <a:ln/>
        </p:spPr>
        <p:txBody>
          <a:bodyPr wrap="square" rtlCol="0" anchor="ctr"/>
          <a:lstStyle/>
          <a:p>
            <a:pPr indent="0" marL="0">
              <a:buNone/>
            </a:pPr>
            <a:r>
              <a:rPr lang="en-US" sz="1100" b="1" dirty="0">
                <a:solidFill>
                  <a:srgbClr val="FFFFFF"/>
                </a:solidFill>
              </a:rPr>
              <a:t>Raycasting</a:t>
            </a:r>
            <a:endParaRPr lang="en-US" sz="1100" dirty="0"/>
          </a:p>
        </p:txBody>
      </p:sp>
      <p:sp>
        <p:nvSpPr>
          <p:cNvPr id="6" name="Text 4"/>
          <p:cNvSpPr/>
          <p:nvPr/>
        </p:nvSpPr>
        <p:spPr>
          <a:xfrm>
            <a:off x="2286000" y="1005840"/>
            <a:ext cx="6400800" cy="320040"/>
          </a:xfrm>
          <a:prstGeom prst="rect">
            <a:avLst/>
          </a:prstGeom>
          <a:noFill/>
          <a:ln/>
        </p:spPr>
        <p:txBody>
          <a:bodyPr wrap="square" rtlCol="0" anchor="ctr"/>
          <a:lstStyle/>
          <a:p>
            <a:pPr indent="0" marL="0">
              <a:buNone/>
            </a:pPr>
            <a:r>
              <a:rPr lang="en-US" sz="1100" dirty="0">
                <a:solidFill>
                  <a:srgbClr val="1A1A1A"/>
                </a:solidFill>
              </a:rPr>
              <a:t>Virtual scanning: sphere shoots rays → hits tunnel → point cloud</a:t>
            </a:r>
            <a:endParaRPr lang="en-US" sz="1100" dirty="0"/>
          </a:p>
        </p:txBody>
      </p:sp>
      <p:sp>
        <p:nvSpPr>
          <p:cNvPr id="7" name="Shape 5"/>
          <p:cNvSpPr/>
          <p:nvPr/>
        </p:nvSpPr>
        <p:spPr>
          <a:xfrm>
            <a:off x="457200" y="1444752"/>
            <a:ext cx="1645920" cy="274320"/>
          </a:xfrm>
          <a:prstGeom prst="roundRect">
            <a:avLst/>
          </a:prstGeom>
          <a:solidFill>
            <a:srgbClr val="27AE60"/>
          </a:solidFill>
          <a:ln/>
        </p:spPr>
      </p:sp>
      <p:sp>
        <p:nvSpPr>
          <p:cNvPr id="8" name="Text 6"/>
          <p:cNvSpPr/>
          <p:nvPr/>
        </p:nvSpPr>
        <p:spPr>
          <a:xfrm>
            <a:off x="548640" y="1481328"/>
            <a:ext cx="1463040" cy="201168"/>
          </a:xfrm>
          <a:prstGeom prst="rect">
            <a:avLst/>
          </a:prstGeom>
          <a:noFill/>
          <a:ln/>
        </p:spPr>
        <p:txBody>
          <a:bodyPr wrap="square" rtlCol="0" anchor="ctr"/>
          <a:lstStyle/>
          <a:p>
            <a:pPr indent="0" marL="0">
              <a:buNone/>
            </a:pPr>
            <a:r>
              <a:rPr lang="en-US" sz="1100" b="1" dirty="0">
                <a:solidFill>
                  <a:srgbClr val="FFFFFF"/>
                </a:solidFill>
              </a:rPr>
              <a:t>Ground Truth</a:t>
            </a:r>
            <a:endParaRPr lang="en-US" sz="1100" dirty="0"/>
          </a:p>
        </p:txBody>
      </p:sp>
      <p:sp>
        <p:nvSpPr>
          <p:cNvPr id="9" name="Text 7"/>
          <p:cNvSpPr/>
          <p:nvPr/>
        </p:nvSpPr>
        <p:spPr>
          <a:xfrm>
            <a:off x="2286000" y="1444752"/>
            <a:ext cx="6400800" cy="320040"/>
          </a:xfrm>
          <a:prstGeom prst="rect">
            <a:avLst/>
          </a:prstGeom>
          <a:noFill/>
          <a:ln/>
        </p:spPr>
        <p:txBody>
          <a:bodyPr wrap="square" rtlCol="0" anchor="ctr"/>
          <a:lstStyle/>
          <a:p>
            <a:pPr indent="0" marL="0">
              <a:buNone/>
            </a:pPr>
            <a:r>
              <a:rPr lang="en-US" sz="1100" dirty="0">
                <a:solidFill>
                  <a:srgbClr val="1A1A1A"/>
                </a:solidFill>
              </a:rPr>
              <a:t>Exact, known deformation values injected into mesh</a:t>
            </a:r>
            <a:endParaRPr lang="en-US" sz="1100" dirty="0"/>
          </a:p>
        </p:txBody>
      </p:sp>
      <p:sp>
        <p:nvSpPr>
          <p:cNvPr id="10" name="Shape 8"/>
          <p:cNvSpPr/>
          <p:nvPr/>
        </p:nvSpPr>
        <p:spPr>
          <a:xfrm>
            <a:off x="457200" y="1883664"/>
            <a:ext cx="1645920" cy="274320"/>
          </a:xfrm>
          <a:prstGeom prst="roundRect">
            <a:avLst/>
          </a:prstGeom>
          <a:solidFill>
            <a:srgbClr val="27AE60"/>
          </a:solidFill>
          <a:ln/>
        </p:spPr>
      </p:sp>
      <p:sp>
        <p:nvSpPr>
          <p:cNvPr id="11" name="Text 9"/>
          <p:cNvSpPr/>
          <p:nvPr/>
        </p:nvSpPr>
        <p:spPr>
          <a:xfrm>
            <a:off x="548640" y="1920240"/>
            <a:ext cx="1463040" cy="201168"/>
          </a:xfrm>
          <a:prstGeom prst="rect">
            <a:avLst/>
          </a:prstGeom>
          <a:noFill/>
          <a:ln/>
        </p:spPr>
        <p:txBody>
          <a:bodyPr wrap="square" rtlCol="0" anchor="ctr"/>
          <a:lstStyle/>
          <a:p>
            <a:pPr indent="0" marL="0">
              <a:buNone/>
            </a:pPr>
            <a:r>
              <a:rPr lang="en-US" sz="1100" b="1" dirty="0">
                <a:solidFill>
                  <a:srgbClr val="FFFFFF"/>
                </a:solidFill>
              </a:rPr>
              <a:t>T0</a:t>
            </a:r>
            <a:endParaRPr lang="en-US" sz="1100" dirty="0"/>
          </a:p>
        </p:txBody>
      </p:sp>
      <p:sp>
        <p:nvSpPr>
          <p:cNvPr id="12" name="Text 10"/>
          <p:cNvSpPr/>
          <p:nvPr/>
        </p:nvSpPr>
        <p:spPr>
          <a:xfrm>
            <a:off x="2286000" y="1883664"/>
            <a:ext cx="6400800" cy="320040"/>
          </a:xfrm>
          <a:prstGeom prst="rect">
            <a:avLst/>
          </a:prstGeom>
          <a:noFill/>
          <a:ln/>
        </p:spPr>
        <p:txBody>
          <a:bodyPr wrap="square" rtlCol="0" anchor="ctr"/>
          <a:lstStyle/>
          <a:p>
            <a:pPr indent="0" marL="0">
              <a:buNone/>
            </a:pPr>
            <a:r>
              <a:rPr lang="en-US" sz="1100" dirty="0">
                <a:solidFill>
                  <a:srgbClr val="1A1A1A"/>
                </a:solidFill>
              </a:rPr>
              <a:t>Clean reference baseline (no deformation)</a:t>
            </a:r>
            <a:endParaRPr lang="en-US" sz="1100" dirty="0"/>
          </a:p>
        </p:txBody>
      </p:sp>
      <p:sp>
        <p:nvSpPr>
          <p:cNvPr id="13" name="Shape 11"/>
          <p:cNvSpPr/>
          <p:nvPr/>
        </p:nvSpPr>
        <p:spPr>
          <a:xfrm>
            <a:off x="457200" y="2322576"/>
            <a:ext cx="1645920" cy="274320"/>
          </a:xfrm>
          <a:prstGeom prst="roundRect">
            <a:avLst/>
          </a:prstGeom>
          <a:solidFill>
            <a:srgbClr val="27AE60"/>
          </a:solidFill>
          <a:ln/>
        </p:spPr>
      </p:sp>
      <p:sp>
        <p:nvSpPr>
          <p:cNvPr id="14" name="Text 12"/>
          <p:cNvSpPr/>
          <p:nvPr/>
        </p:nvSpPr>
        <p:spPr>
          <a:xfrm>
            <a:off x="548640" y="2359152"/>
            <a:ext cx="1463040" cy="201168"/>
          </a:xfrm>
          <a:prstGeom prst="rect">
            <a:avLst/>
          </a:prstGeom>
          <a:noFill/>
          <a:ln/>
        </p:spPr>
        <p:txBody>
          <a:bodyPr wrap="square" rtlCol="0" anchor="ctr"/>
          <a:lstStyle/>
          <a:p>
            <a:pPr indent="0" marL="0">
              <a:buNone/>
            </a:pPr>
            <a:r>
              <a:rPr lang="en-US" sz="1100" b="1" dirty="0">
                <a:solidFill>
                  <a:srgbClr val="FFFFFF"/>
                </a:solidFill>
              </a:rPr>
              <a:t>Tn</a:t>
            </a:r>
            <a:endParaRPr lang="en-US" sz="1100" dirty="0"/>
          </a:p>
        </p:txBody>
      </p:sp>
      <p:sp>
        <p:nvSpPr>
          <p:cNvPr id="15" name="Text 13"/>
          <p:cNvSpPr/>
          <p:nvPr/>
        </p:nvSpPr>
        <p:spPr>
          <a:xfrm>
            <a:off x="2286000" y="2322576"/>
            <a:ext cx="6400800" cy="320040"/>
          </a:xfrm>
          <a:prstGeom prst="rect">
            <a:avLst/>
          </a:prstGeom>
          <a:noFill/>
          <a:ln/>
        </p:spPr>
        <p:txBody>
          <a:bodyPr wrap="square" rtlCol="0" anchor="ctr"/>
          <a:lstStyle/>
          <a:p>
            <a:pPr indent="0" marL="0">
              <a:buNone/>
            </a:pPr>
            <a:r>
              <a:rPr lang="en-US" sz="1100" dirty="0">
                <a:solidFill>
                  <a:srgbClr val="1A1A1A"/>
                </a:solidFill>
              </a:rPr>
              <a:t>Monitoring scan with injected deformation</a:t>
            </a:r>
            <a:endParaRPr lang="en-US" sz="1100" dirty="0"/>
          </a:p>
        </p:txBody>
      </p:sp>
      <p:sp>
        <p:nvSpPr>
          <p:cNvPr id="16" name="Shape 14"/>
          <p:cNvSpPr/>
          <p:nvPr/>
        </p:nvSpPr>
        <p:spPr>
          <a:xfrm>
            <a:off x="457200" y="2761488"/>
            <a:ext cx="1645920" cy="274320"/>
          </a:xfrm>
          <a:prstGeom prst="roundRect">
            <a:avLst/>
          </a:prstGeom>
          <a:solidFill>
            <a:srgbClr val="27AE60"/>
          </a:solidFill>
          <a:ln/>
        </p:spPr>
      </p:sp>
      <p:sp>
        <p:nvSpPr>
          <p:cNvPr id="17" name="Text 15"/>
          <p:cNvSpPr/>
          <p:nvPr/>
        </p:nvSpPr>
        <p:spPr>
          <a:xfrm>
            <a:off x="548640" y="2798064"/>
            <a:ext cx="1463040" cy="201168"/>
          </a:xfrm>
          <a:prstGeom prst="rect">
            <a:avLst/>
          </a:prstGeom>
          <a:noFill/>
          <a:ln/>
        </p:spPr>
        <p:txBody>
          <a:bodyPr wrap="square" rtlCol="0" anchor="ctr"/>
          <a:lstStyle/>
          <a:p>
            <a:pPr indent="0" marL="0">
              <a:buNone/>
            </a:pPr>
            <a:r>
              <a:rPr lang="en-US" sz="1100" b="1" dirty="0">
                <a:solidFill>
                  <a:srgbClr val="FFFFFF"/>
                </a:solidFill>
              </a:rPr>
              <a:t>Validation</a:t>
            </a:r>
            <a:endParaRPr lang="en-US" sz="1100" dirty="0"/>
          </a:p>
        </p:txBody>
      </p:sp>
      <p:sp>
        <p:nvSpPr>
          <p:cNvPr id="18" name="Text 16"/>
          <p:cNvSpPr/>
          <p:nvPr/>
        </p:nvSpPr>
        <p:spPr>
          <a:xfrm>
            <a:off x="2286000" y="2761488"/>
            <a:ext cx="6400800" cy="320040"/>
          </a:xfrm>
          <a:prstGeom prst="rect">
            <a:avLst/>
          </a:prstGeom>
          <a:noFill/>
          <a:ln/>
        </p:spPr>
        <p:txBody>
          <a:bodyPr wrap="square" rtlCol="0" anchor="ctr"/>
          <a:lstStyle/>
          <a:p>
            <a:pPr indent="0" marL="0">
              <a:buNone/>
            </a:pPr>
            <a:r>
              <a:rPr lang="en-US" sz="1100" dirty="0">
                <a:solidFill>
                  <a:srgbClr val="1A1A1A"/>
                </a:solidFill>
              </a:rPr>
              <a:t>Compare tool output vs known ground truth</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A43"/>
          </a:solidFill>
          <a:ln/>
        </p:spPr>
      </p:sp>
      <p:sp>
        <p:nvSpPr>
          <p:cNvPr id="3" name="Text 1"/>
          <p:cNvSpPr/>
          <p:nvPr/>
        </p:nvSpPr>
        <p:spPr>
          <a:xfrm>
            <a:off x="457200" y="91440"/>
            <a:ext cx="8229600" cy="457200"/>
          </a:xfrm>
          <a:prstGeom prst="rect">
            <a:avLst/>
          </a:prstGeom>
          <a:noFill/>
          <a:ln/>
        </p:spPr>
        <p:txBody>
          <a:bodyPr wrap="square" rtlCol="0" anchor="ctr"/>
          <a:lstStyle/>
          <a:p>
            <a:pPr indent="0" marL="0">
              <a:buNone/>
            </a:pPr>
            <a:r>
              <a:rPr lang="en-US" sz="3200" b="1" dirty="0">
                <a:solidFill>
                  <a:srgbClr val="FFFFFF"/>
                </a:solidFill>
              </a:rPr>
              <a:t>3-Phase Workflow</a:t>
            </a:r>
            <a:endParaRPr lang="en-US" sz="3200" dirty="0"/>
          </a:p>
        </p:txBody>
      </p:sp>
      <p:sp>
        <p:nvSpPr>
          <p:cNvPr id="4" name="Shape 2"/>
          <p:cNvSpPr/>
          <p:nvPr/>
        </p:nvSpPr>
        <p:spPr>
          <a:xfrm>
            <a:off x="457200" y="1005840"/>
            <a:ext cx="8229600" cy="1463040"/>
          </a:xfrm>
          <a:prstGeom prst="rect">
            <a:avLst/>
          </a:prstGeom>
          <a:solidFill>
            <a:srgbClr val="1E2A33"/>
          </a:solidFill>
          <a:ln w="25400">
            <a:solidFill>
              <a:srgbClr val="0E7C86"/>
            </a:solidFill>
            <a:prstDash val="solid"/>
          </a:ln>
        </p:spPr>
      </p:sp>
      <p:sp>
        <p:nvSpPr>
          <p:cNvPr id="5" name="Text 3"/>
          <p:cNvSpPr/>
          <p:nvPr/>
        </p:nvSpPr>
        <p:spPr>
          <a:xfrm>
            <a:off x="548640" y="1078992"/>
            <a:ext cx="8046720" cy="1316736"/>
          </a:xfrm>
          <a:prstGeom prst="rect">
            <a:avLst/>
          </a:prstGeom>
          <a:noFill/>
          <a:ln/>
        </p:spPr>
        <p:txBody>
          <a:bodyPr wrap="square" rtlCol="0" anchor="t"/>
          <a:lstStyle/>
          <a:p>
            <a:pPr algn="l" indent="0" marL="0">
              <a:buNone/>
            </a:pPr>
            <a:r>
              <a:rPr lang="en-US" sz="900" dirty="0">
                <a:solidFill>
                  <a:srgbClr val="FFFFFF"/>
                </a:solidFill>
              </a:rPr>
              <a:t>CLEAN MESH → Phase A: Raycast T0 → T0.las</a:t>
            </a:r>
            <a:endParaRPr lang="en-US" sz="900" dirty="0"/>
          </a:p>
          <a:p>
            <a:pPr algn="l" indent="0" marL="0">
              <a:buNone/>
            </a:pPr>
            <a:r>
              <a:rPr lang="en-US" sz="900" dirty="0">
                <a:solidFill>
                  <a:srgbClr val="FFFFFF"/>
                </a:solidFill>
              </a:rPr>
              <a:t>                        ↓</a:t>
            </a:r>
            <a:endParaRPr lang="en-US" sz="900" dirty="0"/>
          </a:p>
          <a:p>
            <a:pPr algn="l" indent="0" marL="0">
              <a:buNone/>
            </a:pPr>
            <a:r>
              <a:rPr lang="en-US" sz="900" dirty="0">
                <a:solidFill>
                  <a:srgbClr val="FFFFFF"/>
                </a:solidFill>
              </a:rPr>
              <a:t>                  Phase B: Inject deformation</a:t>
            </a:r>
            <a:endParaRPr lang="en-US" sz="900" dirty="0"/>
          </a:p>
          <a:p>
            <a:pPr algn="l" indent="0" marL="0">
              <a:buNone/>
            </a:pPr>
            <a:r>
              <a:rPr lang="en-US" sz="900" dirty="0">
                <a:solidFill>
                  <a:srgbClr val="FFFFFF"/>
                </a:solidFill>
              </a:rPr>
              <a:t>                        ↓</a:t>
            </a:r>
            <a:endParaRPr lang="en-US" sz="900" dirty="0"/>
          </a:p>
          <a:p>
            <a:pPr algn="l" indent="0" marL="0">
              <a:buNone/>
            </a:pPr>
            <a:r>
              <a:rPr lang="en-US" sz="900" dirty="0">
                <a:solidFill>
                  <a:srgbClr val="FFFFFF"/>
                </a:solidFill>
              </a:rPr>
              <a:t>                  Phase C: Raycast Tn → Tn.las</a:t>
            </a:r>
            <a:endParaRPr lang="en-US" sz="900" dirty="0"/>
          </a:p>
          <a:p>
            <a:pPr algn="l" indent="0" marL="0">
              <a:buNone/>
            </a:pPr>
            <a:r>
              <a:rPr lang="en-US" sz="900" dirty="0">
                <a:solidFill>
                  <a:srgbClr val="FFFFFF"/>
                </a:solidFill>
              </a:rPr>
              <a:t>                        ↓</a:t>
            </a:r>
            <a:endParaRPr lang="en-US" sz="900" dirty="0"/>
          </a:p>
          <a:p>
            <a:pPr algn="l" indent="0" marL="0">
              <a:buNone/>
            </a:pPr>
            <a:r>
              <a:rPr lang="en-US" sz="900" dirty="0">
                <a:solidFill>
                  <a:srgbClr val="FFFFFF"/>
                </a:solidFill>
              </a:rPr>
              <a:t>                  VALIDATION: Compare vs Ground Truth</a:t>
            </a:r>
            <a:endParaRPr lang="en-US" sz="900" dirty="0"/>
          </a:p>
        </p:txBody>
      </p:sp>
      <p:sp>
        <p:nvSpPr>
          <p:cNvPr id="6" name="Shape 4"/>
          <p:cNvSpPr/>
          <p:nvPr/>
        </p:nvSpPr>
        <p:spPr>
          <a:xfrm>
            <a:off x="457200" y="2743200"/>
            <a:ext cx="2560320" cy="457200"/>
          </a:xfrm>
          <a:prstGeom prst="rect">
            <a:avLst/>
          </a:prstGeom>
          <a:solidFill>
            <a:srgbClr val="0F2A43"/>
          </a:solidFill>
          <a:ln/>
        </p:spPr>
      </p:sp>
      <p:sp>
        <p:nvSpPr>
          <p:cNvPr id="7" name="Text 5"/>
          <p:cNvSpPr/>
          <p:nvPr/>
        </p:nvSpPr>
        <p:spPr>
          <a:xfrm>
            <a:off x="548640" y="2788920"/>
            <a:ext cx="1097280" cy="182880"/>
          </a:xfrm>
          <a:prstGeom prst="rect">
            <a:avLst/>
          </a:prstGeom>
          <a:noFill/>
          <a:ln/>
        </p:spPr>
        <p:txBody>
          <a:bodyPr wrap="square" rtlCol="0" anchor="ctr"/>
          <a:lstStyle/>
          <a:p>
            <a:pPr indent="0" marL="0">
              <a:buNone/>
            </a:pPr>
            <a:r>
              <a:rPr lang="en-US" sz="1200" b="1" dirty="0">
                <a:solidFill>
                  <a:srgbClr val="FFFFFF"/>
                </a:solidFill>
              </a:rPr>
              <a:t>Phase A</a:t>
            </a:r>
            <a:endParaRPr lang="en-US" sz="1200" dirty="0"/>
          </a:p>
        </p:txBody>
      </p:sp>
      <p:sp>
        <p:nvSpPr>
          <p:cNvPr id="8" name="Text 6"/>
          <p:cNvSpPr/>
          <p:nvPr/>
        </p:nvSpPr>
        <p:spPr>
          <a:xfrm>
            <a:off x="548640" y="3017520"/>
            <a:ext cx="2377440" cy="182880"/>
          </a:xfrm>
          <a:prstGeom prst="rect">
            <a:avLst/>
          </a:prstGeom>
          <a:noFill/>
          <a:ln/>
        </p:spPr>
        <p:txBody>
          <a:bodyPr wrap="square" rtlCol="0" anchor="ctr"/>
          <a:lstStyle/>
          <a:p>
            <a:pPr indent="0" marL="0">
              <a:buNone/>
            </a:pPr>
            <a:r>
              <a:rPr lang="en-US" sz="1000" i="1" dirty="0">
                <a:solidFill>
                  <a:srgbClr val="FFFFFF"/>
                </a:solidFill>
              </a:rPr>
              <a:t>T0 baseline</a:t>
            </a:r>
            <a:endParaRPr lang="en-US" sz="1000" dirty="0"/>
          </a:p>
        </p:txBody>
      </p:sp>
      <p:sp>
        <p:nvSpPr>
          <p:cNvPr id="9" name="Shape 7"/>
          <p:cNvSpPr/>
          <p:nvPr/>
        </p:nvSpPr>
        <p:spPr>
          <a:xfrm>
            <a:off x="3200400" y="2743200"/>
            <a:ext cx="2560320" cy="457200"/>
          </a:xfrm>
          <a:prstGeom prst="rect">
            <a:avLst/>
          </a:prstGeom>
          <a:solidFill>
            <a:srgbClr val="0E7C86"/>
          </a:solidFill>
          <a:ln/>
        </p:spPr>
      </p:sp>
      <p:sp>
        <p:nvSpPr>
          <p:cNvPr id="10" name="Text 8"/>
          <p:cNvSpPr/>
          <p:nvPr/>
        </p:nvSpPr>
        <p:spPr>
          <a:xfrm>
            <a:off x="3291840" y="2788920"/>
            <a:ext cx="1097280" cy="182880"/>
          </a:xfrm>
          <a:prstGeom prst="rect">
            <a:avLst/>
          </a:prstGeom>
          <a:noFill/>
          <a:ln/>
        </p:spPr>
        <p:txBody>
          <a:bodyPr wrap="square" rtlCol="0" anchor="ctr"/>
          <a:lstStyle/>
          <a:p>
            <a:pPr indent="0" marL="0">
              <a:buNone/>
            </a:pPr>
            <a:r>
              <a:rPr lang="en-US" sz="1200" b="1" dirty="0">
                <a:solidFill>
                  <a:srgbClr val="FFFFFF"/>
                </a:solidFill>
              </a:rPr>
              <a:t>Phase B</a:t>
            </a:r>
            <a:endParaRPr lang="en-US" sz="1200" dirty="0"/>
          </a:p>
        </p:txBody>
      </p:sp>
      <p:sp>
        <p:nvSpPr>
          <p:cNvPr id="11" name="Text 9"/>
          <p:cNvSpPr/>
          <p:nvPr/>
        </p:nvSpPr>
        <p:spPr>
          <a:xfrm>
            <a:off x="3291840" y="3017520"/>
            <a:ext cx="2377440" cy="182880"/>
          </a:xfrm>
          <a:prstGeom prst="rect">
            <a:avLst/>
          </a:prstGeom>
          <a:noFill/>
          <a:ln/>
        </p:spPr>
        <p:txBody>
          <a:bodyPr wrap="square" rtlCol="0" anchor="ctr"/>
          <a:lstStyle/>
          <a:p>
            <a:pPr indent="0" marL="0">
              <a:buNone/>
            </a:pPr>
            <a:r>
              <a:rPr lang="en-US" sz="1000" i="1" dirty="0">
                <a:solidFill>
                  <a:srgbClr val="FFFFFF"/>
                </a:solidFill>
              </a:rPr>
              <a:t>Deformation</a:t>
            </a:r>
            <a:endParaRPr lang="en-US" sz="1000" dirty="0"/>
          </a:p>
        </p:txBody>
      </p:sp>
      <p:sp>
        <p:nvSpPr>
          <p:cNvPr id="12" name="Shape 10"/>
          <p:cNvSpPr/>
          <p:nvPr/>
        </p:nvSpPr>
        <p:spPr>
          <a:xfrm>
            <a:off x="5943600" y="2743200"/>
            <a:ext cx="2560320" cy="457200"/>
          </a:xfrm>
          <a:prstGeom prst="rect">
            <a:avLst/>
          </a:prstGeom>
          <a:solidFill>
            <a:srgbClr val="27AE60"/>
          </a:solidFill>
          <a:ln/>
        </p:spPr>
      </p:sp>
      <p:sp>
        <p:nvSpPr>
          <p:cNvPr id="13" name="Text 11"/>
          <p:cNvSpPr/>
          <p:nvPr/>
        </p:nvSpPr>
        <p:spPr>
          <a:xfrm>
            <a:off x="6035040" y="2788920"/>
            <a:ext cx="1097280" cy="182880"/>
          </a:xfrm>
          <a:prstGeom prst="rect">
            <a:avLst/>
          </a:prstGeom>
          <a:noFill/>
          <a:ln/>
        </p:spPr>
        <p:txBody>
          <a:bodyPr wrap="square" rtlCol="0" anchor="ctr"/>
          <a:lstStyle/>
          <a:p>
            <a:pPr indent="0" marL="0">
              <a:buNone/>
            </a:pPr>
            <a:r>
              <a:rPr lang="en-US" sz="1200" b="1" dirty="0">
                <a:solidFill>
                  <a:srgbClr val="FFFFFF"/>
                </a:solidFill>
              </a:rPr>
              <a:t>Phase C</a:t>
            </a:r>
            <a:endParaRPr lang="en-US" sz="1200" dirty="0"/>
          </a:p>
        </p:txBody>
      </p:sp>
      <p:sp>
        <p:nvSpPr>
          <p:cNvPr id="14" name="Text 12"/>
          <p:cNvSpPr/>
          <p:nvPr/>
        </p:nvSpPr>
        <p:spPr>
          <a:xfrm>
            <a:off x="6035040" y="3017520"/>
            <a:ext cx="2377440" cy="182880"/>
          </a:xfrm>
          <a:prstGeom prst="rect">
            <a:avLst/>
          </a:prstGeom>
          <a:noFill/>
          <a:ln/>
        </p:spPr>
        <p:txBody>
          <a:bodyPr wrap="square" rtlCol="0" anchor="ctr"/>
          <a:lstStyle/>
          <a:p>
            <a:pPr indent="0" marL="0">
              <a:buNone/>
            </a:pPr>
            <a:r>
              <a:rPr lang="en-US" sz="1000" i="1" dirty="0">
                <a:solidFill>
                  <a:srgbClr val="FFFFFF"/>
                </a:solidFill>
              </a:rPr>
              <a:t>Tn monitored</a:t>
            </a:r>
            <a:endParaRPr lang="en-US" sz="1000" dirty="0"/>
          </a:p>
        </p:txBody>
      </p:sp>
      <p:sp>
        <p:nvSpPr>
          <p:cNvPr id="15" name="Text 13"/>
          <p:cNvSpPr/>
          <p:nvPr/>
        </p:nvSpPr>
        <p:spPr>
          <a:xfrm>
            <a:off x="457200" y="3840480"/>
            <a:ext cx="8229600" cy="274320"/>
          </a:xfrm>
          <a:prstGeom prst="rect">
            <a:avLst/>
          </a:prstGeom>
          <a:noFill/>
          <a:ln/>
        </p:spPr>
        <p:txBody>
          <a:bodyPr wrap="square" rtlCol="0" anchor="ctr"/>
          <a:lstStyle/>
          <a:p>
            <a:pPr indent="0" marL="0">
              <a:buNone/>
            </a:pPr>
            <a:r>
              <a:rPr lang="en-US" sz="1100" b="1" dirty="0">
                <a:solidFill>
                  <a:srgbClr val="0E7C86"/>
                </a:solidFill>
              </a:rPr>
              <a:t>T0 raycast (15min) → Deform mesh (30min) → Tn raycast (15min) → Validate (30min)</a:t>
            </a:r>
            <a:endParaRPr lang="en-US" sz="1100" dirty="0"/>
          </a:p>
        </p:txBody>
      </p:sp>
      <p:sp>
        <p:nvSpPr>
          <p:cNvPr id="16" name="Text 14"/>
          <p:cNvSpPr/>
          <p:nvPr/>
        </p:nvSpPr>
        <p:spPr>
          <a:xfrm>
            <a:off x="457200" y="4206240"/>
            <a:ext cx="8229600" cy="274320"/>
          </a:xfrm>
          <a:prstGeom prst="rect">
            <a:avLst/>
          </a:prstGeom>
          <a:noFill/>
          <a:ln/>
        </p:spPr>
        <p:txBody>
          <a:bodyPr wrap="square" rtlCol="0" anchor="ctr"/>
          <a:lstStyle/>
          <a:p>
            <a:pPr indent="0" marL="0">
              <a:buNone/>
            </a:pPr>
            <a:r>
              <a:rPr lang="en-US" sz="1300" b="1" dirty="0">
                <a:solidFill>
                  <a:srgbClr val="F2A516"/>
                </a:solidFill>
              </a:rPr>
              <a:t>Total: ~2 hours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A43"/>
          </a:solidFill>
          <a:ln/>
        </p:spPr>
      </p:sp>
      <p:sp>
        <p:nvSpPr>
          <p:cNvPr id="3" name="Text 1"/>
          <p:cNvSpPr/>
          <p:nvPr/>
        </p:nvSpPr>
        <p:spPr>
          <a:xfrm>
            <a:off x="457200" y="91440"/>
            <a:ext cx="8229600" cy="457200"/>
          </a:xfrm>
          <a:prstGeom prst="rect">
            <a:avLst/>
          </a:prstGeom>
          <a:noFill/>
          <a:ln/>
        </p:spPr>
        <p:txBody>
          <a:bodyPr wrap="square" rtlCol="0" anchor="ctr"/>
          <a:lstStyle/>
          <a:p>
            <a:pPr indent="0" marL="0">
              <a:buNone/>
            </a:pPr>
            <a:r>
              <a:rPr lang="en-US" sz="3200" b="1" dirty="0">
                <a:solidFill>
                  <a:srgbClr val="FFFFFF"/>
                </a:solidFill>
              </a:rPr>
              <a:t>Phase A: Prepare T0 (Clean Reference)</a:t>
            </a:r>
            <a:endParaRPr lang="en-US" sz="3200" dirty="0"/>
          </a:p>
        </p:txBody>
      </p:sp>
      <p:sp>
        <p:nvSpPr>
          <p:cNvPr id="4" name="Text 2"/>
          <p:cNvSpPr/>
          <p:nvPr/>
        </p:nvSpPr>
        <p:spPr>
          <a:xfrm>
            <a:off x="640080" y="1005840"/>
            <a:ext cx="7772400" cy="320040"/>
          </a:xfrm>
          <a:prstGeom prst="rect">
            <a:avLst/>
          </a:prstGeom>
          <a:noFill/>
          <a:ln/>
        </p:spPr>
        <p:txBody>
          <a:bodyPr wrap="square" rtlCol="0" anchor="t"/>
          <a:lstStyle/>
          <a:p>
            <a:pPr algn="l" indent="0" marL="0">
              <a:buNone/>
            </a:pPr>
            <a:r>
              <a:rPr lang="en-US" sz="1300" dirty="0">
                <a:solidFill>
                  <a:srgbClr val="1A1A1A"/>
                </a:solidFill>
              </a:rPr>
              <a:t>• 1. Load tunnel mesh (16,100 vertices, Tunnel_Lining.blend)</a:t>
            </a:r>
            <a:endParaRPr lang="en-US" sz="1300" dirty="0"/>
          </a:p>
        </p:txBody>
      </p:sp>
      <p:sp>
        <p:nvSpPr>
          <p:cNvPr id="5" name="Text 3"/>
          <p:cNvSpPr/>
          <p:nvPr/>
        </p:nvSpPr>
        <p:spPr>
          <a:xfrm>
            <a:off x="640080" y="1389888"/>
            <a:ext cx="7772400" cy="320040"/>
          </a:xfrm>
          <a:prstGeom prst="rect">
            <a:avLst/>
          </a:prstGeom>
          <a:noFill/>
          <a:ln/>
        </p:spPr>
        <p:txBody>
          <a:bodyPr wrap="square" rtlCol="0" anchor="t"/>
          <a:lstStyle/>
          <a:p>
            <a:pPr algn="l" indent="0" marL="0">
              <a:buNone/>
            </a:pPr>
            <a:r>
              <a:rPr lang="en-US" sz="1300" dirty="0">
                <a:solidFill>
                  <a:srgbClr val="1A1A1A"/>
                </a:solidFill>
              </a:rPr>
              <a:t>• 2. Create scanner sphere @ position (0, 10, 3)</a:t>
            </a:r>
            <a:endParaRPr lang="en-US" sz="1300" dirty="0"/>
          </a:p>
        </p:txBody>
      </p:sp>
      <p:sp>
        <p:nvSpPr>
          <p:cNvPr id="6" name="Text 4"/>
          <p:cNvSpPr/>
          <p:nvPr/>
        </p:nvSpPr>
        <p:spPr>
          <a:xfrm>
            <a:off x="640080" y="1773936"/>
            <a:ext cx="7772400" cy="320040"/>
          </a:xfrm>
          <a:prstGeom prst="rect">
            <a:avLst/>
          </a:prstGeom>
          <a:noFill/>
          <a:ln/>
        </p:spPr>
        <p:txBody>
          <a:bodyPr wrap="square" rtlCol="0" anchor="t"/>
          <a:lstStyle/>
          <a:p>
            <a:pPr algn="l" indent="0" marL="0">
              <a:buNone/>
            </a:pPr>
            <a:r>
              <a:rPr lang="en-US" sz="1300" dirty="0">
                <a:solidFill>
                  <a:srgbClr val="1A1A1A"/>
                </a:solidFill>
              </a:rPr>
              <a:t>• 3. Raycast: fire 512 rays from sphere vertices</a:t>
            </a:r>
            <a:endParaRPr lang="en-US" sz="1300" dirty="0"/>
          </a:p>
        </p:txBody>
      </p:sp>
      <p:sp>
        <p:nvSpPr>
          <p:cNvPr id="7" name="Text 5"/>
          <p:cNvSpPr/>
          <p:nvPr/>
        </p:nvSpPr>
        <p:spPr>
          <a:xfrm>
            <a:off x="640080" y="2157984"/>
            <a:ext cx="7772400" cy="320040"/>
          </a:xfrm>
          <a:prstGeom prst="rect">
            <a:avLst/>
          </a:prstGeom>
          <a:noFill/>
          <a:ln/>
        </p:spPr>
        <p:txBody>
          <a:bodyPr wrap="square" rtlCol="0" anchor="t"/>
          <a:lstStyle/>
          <a:p>
            <a:pPr algn="l" indent="0" marL="0">
              <a:buNone/>
            </a:pPr>
            <a:r>
              <a:rPr lang="en-US" sz="1300" dirty="0">
                <a:solidFill>
                  <a:srgbClr val="1A1A1A"/>
                </a:solidFill>
              </a:rPr>
              <a:t>• 4. Add realistic noise: 5mm + 2mm per 10m distance</a:t>
            </a:r>
            <a:endParaRPr lang="en-US" sz="1300" dirty="0"/>
          </a:p>
        </p:txBody>
      </p:sp>
      <p:sp>
        <p:nvSpPr>
          <p:cNvPr id="8" name="Text 6"/>
          <p:cNvSpPr/>
          <p:nvPr/>
        </p:nvSpPr>
        <p:spPr>
          <a:xfrm>
            <a:off x="640080" y="2542032"/>
            <a:ext cx="7772400" cy="320040"/>
          </a:xfrm>
          <a:prstGeom prst="rect">
            <a:avLst/>
          </a:prstGeom>
          <a:noFill/>
          <a:ln/>
        </p:spPr>
        <p:txBody>
          <a:bodyPr wrap="square" rtlCol="0" anchor="t"/>
          <a:lstStyle/>
          <a:p>
            <a:pPr algn="l" indent="0" marL="0">
              <a:buNone/>
            </a:pPr>
            <a:r>
              <a:rPr lang="en-US" sz="1300" dirty="0">
                <a:solidFill>
                  <a:srgbClr val="1A1A1A"/>
                </a:solidFill>
              </a:rPr>
              <a:t>• 5. Export: T0.las (364 hit points)</a:t>
            </a:r>
            <a:endParaRPr lang="en-US" sz="1300" dirty="0"/>
          </a:p>
        </p:txBody>
      </p:sp>
      <p:sp>
        <p:nvSpPr>
          <p:cNvPr id="9" name="Text 7"/>
          <p:cNvSpPr/>
          <p:nvPr/>
        </p:nvSpPr>
        <p:spPr>
          <a:xfrm>
            <a:off x="640080" y="2926080"/>
            <a:ext cx="7772400" cy="320040"/>
          </a:xfrm>
          <a:prstGeom prst="rect">
            <a:avLst/>
          </a:prstGeom>
          <a:noFill/>
          <a:ln/>
        </p:spPr>
        <p:txBody>
          <a:bodyPr wrap="square" rtlCol="0" anchor="t"/>
          <a:lstStyle/>
          <a:p>
            <a:pPr algn="l" indent="0" marL="0">
              <a:buNone/>
            </a:pPr>
            <a:r>
              <a:rPr lang="en-US" sz="1300" dirty="0">
                <a:solidFill>
                  <a:srgbClr val="1A1A1A"/>
                </a:solidFill>
              </a:rPr>
              <a:t>• 6. Record metadata: radius (3.0m), eccentricity, ovality</a:t>
            </a:r>
            <a:endParaRPr lang="en-US" sz="1300" dirty="0"/>
          </a:p>
        </p:txBody>
      </p:sp>
      <p:sp>
        <p:nvSpPr>
          <p:cNvPr id="10" name="Shape 8"/>
          <p:cNvSpPr/>
          <p:nvPr/>
        </p:nvSpPr>
        <p:spPr>
          <a:xfrm>
            <a:off x="457200" y="3657600"/>
            <a:ext cx="8229600" cy="822960"/>
          </a:xfrm>
          <a:prstGeom prst="rect">
            <a:avLst/>
          </a:prstGeom>
          <a:solidFill>
            <a:srgbClr val="F0F4F8"/>
          </a:solidFill>
          <a:ln w="12700">
            <a:solidFill>
              <a:srgbClr val="0F2A43"/>
            </a:solidFill>
            <a:prstDash val="solid"/>
          </a:ln>
        </p:spPr>
      </p:sp>
      <p:sp>
        <p:nvSpPr>
          <p:cNvPr id="11" name="Text 9"/>
          <p:cNvSpPr/>
          <p:nvPr/>
        </p:nvSpPr>
        <p:spPr>
          <a:xfrm>
            <a:off x="640080" y="3730752"/>
            <a:ext cx="3657600" cy="228600"/>
          </a:xfrm>
          <a:prstGeom prst="rect">
            <a:avLst/>
          </a:prstGeom>
          <a:noFill/>
          <a:ln/>
        </p:spPr>
        <p:txBody>
          <a:bodyPr wrap="square" rtlCol="0" anchor="ctr"/>
          <a:lstStyle/>
          <a:p>
            <a:pPr indent="0" marL="0">
              <a:buNone/>
            </a:pPr>
            <a:r>
              <a:rPr lang="en-US" sz="1200" b="1" dirty="0">
                <a:solidFill>
                  <a:srgbClr val="0F2A43"/>
                </a:solidFill>
              </a:rPr>
              <a:t>Output: T0.las</a:t>
            </a:r>
            <a:endParaRPr lang="en-US" sz="1200" dirty="0"/>
          </a:p>
        </p:txBody>
      </p:sp>
      <p:sp>
        <p:nvSpPr>
          <p:cNvPr id="12" name="Text 10"/>
          <p:cNvSpPr/>
          <p:nvPr/>
        </p:nvSpPr>
        <p:spPr>
          <a:xfrm>
            <a:off x="640080" y="3977640"/>
            <a:ext cx="7863840" cy="411480"/>
          </a:xfrm>
          <a:prstGeom prst="rect">
            <a:avLst/>
          </a:prstGeom>
          <a:noFill/>
          <a:ln/>
        </p:spPr>
        <p:txBody>
          <a:bodyPr wrap="square" rtlCol="0" anchor="ctr"/>
          <a:lstStyle/>
          <a:p>
            <a:pPr indent="0" marL="0">
              <a:buNone/>
            </a:pPr>
            <a:r>
              <a:rPr lang="en-US" sz="1000" dirty="0">
                <a:solidFill>
                  <a:srgbClr val="1A1A1A"/>
                </a:solidFill>
              </a:rPr>
              <a:t>~364 points | Radius: 3.0000m | e: 0.1mm | Clean, no deformation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A43"/>
          </a:solidFill>
          <a:ln/>
        </p:spPr>
      </p:sp>
      <p:sp>
        <p:nvSpPr>
          <p:cNvPr id="3" name="Text 1"/>
          <p:cNvSpPr/>
          <p:nvPr/>
        </p:nvSpPr>
        <p:spPr>
          <a:xfrm>
            <a:off x="457200" y="91440"/>
            <a:ext cx="8229600" cy="457200"/>
          </a:xfrm>
          <a:prstGeom prst="rect">
            <a:avLst/>
          </a:prstGeom>
          <a:noFill/>
          <a:ln/>
        </p:spPr>
        <p:txBody>
          <a:bodyPr wrap="square" rtlCol="0" anchor="ctr"/>
          <a:lstStyle/>
          <a:p>
            <a:pPr indent="0" marL="0">
              <a:buNone/>
            </a:pPr>
            <a:r>
              <a:rPr lang="en-US" sz="3200" b="1" dirty="0">
                <a:solidFill>
                  <a:srgbClr val="FFFFFF"/>
                </a:solidFill>
              </a:rPr>
              <a:t>Phase B: Inject Deformation</a:t>
            </a:r>
            <a:endParaRPr lang="en-US" sz="3200" dirty="0"/>
          </a:p>
        </p:txBody>
      </p:sp>
      <p:sp>
        <p:nvSpPr>
          <p:cNvPr id="4" name="Text 2"/>
          <p:cNvSpPr/>
          <p:nvPr/>
        </p:nvSpPr>
        <p:spPr>
          <a:xfrm>
            <a:off x="457200" y="1005840"/>
            <a:ext cx="8229600" cy="228600"/>
          </a:xfrm>
          <a:prstGeom prst="rect">
            <a:avLst/>
          </a:prstGeom>
          <a:noFill/>
          <a:ln/>
        </p:spPr>
        <p:txBody>
          <a:bodyPr wrap="square" rtlCol="0" anchor="ctr"/>
          <a:lstStyle/>
          <a:p>
            <a:pPr indent="0" marL="0">
              <a:buNone/>
            </a:pPr>
            <a:r>
              <a:rPr lang="en-US" sz="1200" b="1" dirty="0">
                <a:solidFill>
                  <a:srgbClr val="0F2A43"/>
                </a:solidFill>
              </a:rPr>
              <a:t>Define ground truth deformation prescription:</a:t>
            </a:r>
            <a:endParaRPr lang="en-US" sz="1200" dirty="0"/>
          </a:p>
        </p:txBody>
      </p:sp>
      <p:sp>
        <p:nvSpPr>
          <p:cNvPr id="5" name="Shape 3"/>
          <p:cNvSpPr/>
          <p:nvPr/>
        </p:nvSpPr>
        <p:spPr>
          <a:xfrm>
            <a:off x="457200" y="1371600"/>
            <a:ext cx="8229600" cy="914400"/>
          </a:xfrm>
          <a:prstGeom prst="rect">
            <a:avLst/>
          </a:prstGeom>
          <a:solidFill>
            <a:srgbClr val="1E2A33"/>
          </a:solidFill>
          <a:ln w="25400">
            <a:solidFill>
              <a:srgbClr val="0E7C86"/>
            </a:solidFill>
            <a:prstDash val="solid"/>
          </a:ln>
        </p:spPr>
      </p:sp>
      <p:sp>
        <p:nvSpPr>
          <p:cNvPr id="6" name="Text 4"/>
          <p:cNvSpPr/>
          <p:nvPr/>
        </p:nvSpPr>
        <p:spPr>
          <a:xfrm>
            <a:off x="548640" y="1444752"/>
            <a:ext cx="8046720" cy="768096"/>
          </a:xfrm>
          <a:prstGeom prst="rect">
            <a:avLst/>
          </a:prstGeom>
          <a:noFill/>
          <a:ln/>
        </p:spPr>
        <p:txBody>
          <a:bodyPr wrap="square" rtlCol="0" anchor="t"/>
          <a:lstStyle/>
          <a:p>
            <a:pPr algn="l" indent="0" marL="0">
              <a:buNone/>
            </a:pPr>
            <a:r>
              <a:rPr lang="en-US" sz="900" dirty="0">
                <a:solidFill>
                  <a:srgbClr val="FFFFFF"/>
                </a:solidFill>
              </a:rPr>
              <a:t>Crown settlement:   -7 mm @ chainage 20m</a:t>
            </a:r>
            <a:endParaRPr lang="en-US" sz="900" dirty="0"/>
          </a:p>
          <a:p>
            <a:pPr algn="l" indent="0" marL="0">
              <a:buNone/>
            </a:pPr>
            <a:r>
              <a:rPr lang="en-US" sz="900" dirty="0">
                <a:solidFill>
                  <a:srgbClr val="FFFFFF"/>
                </a:solidFill>
              </a:rPr>
              <a:t>Sidewall convergence: -5 mm @ chainage 45m</a:t>
            </a:r>
            <a:endParaRPr lang="en-US" sz="900" dirty="0"/>
          </a:p>
          <a:p>
            <a:pPr algn="l" indent="0" marL="0">
              <a:buNone/>
            </a:pPr>
            <a:r>
              <a:rPr lang="en-US" sz="900" dirty="0">
                <a:solidFill>
                  <a:srgbClr val="FFFFFF"/>
                </a:solidFill>
              </a:rPr>
              <a:t>Local damage:        -15 mm @ chainage 65m</a:t>
            </a:r>
            <a:endParaRPr lang="en-US" sz="900" dirty="0"/>
          </a:p>
        </p:txBody>
      </p:sp>
      <p:sp>
        <p:nvSpPr>
          <p:cNvPr id="7" name="Text 5"/>
          <p:cNvSpPr/>
          <p:nvPr/>
        </p:nvSpPr>
        <p:spPr>
          <a:xfrm>
            <a:off x="457200" y="2468880"/>
            <a:ext cx="8229600" cy="228600"/>
          </a:xfrm>
          <a:prstGeom prst="rect">
            <a:avLst/>
          </a:prstGeom>
          <a:noFill/>
          <a:ln/>
        </p:spPr>
        <p:txBody>
          <a:bodyPr wrap="square" rtlCol="0" anchor="ctr"/>
          <a:lstStyle/>
          <a:p>
            <a:pPr indent="0" marL="0">
              <a:buNone/>
            </a:pPr>
            <a:r>
              <a:rPr lang="en-US" sz="1200" b="1" dirty="0">
                <a:solidFill>
                  <a:srgbClr val="0F2A43"/>
                </a:solidFill>
              </a:rPr>
              <a:t>Modify tunnel mesh:</a:t>
            </a:r>
            <a:endParaRPr lang="en-US" sz="1200" dirty="0"/>
          </a:p>
        </p:txBody>
      </p:sp>
      <p:sp>
        <p:nvSpPr>
          <p:cNvPr id="8" name="Shape 6"/>
          <p:cNvSpPr/>
          <p:nvPr/>
        </p:nvSpPr>
        <p:spPr>
          <a:xfrm>
            <a:off x="457200" y="2834640"/>
            <a:ext cx="8229600" cy="1280160"/>
          </a:xfrm>
          <a:prstGeom prst="rect">
            <a:avLst/>
          </a:prstGeom>
          <a:solidFill>
            <a:srgbClr val="1E2A33"/>
          </a:solidFill>
          <a:ln w="25400">
            <a:solidFill>
              <a:srgbClr val="0E7C86"/>
            </a:solidFill>
            <a:prstDash val="solid"/>
          </a:ln>
        </p:spPr>
      </p:sp>
      <p:sp>
        <p:nvSpPr>
          <p:cNvPr id="9" name="Text 7"/>
          <p:cNvSpPr/>
          <p:nvPr/>
        </p:nvSpPr>
        <p:spPr>
          <a:xfrm>
            <a:off x="548640" y="2907792"/>
            <a:ext cx="8046720" cy="1133856"/>
          </a:xfrm>
          <a:prstGeom prst="rect">
            <a:avLst/>
          </a:prstGeom>
          <a:noFill/>
          <a:ln/>
        </p:spPr>
        <p:txBody>
          <a:bodyPr wrap="square" rtlCol="0" anchor="t"/>
          <a:lstStyle/>
          <a:p>
            <a:pPr algn="l" indent="0" marL="0">
              <a:buNone/>
            </a:pPr>
            <a:r>
              <a:rPr lang="en-US" sz="900" dirty="0">
                <a:solidFill>
                  <a:srgbClr val="FFFFFF"/>
                </a:solidFill>
              </a:rPr>
              <a:t>for vertex in mesh:</a:t>
            </a:r>
            <a:endParaRPr lang="en-US" sz="900" dirty="0"/>
          </a:p>
          <a:p>
            <a:pPr algn="l" indent="0" marL="0">
              <a:buNone/>
            </a:pPr>
            <a:r>
              <a:rPr lang="en-US" sz="900" dirty="0">
                <a:solidFill>
                  <a:srgbClr val="FFFFFF"/>
                </a:solidFill>
              </a:rPr>
              <a:t>  if at_chainage(20m): vertex.z -= 7mm  # Crown down</a:t>
            </a:r>
            <a:endParaRPr lang="en-US" sz="900" dirty="0"/>
          </a:p>
          <a:p>
            <a:pPr algn="l" indent="0" marL="0">
              <a:buNone/>
            </a:pPr>
            <a:r>
              <a:rPr lang="en-US" sz="900" dirty="0">
                <a:solidFill>
                  <a:srgbClr val="FFFFFF"/>
                </a:solidFill>
              </a:rPr>
              <a:t>  if at_chainage(45m): vertex.xy *= 0.995  # Convergence</a:t>
            </a:r>
            <a:endParaRPr lang="en-US" sz="900" dirty="0"/>
          </a:p>
          <a:p>
            <a:pPr algn="l" indent="0" marL="0">
              <a:buNone/>
            </a:pPr>
            <a:r>
              <a:rPr lang="en-US" sz="900" dirty="0">
                <a:solidFill>
                  <a:srgbClr val="FFFFFF"/>
                </a:solidFill>
              </a:rPr>
              <a:t>  if at_chainage(65m): vertex.xyz -= 15mm  # Damage</a:t>
            </a:r>
            <a:endParaRPr lang="en-US" sz="900" dirty="0"/>
          </a:p>
        </p:txBody>
      </p:sp>
      <p:sp>
        <p:nvSpPr>
          <p:cNvPr id="10" name="Text 8"/>
          <p:cNvSpPr/>
          <p:nvPr/>
        </p:nvSpPr>
        <p:spPr>
          <a:xfrm>
            <a:off x="457200" y="4297680"/>
            <a:ext cx="8229600" cy="274320"/>
          </a:xfrm>
          <a:prstGeom prst="rect">
            <a:avLst/>
          </a:prstGeom>
          <a:noFill/>
          <a:ln/>
        </p:spPr>
        <p:txBody>
          <a:bodyPr wrap="square" rtlCol="0" anchor="ctr"/>
          <a:lstStyle/>
          <a:p>
            <a:pPr indent="0" marL="0">
              <a:buNone/>
            </a:pPr>
            <a:r>
              <a:rPr lang="en-US" sz="1100" b="1" dirty="0">
                <a:solidFill>
                  <a:srgbClr val="27AE60"/>
                </a:solidFill>
              </a:rPr>
              <a:t>✓ Validate deformation on mesh ✓ Record ground_truth.csv</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A43"/>
          </a:solidFill>
          <a:ln/>
        </p:spPr>
      </p:sp>
      <p:sp>
        <p:nvSpPr>
          <p:cNvPr id="3" name="Text 1"/>
          <p:cNvSpPr/>
          <p:nvPr/>
        </p:nvSpPr>
        <p:spPr>
          <a:xfrm>
            <a:off x="457200" y="91440"/>
            <a:ext cx="8229600" cy="457200"/>
          </a:xfrm>
          <a:prstGeom prst="rect">
            <a:avLst/>
          </a:prstGeom>
          <a:noFill/>
          <a:ln/>
        </p:spPr>
        <p:txBody>
          <a:bodyPr wrap="square" rtlCol="0" anchor="ctr"/>
          <a:lstStyle/>
          <a:p>
            <a:pPr indent="0" marL="0">
              <a:buNone/>
            </a:pPr>
            <a:r>
              <a:rPr lang="en-US" sz="3200" b="1" dirty="0">
                <a:solidFill>
                  <a:srgbClr val="FFFFFF"/>
                </a:solidFill>
              </a:rPr>
              <a:t>Phase C: Raycast Deformed Tunnel</a:t>
            </a:r>
            <a:endParaRPr lang="en-US" sz="3200" dirty="0"/>
          </a:p>
        </p:txBody>
      </p:sp>
      <p:sp>
        <p:nvSpPr>
          <p:cNvPr id="4" name="Text 2"/>
          <p:cNvSpPr/>
          <p:nvPr/>
        </p:nvSpPr>
        <p:spPr>
          <a:xfrm>
            <a:off x="457200" y="914400"/>
            <a:ext cx="8229600" cy="365760"/>
          </a:xfrm>
          <a:prstGeom prst="rect">
            <a:avLst/>
          </a:prstGeom>
          <a:noFill/>
          <a:ln/>
        </p:spPr>
        <p:txBody>
          <a:bodyPr wrap="square" rtlCol="0" anchor="ctr"/>
          <a:lstStyle/>
          <a:p>
            <a:pPr indent="0" marL="0">
              <a:buNone/>
            </a:pPr>
            <a:r>
              <a:rPr lang="en-US" sz="1200" b="1" dirty="0">
                <a:solidFill>
                  <a:srgbClr val="F2A516"/>
                </a:solidFill>
              </a:rPr>
              <a:t>CRITICAL: Use IDENTICAL scanner setup from Phase A</a:t>
            </a:r>
            <a:endParaRPr lang="en-US" sz="1200" dirty="0"/>
          </a:p>
        </p:txBody>
      </p:sp>
      <p:sp>
        <p:nvSpPr>
          <p:cNvPr id="5" name="Shape 3"/>
          <p:cNvSpPr/>
          <p:nvPr/>
        </p:nvSpPr>
        <p:spPr>
          <a:xfrm>
            <a:off x="457200" y="1371600"/>
            <a:ext cx="8229600" cy="2286000"/>
          </a:xfrm>
          <a:prstGeom prst="rect">
            <a:avLst/>
          </a:prstGeom>
          <a:solidFill>
            <a:srgbClr val="1E2A33"/>
          </a:solidFill>
          <a:ln w="25400">
            <a:solidFill>
              <a:srgbClr val="0E7C86"/>
            </a:solidFill>
            <a:prstDash val="solid"/>
          </a:ln>
        </p:spPr>
      </p:sp>
      <p:sp>
        <p:nvSpPr>
          <p:cNvPr id="6" name="Text 4"/>
          <p:cNvSpPr/>
          <p:nvPr/>
        </p:nvSpPr>
        <p:spPr>
          <a:xfrm>
            <a:off x="548640" y="1444752"/>
            <a:ext cx="8046720" cy="2139696"/>
          </a:xfrm>
          <a:prstGeom prst="rect">
            <a:avLst/>
          </a:prstGeom>
          <a:noFill/>
          <a:ln/>
        </p:spPr>
        <p:txBody>
          <a:bodyPr wrap="square" rtlCol="0" anchor="t"/>
          <a:lstStyle/>
          <a:p>
            <a:pPr algn="l" indent="0" marL="0">
              <a:buNone/>
            </a:pPr>
            <a:r>
              <a:rPr lang="en-US" sz="900" dirty="0">
                <a:solidFill>
                  <a:srgbClr val="FFFFFF"/>
                </a:solidFill>
              </a:rPr>
              <a:t># Same scanner location &amp; sphere subdivision</a:t>
            </a:r>
            <a:endParaRPr lang="en-US" sz="900" dirty="0"/>
          </a:p>
          <a:p>
            <a:pPr algn="l" indent="0" marL="0">
              <a:buNone/>
            </a:pPr>
            <a:r>
              <a:rPr lang="en-US" sz="900" dirty="0">
                <a:solidFill>
                  <a:srgbClr val="FFFFFF"/>
                </a:solidFill>
              </a:rPr>
              <a:t>scanner_location = (0, 10, 3)  # MUST match T0</a:t>
            </a:r>
            <a:endParaRPr lang="en-US" sz="900" dirty="0"/>
          </a:p>
          <a:p>
            <a:pPr algn="l" indent="0" marL="0">
              <a:buNone/>
            </a:pPr>
            <a:r>
              <a:rPr lang="en-US" sz="900" dirty="0">
                <a:solidFill>
                  <a:srgbClr val="FFFFFF"/>
                </a:solidFill>
              </a:rPr>
              <a:t>scanner_sphere = UV_Sphere(subdivisions=32x16)  # MUST match T0</a:t>
            </a:r>
            <a:endParaRPr lang="en-US" sz="900" dirty="0"/>
          </a:p>
          <a:p>
            <a:pPr algn="l" indent="0" marL="0">
              <a:buNone/>
            </a:pPr>
            <a:endParaRPr lang="en-US" sz="900" dirty="0"/>
          </a:p>
          <a:p>
            <a:pPr algn="l" indent="0" marL="0">
              <a:buNone/>
            </a:pPr>
            <a:r>
              <a:rPr lang="en-US" sz="900" dirty="0">
                <a:solidFill>
                  <a:srgbClr val="FFFFFF"/>
                </a:solidFill>
              </a:rPr>
              <a:t># Load DEFORMED mesh (different from Phase A)</a:t>
            </a:r>
            <a:endParaRPr lang="en-US" sz="900" dirty="0"/>
          </a:p>
          <a:p>
            <a:pPr algn="l" indent="0" marL="0">
              <a:buNone/>
            </a:pPr>
            <a:r>
              <a:rPr lang="en-US" sz="900" dirty="0">
                <a:solidFill>
                  <a:srgbClr val="FFFFFF"/>
                </a:solidFill>
              </a:rPr>
              <a:t>tunnel_mesh = load("tunnel_deformed.blend")</a:t>
            </a:r>
            <a:endParaRPr lang="en-US" sz="900" dirty="0"/>
          </a:p>
          <a:p>
            <a:pPr algn="l" indent="0" marL="0">
              <a:buNone/>
            </a:pPr>
            <a:endParaRPr lang="en-US" sz="900" dirty="0"/>
          </a:p>
          <a:p>
            <a:pPr algn="l" indent="0" marL="0">
              <a:buNone/>
            </a:pPr>
            <a:r>
              <a:rPr lang="en-US" sz="900" dirty="0">
                <a:solidFill>
                  <a:srgbClr val="FFFFFF"/>
                </a:solidFill>
              </a:rPr>
              <a:t># Raycast with same noise model</a:t>
            </a:r>
            <a:endParaRPr lang="en-US" sz="900" dirty="0"/>
          </a:p>
          <a:p>
            <a:pPr algn="l" indent="0" marL="0">
              <a:buNone/>
            </a:pPr>
            <a:r>
              <a:rPr lang="en-US" sz="900" dirty="0">
                <a:solidFill>
                  <a:srgbClr val="FFFFFF"/>
                </a:solidFill>
              </a:rPr>
              <a:t>for vertex in scanner_sphere:</a:t>
            </a:r>
            <a:endParaRPr lang="en-US" sz="900" dirty="0"/>
          </a:p>
          <a:p>
            <a:pPr algn="l" indent="0" marL="0">
              <a:buNone/>
            </a:pPr>
            <a:r>
              <a:rPr lang="en-US" sz="900" dirty="0">
                <a:solidFill>
                  <a:srgbClr val="FFFFFF"/>
                </a:solidFill>
              </a:rPr>
              <a:t>  hit = raycast(vertex, tunnel_mesh)</a:t>
            </a:r>
            <a:endParaRPr lang="en-US" sz="900" dirty="0"/>
          </a:p>
          <a:p>
            <a:pPr algn="l" indent="0" marL="0">
              <a:buNone/>
            </a:pPr>
            <a:r>
              <a:rPr lang="en-US" sz="900" dirty="0">
                <a:solidFill>
                  <a:srgbClr val="FFFFFF"/>
                </a:solidFill>
              </a:rPr>
              <a:t>  noise = 5 + (distance / 10) * 2  # Same noise as T0</a:t>
            </a:r>
            <a:endParaRPr lang="en-US" sz="900" dirty="0"/>
          </a:p>
          <a:p>
            <a:pPr algn="l" indent="0" marL="0">
              <a:buNone/>
            </a:pPr>
            <a:r>
              <a:rPr lang="en-US" sz="900" dirty="0">
                <a:solidFill>
                  <a:srgbClr val="FFFFFF"/>
                </a:solidFill>
              </a:rPr>
              <a:t>  Tn_points.append(hit + gaussian_noise)</a:t>
            </a:r>
            <a:endParaRPr lang="en-US" sz="900" dirty="0"/>
          </a:p>
          <a:p>
            <a:pPr algn="l" indent="0" marL="0">
              <a:buNone/>
            </a:pPr>
            <a:endParaRPr lang="en-US" sz="900" dirty="0"/>
          </a:p>
          <a:p>
            <a:pPr algn="l" indent="0" marL="0">
              <a:buNone/>
            </a:pPr>
            <a:r>
              <a:rPr lang="en-US" sz="900" dirty="0">
                <a:solidFill>
                  <a:srgbClr val="FFFFFF"/>
                </a:solidFill>
              </a:rPr>
              <a:t>export Tn.las</a:t>
            </a:r>
            <a:endParaRPr lang="en-US" sz="900" dirty="0"/>
          </a:p>
        </p:txBody>
      </p:sp>
      <p:sp>
        <p:nvSpPr>
          <p:cNvPr id="7" name="Shape 5"/>
          <p:cNvSpPr/>
          <p:nvPr/>
        </p:nvSpPr>
        <p:spPr>
          <a:xfrm>
            <a:off x="457200" y="3840480"/>
            <a:ext cx="8229600" cy="731520"/>
          </a:xfrm>
          <a:prstGeom prst="rect">
            <a:avLst/>
          </a:prstGeom>
          <a:solidFill>
            <a:srgbClr val="27AE60"/>
          </a:solidFill>
          <a:ln/>
        </p:spPr>
      </p:sp>
      <p:sp>
        <p:nvSpPr>
          <p:cNvPr id="8" name="Text 6"/>
          <p:cNvSpPr/>
          <p:nvPr/>
        </p:nvSpPr>
        <p:spPr>
          <a:xfrm>
            <a:off x="640080" y="3977640"/>
            <a:ext cx="7863840" cy="457200"/>
          </a:xfrm>
          <a:prstGeom prst="rect">
            <a:avLst/>
          </a:prstGeom>
          <a:noFill/>
          <a:ln/>
        </p:spPr>
        <p:txBody>
          <a:bodyPr wrap="square" rtlCol="0" anchor="ctr"/>
          <a:lstStyle/>
          <a:p>
            <a:pPr indent="0" marL="0">
              <a:buNone/>
            </a:pPr>
            <a:r>
              <a:rPr lang="en-US" sz="1100" b="1" dirty="0">
                <a:solidFill>
                  <a:srgbClr val="FFFFFF"/>
                </a:solidFill>
              </a:rPr>
              <a:t>Output: Tn.las | Same point count as T0 | Deformation measurable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A43"/>
          </a:solidFill>
          <a:ln/>
        </p:spPr>
      </p:sp>
      <p:sp>
        <p:nvSpPr>
          <p:cNvPr id="3" name="Text 1"/>
          <p:cNvSpPr/>
          <p:nvPr/>
        </p:nvSpPr>
        <p:spPr>
          <a:xfrm>
            <a:off x="457200" y="91440"/>
            <a:ext cx="8229600" cy="457200"/>
          </a:xfrm>
          <a:prstGeom prst="rect">
            <a:avLst/>
          </a:prstGeom>
          <a:noFill/>
          <a:ln/>
        </p:spPr>
        <p:txBody>
          <a:bodyPr wrap="square" rtlCol="0" anchor="ctr"/>
          <a:lstStyle/>
          <a:p>
            <a:pPr indent="0" marL="0">
              <a:buNone/>
            </a:pPr>
            <a:r>
              <a:rPr lang="en-US" sz="3200" b="1" dirty="0">
                <a:solidFill>
                  <a:srgbClr val="FFFFFF"/>
                </a:solidFill>
              </a:rPr>
              <a:t>Validation: Compare Measurements</a:t>
            </a:r>
            <a:endParaRPr lang="en-US" sz="3200" dirty="0"/>
          </a:p>
        </p:txBody>
      </p:sp>
      <p:sp>
        <p:nvSpPr>
          <p:cNvPr id="4" name="Text 2"/>
          <p:cNvSpPr/>
          <p:nvPr/>
        </p:nvSpPr>
        <p:spPr>
          <a:xfrm>
            <a:off x="640080" y="1005840"/>
            <a:ext cx="7772400" cy="320040"/>
          </a:xfrm>
          <a:prstGeom prst="rect">
            <a:avLst/>
          </a:prstGeom>
          <a:noFill/>
          <a:ln/>
        </p:spPr>
        <p:txBody>
          <a:bodyPr wrap="square" rtlCol="0" anchor="t"/>
          <a:lstStyle/>
          <a:p>
            <a:pPr algn="l" indent="0" marL="0">
              <a:buNone/>
            </a:pPr>
            <a:r>
              <a:rPr lang="en-US" sz="1300" dirty="0">
                <a:solidFill>
                  <a:srgbClr val="1A1A1A"/>
                </a:solidFill>
              </a:rPr>
              <a:t>• 1. Load T0.las into tunnel_analysis tool → get baseline metrics</a:t>
            </a:r>
            <a:endParaRPr lang="en-US" sz="1300" dirty="0"/>
          </a:p>
        </p:txBody>
      </p:sp>
      <p:sp>
        <p:nvSpPr>
          <p:cNvPr id="5" name="Text 3"/>
          <p:cNvSpPr/>
          <p:nvPr/>
        </p:nvSpPr>
        <p:spPr>
          <a:xfrm>
            <a:off x="640080" y="1389888"/>
            <a:ext cx="7772400" cy="320040"/>
          </a:xfrm>
          <a:prstGeom prst="rect">
            <a:avLst/>
          </a:prstGeom>
          <a:noFill/>
          <a:ln/>
        </p:spPr>
        <p:txBody>
          <a:bodyPr wrap="square" rtlCol="0" anchor="t"/>
          <a:lstStyle/>
          <a:p>
            <a:pPr algn="l" indent="0" marL="0">
              <a:buNone/>
            </a:pPr>
            <a:r>
              <a:rPr lang="en-US" sz="1300" dirty="0">
                <a:solidFill>
                  <a:srgbClr val="1A1A1A"/>
                </a:solidFill>
              </a:rPr>
              <a:t>• 2. Load Tn.las into tool → measure deformation</a:t>
            </a:r>
            <a:endParaRPr lang="en-US" sz="1300" dirty="0"/>
          </a:p>
        </p:txBody>
      </p:sp>
      <p:sp>
        <p:nvSpPr>
          <p:cNvPr id="6" name="Text 4"/>
          <p:cNvSpPr/>
          <p:nvPr/>
        </p:nvSpPr>
        <p:spPr>
          <a:xfrm>
            <a:off x="640080" y="1773936"/>
            <a:ext cx="7772400" cy="320040"/>
          </a:xfrm>
          <a:prstGeom prst="rect">
            <a:avLst/>
          </a:prstGeom>
          <a:noFill/>
          <a:ln/>
        </p:spPr>
        <p:txBody>
          <a:bodyPr wrap="square" rtlCol="0" anchor="t"/>
          <a:lstStyle/>
          <a:p>
            <a:pPr algn="l" indent="0" marL="0">
              <a:buNone/>
            </a:pPr>
            <a:r>
              <a:rPr lang="en-US" sz="1300" dirty="0">
                <a:solidFill>
                  <a:srgbClr val="1A1A1A"/>
                </a:solidFill>
              </a:rPr>
              <a:t>• 3. Tool reports: crown_settle, convergence, local_damage (mm)</a:t>
            </a:r>
            <a:endParaRPr lang="en-US" sz="1300" dirty="0"/>
          </a:p>
        </p:txBody>
      </p:sp>
      <p:sp>
        <p:nvSpPr>
          <p:cNvPr id="7" name="Text 5"/>
          <p:cNvSpPr/>
          <p:nvPr/>
        </p:nvSpPr>
        <p:spPr>
          <a:xfrm>
            <a:off x="640080" y="2157984"/>
            <a:ext cx="7772400" cy="320040"/>
          </a:xfrm>
          <a:prstGeom prst="rect">
            <a:avLst/>
          </a:prstGeom>
          <a:noFill/>
          <a:ln/>
        </p:spPr>
        <p:txBody>
          <a:bodyPr wrap="square" rtlCol="0" anchor="t"/>
          <a:lstStyle/>
          <a:p>
            <a:pPr algn="l" indent="0" marL="0">
              <a:buNone/>
            </a:pPr>
            <a:r>
              <a:rPr lang="en-US" sz="1300" dirty="0">
                <a:solidFill>
                  <a:srgbClr val="1A1A1A"/>
                </a:solidFill>
              </a:rPr>
              <a:t>• 4. Compare tool output vs ground_truth.csv</a:t>
            </a:r>
            <a:endParaRPr lang="en-US" sz="1300" dirty="0"/>
          </a:p>
        </p:txBody>
      </p:sp>
      <p:sp>
        <p:nvSpPr>
          <p:cNvPr id="8" name="Text 6"/>
          <p:cNvSpPr/>
          <p:nvPr/>
        </p:nvSpPr>
        <p:spPr>
          <a:xfrm>
            <a:off x="640080" y="2542032"/>
            <a:ext cx="7772400" cy="320040"/>
          </a:xfrm>
          <a:prstGeom prst="rect">
            <a:avLst/>
          </a:prstGeom>
          <a:noFill/>
          <a:ln/>
        </p:spPr>
        <p:txBody>
          <a:bodyPr wrap="square" rtlCol="0" anchor="t"/>
          <a:lstStyle/>
          <a:p>
            <a:pPr algn="l" indent="0" marL="0">
              <a:buNone/>
            </a:pPr>
            <a:r>
              <a:rPr lang="en-US" sz="1300" dirty="0">
                <a:solidFill>
                  <a:srgbClr val="1A1A1A"/>
                </a:solidFill>
              </a:rPr>
              <a:t>• 5. Calculate error: |measured - prescribed|</a:t>
            </a:r>
            <a:endParaRPr lang="en-US" sz="1300" dirty="0"/>
          </a:p>
        </p:txBody>
      </p:sp>
      <p:sp>
        <p:nvSpPr>
          <p:cNvPr id="9" name="Text 7"/>
          <p:cNvSpPr/>
          <p:nvPr/>
        </p:nvSpPr>
        <p:spPr>
          <a:xfrm>
            <a:off x="640080" y="2926080"/>
            <a:ext cx="7772400" cy="320040"/>
          </a:xfrm>
          <a:prstGeom prst="rect">
            <a:avLst/>
          </a:prstGeom>
          <a:noFill/>
          <a:ln/>
        </p:spPr>
        <p:txBody>
          <a:bodyPr wrap="square" rtlCol="0" anchor="t"/>
          <a:lstStyle/>
          <a:p>
            <a:pPr algn="l" indent="0" marL="0">
              <a:buNone/>
            </a:pPr>
            <a:r>
              <a:rPr lang="en-US" sz="1300" dirty="0">
                <a:solidFill>
                  <a:srgbClr val="1A1A1A"/>
                </a:solidFill>
              </a:rPr>
              <a:t>• 6. Assert: error &lt; ±1mm → PASS ✓</a:t>
            </a:r>
            <a:endParaRPr lang="en-US" sz="1300" dirty="0"/>
          </a:p>
        </p:txBody>
      </p:sp>
      <p:sp>
        <p:nvSpPr>
          <p:cNvPr id="10" name="Shape 8"/>
          <p:cNvSpPr/>
          <p:nvPr/>
        </p:nvSpPr>
        <p:spPr>
          <a:xfrm>
            <a:off x="457200" y="3657600"/>
            <a:ext cx="4023360" cy="640080"/>
          </a:xfrm>
          <a:prstGeom prst="rect">
            <a:avLst/>
          </a:prstGeom>
          <a:solidFill>
            <a:srgbClr val="27AE60"/>
          </a:solidFill>
          <a:ln/>
        </p:spPr>
      </p:sp>
      <p:sp>
        <p:nvSpPr>
          <p:cNvPr id="11" name="Text 9"/>
          <p:cNvSpPr/>
          <p:nvPr/>
        </p:nvSpPr>
        <p:spPr>
          <a:xfrm>
            <a:off x="594360" y="3749040"/>
            <a:ext cx="3749040" cy="457200"/>
          </a:xfrm>
          <a:prstGeom prst="rect">
            <a:avLst/>
          </a:prstGeom>
          <a:noFill/>
          <a:ln/>
        </p:spPr>
        <p:txBody>
          <a:bodyPr wrap="square" rtlCol="0" anchor="ctr"/>
          <a:lstStyle/>
          <a:p>
            <a:pPr algn="ctr" indent="0" marL="0">
              <a:buNone/>
            </a:pPr>
            <a:r>
              <a:rPr lang="en-US" sz="1100" b="1" dirty="0">
                <a:solidFill>
                  <a:srgbClr val="FFFFFF"/>
                </a:solidFill>
              </a:rPr>
              <a:t>✓ PASS: error &lt; ±1mm</a:t>
            </a:r>
            <a:endParaRPr lang="en-US" sz="1100" dirty="0"/>
          </a:p>
          <a:p>
            <a:pPr algn="ctr" indent="0" marL="0">
              <a:buNone/>
            </a:pPr>
            <a:r>
              <a:rPr lang="en-US" sz="1100" b="1" dirty="0">
                <a:solidFill>
                  <a:srgbClr val="FFFFFF"/>
                </a:solidFill>
              </a:rPr>
              <a:t>Tool is VALIDATED</a:t>
            </a:r>
            <a:endParaRPr lang="en-US" sz="1100" dirty="0"/>
          </a:p>
        </p:txBody>
      </p:sp>
      <p:sp>
        <p:nvSpPr>
          <p:cNvPr id="12" name="Shape 10"/>
          <p:cNvSpPr/>
          <p:nvPr/>
        </p:nvSpPr>
        <p:spPr>
          <a:xfrm>
            <a:off x="4663440" y="3657600"/>
            <a:ext cx="4023360" cy="640080"/>
          </a:xfrm>
          <a:prstGeom prst="rect">
            <a:avLst/>
          </a:prstGeom>
          <a:solidFill>
            <a:srgbClr val="F2A516"/>
          </a:solidFill>
          <a:ln/>
        </p:spPr>
      </p:sp>
      <p:sp>
        <p:nvSpPr>
          <p:cNvPr id="13" name="Text 11"/>
          <p:cNvSpPr/>
          <p:nvPr/>
        </p:nvSpPr>
        <p:spPr>
          <a:xfrm>
            <a:off x="4800600" y="3749040"/>
            <a:ext cx="3749040" cy="457200"/>
          </a:xfrm>
          <a:prstGeom prst="rect">
            <a:avLst/>
          </a:prstGeom>
          <a:noFill/>
          <a:ln/>
        </p:spPr>
        <p:txBody>
          <a:bodyPr wrap="square" rtlCol="0" anchor="ctr"/>
          <a:lstStyle/>
          <a:p>
            <a:pPr algn="ctr" indent="0" marL="0">
              <a:buNone/>
            </a:pPr>
            <a:r>
              <a:rPr lang="en-US" sz="1100" b="1" dirty="0">
                <a:solidFill>
                  <a:srgbClr val="FFFFFF"/>
                </a:solidFill>
              </a:rPr>
              <a:t>✗ FAIL: error &gt; ±5mm</a:t>
            </a:r>
            <a:endParaRPr lang="en-US" sz="1100" dirty="0"/>
          </a:p>
          <a:p>
            <a:pPr algn="ctr" indent="0" marL="0">
              <a:buNone/>
            </a:pPr>
            <a:r>
              <a:rPr lang="en-US" sz="1100" b="1" dirty="0">
                <a:solidFill>
                  <a:srgbClr val="FFFFFF"/>
                </a:solidFill>
              </a:rPr>
              <a:t>Debug registration/noise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A43"/>
          </a:solidFill>
          <a:ln/>
        </p:spPr>
      </p:sp>
      <p:sp>
        <p:nvSpPr>
          <p:cNvPr id="3" name="Text 1"/>
          <p:cNvSpPr/>
          <p:nvPr/>
        </p:nvSpPr>
        <p:spPr>
          <a:xfrm>
            <a:off x="457200" y="91440"/>
            <a:ext cx="8229600" cy="457200"/>
          </a:xfrm>
          <a:prstGeom prst="rect">
            <a:avLst/>
          </a:prstGeom>
          <a:noFill/>
          <a:ln/>
        </p:spPr>
        <p:txBody>
          <a:bodyPr wrap="square" rtlCol="0" anchor="ctr"/>
          <a:lstStyle/>
          <a:p>
            <a:pPr indent="0" marL="0">
              <a:buNone/>
            </a:pPr>
            <a:r>
              <a:rPr lang="en-US" sz="3200" b="1" dirty="0">
                <a:solidFill>
                  <a:srgbClr val="FFFFFF"/>
                </a:solidFill>
              </a:rPr>
              <a:t>Build Confidence: 4 Test Scenarios</a:t>
            </a:r>
            <a:endParaRPr lang="en-US" sz="3200" dirty="0"/>
          </a:p>
        </p:txBody>
      </p:sp>
      <p:sp>
        <p:nvSpPr>
          <p:cNvPr id="4" name="Shape 2"/>
          <p:cNvSpPr/>
          <p:nvPr/>
        </p:nvSpPr>
        <p:spPr>
          <a:xfrm>
            <a:off x="457200" y="1005840"/>
            <a:ext cx="8229600" cy="502920"/>
          </a:xfrm>
          <a:prstGeom prst="rect">
            <a:avLst/>
          </a:prstGeom>
          <a:solidFill>
            <a:srgbClr val="F0F4F8"/>
          </a:solidFill>
          <a:ln w="12700">
            <a:solidFill>
              <a:srgbClr val="0E7C86"/>
            </a:solidFill>
            <a:prstDash val="solid"/>
          </a:ln>
        </p:spPr>
      </p:sp>
      <p:sp>
        <p:nvSpPr>
          <p:cNvPr id="5" name="Shape 3"/>
          <p:cNvSpPr/>
          <p:nvPr/>
        </p:nvSpPr>
        <p:spPr>
          <a:xfrm>
            <a:off x="594360" y="1097280"/>
            <a:ext cx="320040" cy="320040"/>
          </a:xfrm>
          <a:prstGeom prst="ellipse">
            <a:avLst/>
          </a:prstGeom>
          <a:solidFill>
            <a:srgbClr val="0E7C86"/>
          </a:solidFill>
          <a:ln/>
        </p:spPr>
      </p:sp>
      <p:sp>
        <p:nvSpPr>
          <p:cNvPr id="6" name="Text 4"/>
          <p:cNvSpPr/>
          <p:nvPr/>
        </p:nvSpPr>
        <p:spPr>
          <a:xfrm>
            <a:off x="594360" y="1097280"/>
            <a:ext cx="320040" cy="320040"/>
          </a:xfrm>
          <a:prstGeom prst="rect">
            <a:avLst/>
          </a:prstGeom>
          <a:noFill/>
          <a:ln/>
        </p:spPr>
        <p:txBody>
          <a:bodyPr wrap="square" rtlCol="0" anchor="ctr"/>
          <a:lstStyle/>
          <a:p>
            <a:pPr algn="ctr" indent="0" marL="0">
              <a:buNone/>
            </a:pPr>
            <a:r>
              <a:rPr lang="en-US" sz="1200" b="1" dirty="0">
                <a:solidFill>
                  <a:srgbClr val="FFFFFF"/>
                </a:solidFill>
              </a:rPr>
              <a:t>A</a:t>
            </a:r>
            <a:endParaRPr lang="en-US" sz="1200" dirty="0"/>
          </a:p>
        </p:txBody>
      </p:sp>
      <p:sp>
        <p:nvSpPr>
          <p:cNvPr id="7" name="Text 5"/>
          <p:cNvSpPr/>
          <p:nvPr/>
        </p:nvSpPr>
        <p:spPr>
          <a:xfrm>
            <a:off x="1051560" y="1051560"/>
            <a:ext cx="7132320" cy="182880"/>
          </a:xfrm>
          <a:prstGeom prst="rect">
            <a:avLst/>
          </a:prstGeom>
          <a:noFill/>
          <a:ln/>
        </p:spPr>
        <p:txBody>
          <a:bodyPr wrap="square" rtlCol="0" anchor="ctr"/>
          <a:lstStyle/>
          <a:p>
            <a:pPr indent="0" marL="0">
              <a:buNone/>
            </a:pPr>
            <a:r>
              <a:rPr lang="en-US" sz="1100" b="1" dirty="0">
                <a:solidFill>
                  <a:srgbClr val="0F2A43"/>
                </a:solidFill>
              </a:rPr>
              <a:t>No Deformation</a:t>
            </a:r>
            <a:endParaRPr lang="en-US" sz="1100" dirty="0"/>
          </a:p>
        </p:txBody>
      </p:sp>
      <p:sp>
        <p:nvSpPr>
          <p:cNvPr id="8" name="Text 6"/>
          <p:cNvSpPr/>
          <p:nvPr/>
        </p:nvSpPr>
        <p:spPr>
          <a:xfrm>
            <a:off x="1051560" y="1261872"/>
            <a:ext cx="7132320" cy="182880"/>
          </a:xfrm>
          <a:prstGeom prst="rect">
            <a:avLst/>
          </a:prstGeom>
          <a:noFill/>
          <a:ln/>
        </p:spPr>
        <p:txBody>
          <a:bodyPr wrap="square" rtlCol="0" anchor="ctr"/>
          <a:lstStyle/>
          <a:p>
            <a:pPr indent="0" marL="0">
              <a:buNone/>
            </a:pPr>
            <a:r>
              <a:rPr lang="en-US" sz="1000" i="1" dirty="0">
                <a:solidFill>
                  <a:srgbClr val="1A1A1A"/>
                </a:solidFill>
              </a:rPr>
              <a:t>T0 → T0. Expect: 0mm error.</a:t>
            </a:r>
            <a:endParaRPr lang="en-US" sz="1000" dirty="0"/>
          </a:p>
        </p:txBody>
      </p:sp>
      <p:sp>
        <p:nvSpPr>
          <p:cNvPr id="9" name="Shape 7"/>
          <p:cNvSpPr/>
          <p:nvPr/>
        </p:nvSpPr>
        <p:spPr>
          <a:xfrm>
            <a:off x="457200" y="1645920"/>
            <a:ext cx="8229600" cy="502920"/>
          </a:xfrm>
          <a:prstGeom prst="rect">
            <a:avLst/>
          </a:prstGeom>
          <a:solidFill>
            <a:srgbClr val="F0F4F8"/>
          </a:solidFill>
          <a:ln w="12700">
            <a:solidFill>
              <a:srgbClr val="0E7C86"/>
            </a:solidFill>
            <a:prstDash val="solid"/>
          </a:ln>
        </p:spPr>
      </p:sp>
      <p:sp>
        <p:nvSpPr>
          <p:cNvPr id="10" name="Shape 8"/>
          <p:cNvSpPr/>
          <p:nvPr/>
        </p:nvSpPr>
        <p:spPr>
          <a:xfrm>
            <a:off x="594360" y="1737360"/>
            <a:ext cx="320040" cy="320040"/>
          </a:xfrm>
          <a:prstGeom prst="ellipse">
            <a:avLst/>
          </a:prstGeom>
          <a:solidFill>
            <a:srgbClr val="0E7C86"/>
          </a:solidFill>
          <a:ln/>
        </p:spPr>
      </p:sp>
      <p:sp>
        <p:nvSpPr>
          <p:cNvPr id="11" name="Text 9"/>
          <p:cNvSpPr/>
          <p:nvPr/>
        </p:nvSpPr>
        <p:spPr>
          <a:xfrm>
            <a:off x="594360" y="1737360"/>
            <a:ext cx="320040" cy="320040"/>
          </a:xfrm>
          <a:prstGeom prst="rect">
            <a:avLst/>
          </a:prstGeom>
          <a:noFill/>
          <a:ln/>
        </p:spPr>
        <p:txBody>
          <a:bodyPr wrap="square" rtlCol="0" anchor="ctr"/>
          <a:lstStyle/>
          <a:p>
            <a:pPr algn="ctr" indent="0" marL="0">
              <a:buNone/>
            </a:pPr>
            <a:r>
              <a:rPr lang="en-US" sz="1200" b="1" dirty="0">
                <a:solidFill>
                  <a:srgbClr val="FFFFFF"/>
                </a:solidFill>
              </a:rPr>
              <a:t>B</a:t>
            </a:r>
            <a:endParaRPr lang="en-US" sz="1200" dirty="0"/>
          </a:p>
        </p:txBody>
      </p:sp>
      <p:sp>
        <p:nvSpPr>
          <p:cNvPr id="12" name="Text 10"/>
          <p:cNvSpPr/>
          <p:nvPr/>
        </p:nvSpPr>
        <p:spPr>
          <a:xfrm>
            <a:off x="1051560" y="1691640"/>
            <a:ext cx="7132320" cy="182880"/>
          </a:xfrm>
          <a:prstGeom prst="rect">
            <a:avLst/>
          </a:prstGeom>
          <a:noFill/>
          <a:ln/>
        </p:spPr>
        <p:txBody>
          <a:bodyPr wrap="square" rtlCol="0" anchor="ctr"/>
          <a:lstStyle/>
          <a:p>
            <a:pPr indent="0" marL="0">
              <a:buNone/>
            </a:pPr>
            <a:r>
              <a:rPr lang="en-US" sz="1100" b="1" dirty="0">
                <a:solidFill>
                  <a:srgbClr val="0F2A43"/>
                </a:solidFill>
              </a:rPr>
              <a:t>Single Metric</a:t>
            </a:r>
            <a:endParaRPr lang="en-US" sz="1100" dirty="0"/>
          </a:p>
        </p:txBody>
      </p:sp>
      <p:sp>
        <p:nvSpPr>
          <p:cNvPr id="13" name="Text 11"/>
          <p:cNvSpPr/>
          <p:nvPr/>
        </p:nvSpPr>
        <p:spPr>
          <a:xfrm>
            <a:off x="1051560" y="1901952"/>
            <a:ext cx="7132320" cy="182880"/>
          </a:xfrm>
          <a:prstGeom prst="rect">
            <a:avLst/>
          </a:prstGeom>
          <a:noFill/>
          <a:ln/>
        </p:spPr>
        <p:txBody>
          <a:bodyPr wrap="square" rtlCol="0" anchor="ctr"/>
          <a:lstStyle/>
          <a:p>
            <a:pPr indent="0" marL="0">
              <a:buNone/>
            </a:pPr>
            <a:r>
              <a:rPr lang="en-US" sz="1000" i="1" dirty="0">
                <a:solidFill>
                  <a:srgbClr val="1A1A1A"/>
                </a:solidFill>
              </a:rPr>
              <a:t>Crown-only, convergence-only, damage-only.</a:t>
            </a:r>
            <a:endParaRPr lang="en-US" sz="1000" dirty="0"/>
          </a:p>
        </p:txBody>
      </p:sp>
      <p:sp>
        <p:nvSpPr>
          <p:cNvPr id="14" name="Shape 12"/>
          <p:cNvSpPr/>
          <p:nvPr/>
        </p:nvSpPr>
        <p:spPr>
          <a:xfrm>
            <a:off x="457200" y="2286000"/>
            <a:ext cx="8229600" cy="502920"/>
          </a:xfrm>
          <a:prstGeom prst="rect">
            <a:avLst/>
          </a:prstGeom>
          <a:solidFill>
            <a:srgbClr val="F0F4F8"/>
          </a:solidFill>
          <a:ln w="12700">
            <a:solidFill>
              <a:srgbClr val="0E7C86"/>
            </a:solidFill>
            <a:prstDash val="solid"/>
          </a:ln>
        </p:spPr>
      </p:sp>
      <p:sp>
        <p:nvSpPr>
          <p:cNvPr id="15" name="Shape 13"/>
          <p:cNvSpPr/>
          <p:nvPr/>
        </p:nvSpPr>
        <p:spPr>
          <a:xfrm>
            <a:off x="594360" y="2377440"/>
            <a:ext cx="320040" cy="320040"/>
          </a:xfrm>
          <a:prstGeom prst="ellipse">
            <a:avLst/>
          </a:prstGeom>
          <a:solidFill>
            <a:srgbClr val="0E7C86"/>
          </a:solidFill>
          <a:ln/>
        </p:spPr>
      </p:sp>
      <p:sp>
        <p:nvSpPr>
          <p:cNvPr id="16" name="Text 14"/>
          <p:cNvSpPr/>
          <p:nvPr/>
        </p:nvSpPr>
        <p:spPr>
          <a:xfrm>
            <a:off x="594360" y="2377440"/>
            <a:ext cx="320040" cy="320040"/>
          </a:xfrm>
          <a:prstGeom prst="rect">
            <a:avLst/>
          </a:prstGeom>
          <a:noFill/>
          <a:ln/>
        </p:spPr>
        <p:txBody>
          <a:bodyPr wrap="square" rtlCol="0" anchor="ctr"/>
          <a:lstStyle/>
          <a:p>
            <a:pPr algn="ctr" indent="0" marL="0">
              <a:buNone/>
            </a:pPr>
            <a:r>
              <a:rPr lang="en-US" sz="1200" b="1" dirty="0">
                <a:solidFill>
                  <a:srgbClr val="FFFFFF"/>
                </a:solidFill>
              </a:rPr>
              <a:t>C</a:t>
            </a:r>
            <a:endParaRPr lang="en-US" sz="1200" dirty="0"/>
          </a:p>
        </p:txBody>
      </p:sp>
      <p:sp>
        <p:nvSpPr>
          <p:cNvPr id="17" name="Text 15"/>
          <p:cNvSpPr/>
          <p:nvPr/>
        </p:nvSpPr>
        <p:spPr>
          <a:xfrm>
            <a:off x="1051560" y="2331720"/>
            <a:ext cx="7132320" cy="182880"/>
          </a:xfrm>
          <a:prstGeom prst="rect">
            <a:avLst/>
          </a:prstGeom>
          <a:noFill/>
          <a:ln/>
        </p:spPr>
        <p:txBody>
          <a:bodyPr wrap="square" rtlCol="0" anchor="ctr"/>
          <a:lstStyle/>
          <a:p>
            <a:pPr indent="0" marL="0">
              <a:buNone/>
            </a:pPr>
            <a:r>
              <a:rPr lang="en-US" sz="1100" b="1" dirty="0">
                <a:solidFill>
                  <a:srgbClr val="0F2A43"/>
                </a:solidFill>
              </a:rPr>
              <a:t>Combined</a:t>
            </a:r>
            <a:endParaRPr lang="en-US" sz="1100" dirty="0"/>
          </a:p>
        </p:txBody>
      </p:sp>
      <p:sp>
        <p:nvSpPr>
          <p:cNvPr id="18" name="Text 16"/>
          <p:cNvSpPr/>
          <p:nvPr/>
        </p:nvSpPr>
        <p:spPr>
          <a:xfrm>
            <a:off x="1051560" y="2542032"/>
            <a:ext cx="7132320" cy="182880"/>
          </a:xfrm>
          <a:prstGeom prst="rect">
            <a:avLst/>
          </a:prstGeom>
          <a:noFill/>
          <a:ln/>
        </p:spPr>
        <p:txBody>
          <a:bodyPr wrap="square" rtlCol="0" anchor="ctr"/>
          <a:lstStyle/>
          <a:p>
            <a:pPr indent="0" marL="0">
              <a:buNone/>
            </a:pPr>
            <a:r>
              <a:rPr lang="en-US" sz="1000" i="1" dirty="0">
                <a:solidFill>
                  <a:srgbClr val="1A1A1A"/>
                </a:solidFill>
              </a:rPr>
              <a:t>All 3 deformations (realistic, stressful).</a:t>
            </a:r>
            <a:endParaRPr lang="en-US" sz="1000" dirty="0"/>
          </a:p>
        </p:txBody>
      </p:sp>
      <p:sp>
        <p:nvSpPr>
          <p:cNvPr id="19" name="Shape 17"/>
          <p:cNvSpPr/>
          <p:nvPr/>
        </p:nvSpPr>
        <p:spPr>
          <a:xfrm>
            <a:off x="457200" y="2926080"/>
            <a:ext cx="8229600" cy="502920"/>
          </a:xfrm>
          <a:prstGeom prst="rect">
            <a:avLst/>
          </a:prstGeom>
          <a:solidFill>
            <a:srgbClr val="F0F4F8"/>
          </a:solidFill>
          <a:ln w="12700">
            <a:solidFill>
              <a:srgbClr val="0E7C86"/>
            </a:solidFill>
            <a:prstDash val="solid"/>
          </a:ln>
        </p:spPr>
      </p:sp>
      <p:sp>
        <p:nvSpPr>
          <p:cNvPr id="20" name="Shape 18"/>
          <p:cNvSpPr/>
          <p:nvPr/>
        </p:nvSpPr>
        <p:spPr>
          <a:xfrm>
            <a:off x="594360" y="3017520"/>
            <a:ext cx="320040" cy="320040"/>
          </a:xfrm>
          <a:prstGeom prst="ellipse">
            <a:avLst/>
          </a:prstGeom>
          <a:solidFill>
            <a:srgbClr val="0E7C86"/>
          </a:solidFill>
          <a:ln/>
        </p:spPr>
      </p:sp>
      <p:sp>
        <p:nvSpPr>
          <p:cNvPr id="21" name="Text 19"/>
          <p:cNvSpPr/>
          <p:nvPr/>
        </p:nvSpPr>
        <p:spPr>
          <a:xfrm>
            <a:off x="594360" y="3017520"/>
            <a:ext cx="320040" cy="320040"/>
          </a:xfrm>
          <a:prstGeom prst="rect">
            <a:avLst/>
          </a:prstGeom>
          <a:noFill/>
          <a:ln/>
        </p:spPr>
        <p:txBody>
          <a:bodyPr wrap="square" rtlCol="0" anchor="ctr"/>
          <a:lstStyle/>
          <a:p>
            <a:pPr algn="ctr" indent="0" marL="0">
              <a:buNone/>
            </a:pPr>
            <a:r>
              <a:rPr lang="en-US" sz="1200" b="1" dirty="0">
                <a:solidFill>
                  <a:srgbClr val="FFFFFF"/>
                </a:solidFill>
              </a:rPr>
              <a:t>D</a:t>
            </a:r>
            <a:endParaRPr lang="en-US" sz="1200" dirty="0"/>
          </a:p>
        </p:txBody>
      </p:sp>
      <p:sp>
        <p:nvSpPr>
          <p:cNvPr id="22" name="Text 20"/>
          <p:cNvSpPr/>
          <p:nvPr/>
        </p:nvSpPr>
        <p:spPr>
          <a:xfrm>
            <a:off x="1051560" y="2971800"/>
            <a:ext cx="7132320" cy="182880"/>
          </a:xfrm>
          <a:prstGeom prst="rect">
            <a:avLst/>
          </a:prstGeom>
          <a:noFill/>
          <a:ln/>
        </p:spPr>
        <p:txBody>
          <a:bodyPr wrap="square" rtlCol="0" anchor="ctr"/>
          <a:lstStyle/>
          <a:p>
            <a:pPr indent="0" marL="0">
              <a:buNone/>
            </a:pPr>
            <a:r>
              <a:rPr lang="en-US" sz="1100" b="1" dirty="0">
                <a:solidFill>
                  <a:srgbClr val="0F2A43"/>
                </a:solidFill>
              </a:rPr>
              <a:t>Offset Scanner</a:t>
            </a:r>
            <a:endParaRPr lang="en-US" sz="1100" dirty="0"/>
          </a:p>
        </p:txBody>
      </p:sp>
      <p:sp>
        <p:nvSpPr>
          <p:cNvPr id="23" name="Text 21"/>
          <p:cNvSpPr/>
          <p:nvPr/>
        </p:nvSpPr>
        <p:spPr>
          <a:xfrm>
            <a:off x="1051560" y="3182112"/>
            <a:ext cx="7132320" cy="182880"/>
          </a:xfrm>
          <a:prstGeom prst="rect">
            <a:avLst/>
          </a:prstGeom>
          <a:noFill/>
          <a:ln/>
        </p:spPr>
        <p:txBody>
          <a:bodyPr wrap="square" rtlCol="0" anchor="ctr"/>
          <a:lstStyle/>
          <a:p>
            <a:pPr indent="0" marL="0">
              <a:buNone/>
            </a:pPr>
            <a:r>
              <a:rPr lang="en-US" sz="1000" i="1" dirty="0">
                <a:solidFill>
                  <a:srgbClr val="1A1A1A"/>
                </a:solidFill>
              </a:rPr>
              <a:t>Different scanner location. Still measurable.</a:t>
            </a:r>
            <a:endParaRPr lang="en-US" sz="1000" dirty="0"/>
          </a:p>
        </p:txBody>
      </p:sp>
      <p:sp>
        <p:nvSpPr>
          <p:cNvPr id="24" name="Text 22"/>
          <p:cNvSpPr/>
          <p:nvPr/>
        </p:nvSpPr>
        <p:spPr>
          <a:xfrm>
            <a:off x="457200" y="4114800"/>
            <a:ext cx="8229600" cy="274320"/>
          </a:xfrm>
          <a:prstGeom prst="rect">
            <a:avLst/>
          </a:prstGeom>
          <a:noFill/>
          <a:ln/>
        </p:spPr>
        <p:txBody>
          <a:bodyPr wrap="square" rtlCol="0" anchor="ctr"/>
          <a:lstStyle/>
          <a:p>
            <a:pPr indent="0" marL="0">
              <a:buNone/>
            </a:pPr>
            <a:r>
              <a:rPr lang="en-US" sz="1100" b="1" dirty="0">
                <a:solidFill>
                  <a:srgbClr val="27AE60"/>
                </a:solidFill>
              </a:rPr>
              <a:t>Record all results → validation_results.csv</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A43"/>
          </a:solidFill>
          <a:ln/>
        </p:spPr>
      </p:sp>
      <p:sp>
        <p:nvSpPr>
          <p:cNvPr id="3" name="Text 1"/>
          <p:cNvSpPr/>
          <p:nvPr/>
        </p:nvSpPr>
        <p:spPr>
          <a:xfrm>
            <a:off x="457200" y="91440"/>
            <a:ext cx="8229600" cy="457200"/>
          </a:xfrm>
          <a:prstGeom prst="rect">
            <a:avLst/>
          </a:prstGeom>
          <a:noFill/>
          <a:ln/>
        </p:spPr>
        <p:txBody>
          <a:bodyPr wrap="square" rtlCol="0" anchor="ctr"/>
          <a:lstStyle/>
          <a:p>
            <a:pPr indent="0" marL="0">
              <a:buNone/>
            </a:pPr>
            <a:r>
              <a:rPr lang="en-US" sz="3200" b="1" dirty="0">
                <a:solidFill>
                  <a:srgbClr val="FFFFFF"/>
                </a:solidFill>
              </a:rPr>
              <a:t>Implementation Timeline</a:t>
            </a:r>
            <a:endParaRPr lang="en-US" sz="3200" dirty="0"/>
          </a:p>
        </p:txBody>
      </p:sp>
      <p:sp>
        <p:nvSpPr>
          <p:cNvPr id="4" name="Shape 2"/>
          <p:cNvSpPr/>
          <p:nvPr/>
        </p:nvSpPr>
        <p:spPr>
          <a:xfrm>
            <a:off x="914400" y="1005840"/>
            <a:ext cx="7315200" cy="320040"/>
          </a:xfrm>
          <a:prstGeom prst="rect">
            <a:avLst/>
          </a:prstGeom>
          <a:solidFill>
            <a:srgbClr val="0F2A43"/>
          </a:solidFill>
          <a:ln/>
        </p:spPr>
      </p:sp>
      <p:sp>
        <p:nvSpPr>
          <p:cNvPr id="5" name="Text 3"/>
          <p:cNvSpPr/>
          <p:nvPr/>
        </p:nvSpPr>
        <p:spPr>
          <a:xfrm>
            <a:off x="1097280" y="1051560"/>
            <a:ext cx="4572000" cy="228600"/>
          </a:xfrm>
          <a:prstGeom prst="rect">
            <a:avLst/>
          </a:prstGeom>
          <a:noFill/>
          <a:ln/>
        </p:spPr>
        <p:txBody>
          <a:bodyPr wrap="square" rtlCol="0" anchor="ctr"/>
          <a:lstStyle/>
          <a:p>
            <a:pPr indent="0" marL="0">
              <a:buNone/>
            </a:pPr>
            <a:r>
              <a:rPr lang="en-US" sz="1100" b="1" dirty="0">
                <a:solidFill>
                  <a:srgbClr val="FFFFFF"/>
                </a:solidFill>
              </a:rPr>
              <a:t>Task</a:t>
            </a:r>
            <a:endParaRPr lang="en-US" sz="1100" dirty="0"/>
          </a:p>
        </p:txBody>
      </p:sp>
      <p:sp>
        <p:nvSpPr>
          <p:cNvPr id="6" name="Text 4"/>
          <p:cNvSpPr/>
          <p:nvPr/>
        </p:nvSpPr>
        <p:spPr>
          <a:xfrm>
            <a:off x="5943600" y="1051560"/>
            <a:ext cx="2103120" cy="228600"/>
          </a:xfrm>
          <a:prstGeom prst="rect">
            <a:avLst/>
          </a:prstGeom>
          <a:noFill/>
          <a:ln/>
        </p:spPr>
        <p:txBody>
          <a:bodyPr wrap="square" rtlCol="0" anchor="ctr"/>
          <a:lstStyle/>
          <a:p>
            <a:pPr indent="0" marL="0">
              <a:buNone/>
            </a:pPr>
            <a:r>
              <a:rPr lang="en-US" sz="1100" b="1" dirty="0">
                <a:solidFill>
                  <a:srgbClr val="FFFFFF"/>
                </a:solidFill>
              </a:rPr>
              <a:t>Duration</a:t>
            </a:r>
            <a:endParaRPr lang="en-US" sz="1100" dirty="0"/>
          </a:p>
        </p:txBody>
      </p:sp>
      <p:sp>
        <p:nvSpPr>
          <p:cNvPr id="7" name="Shape 5"/>
          <p:cNvSpPr/>
          <p:nvPr/>
        </p:nvSpPr>
        <p:spPr>
          <a:xfrm>
            <a:off x="914400" y="1371600"/>
            <a:ext cx="7315200" cy="320040"/>
          </a:xfrm>
          <a:prstGeom prst="rect">
            <a:avLst/>
          </a:prstGeom>
          <a:solidFill>
            <a:srgbClr val="F0F4F8"/>
          </a:solidFill>
          <a:ln/>
        </p:spPr>
      </p:sp>
      <p:sp>
        <p:nvSpPr>
          <p:cNvPr id="8" name="Text 6"/>
          <p:cNvSpPr/>
          <p:nvPr/>
        </p:nvSpPr>
        <p:spPr>
          <a:xfrm>
            <a:off x="1097280" y="1417320"/>
            <a:ext cx="4572000" cy="228600"/>
          </a:xfrm>
          <a:prstGeom prst="rect">
            <a:avLst/>
          </a:prstGeom>
          <a:noFill/>
          <a:ln/>
        </p:spPr>
        <p:txBody>
          <a:bodyPr wrap="square" rtlCol="0" anchor="ctr"/>
          <a:lstStyle/>
          <a:p>
            <a:pPr indent="0" marL="0">
              <a:buNone/>
            </a:pPr>
            <a:r>
              <a:rPr lang="en-US" sz="1000" dirty="0">
                <a:solidFill>
                  <a:srgbClr val="1A1A1A"/>
                </a:solidFill>
              </a:rPr>
              <a:t>T0 raycast</a:t>
            </a:r>
            <a:endParaRPr lang="en-US" sz="1000" dirty="0"/>
          </a:p>
        </p:txBody>
      </p:sp>
      <p:sp>
        <p:nvSpPr>
          <p:cNvPr id="9" name="Text 7"/>
          <p:cNvSpPr/>
          <p:nvPr/>
        </p:nvSpPr>
        <p:spPr>
          <a:xfrm>
            <a:off x="5943600" y="1417320"/>
            <a:ext cx="2103120" cy="228600"/>
          </a:xfrm>
          <a:prstGeom prst="rect">
            <a:avLst/>
          </a:prstGeom>
          <a:noFill/>
          <a:ln/>
        </p:spPr>
        <p:txBody>
          <a:bodyPr wrap="square" rtlCol="0" anchor="ctr"/>
          <a:lstStyle/>
          <a:p>
            <a:pPr algn="r" indent="0" marL="0">
              <a:buNone/>
            </a:pPr>
            <a:r>
              <a:rPr lang="en-US" sz="1000" dirty="0">
                <a:solidFill>
                  <a:srgbClr val="1A1A1A"/>
                </a:solidFill>
              </a:rPr>
              <a:t>15 min</a:t>
            </a:r>
            <a:endParaRPr lang="en-US" sz="1000" dirty="0"/>
          </a:p>
        </p:txBody>
      </p:sp>
      <p:sp>
        <p:nvSpPr>
          <p:cNvPr id="10" name="Shape 8"/>
          <p:cNvSpPr/>
          <p:nvPr/>
        </p:nvSpPr>
        <p:spPr>
          <a:xfrm>
            <a:off x="914400" y="1691640"/>
            <a:ext cx="7315200" cy="320040"/>
          </a:xfrm>
          <a:prstGeom prst="rect">
            <a:avLst/>
          </a:prstGeom>
          <a:solidFill>
            <a:srgbClr val="FFFFFF"/>
          </a:solidFill>
          <a:ln/>
        </p:spPr>
      </p:sp>
      <p:sp>
        <p:nvSpPr>
          <p:cNvPr id="11" name="Text 9"/>
          <p:cNvSpPr/>
          <p:nvPr/>
        </p:nvSpPr>
        <p:spPr>
          <a:xfrm>
            <a:off x="1097280" y="1737360"/>
            <a:ext cx="4572000" cy="228600"/>
          </a:xfrm>
          <a:prstGeom prst="rect">
            <a:avLst/>
          </a:prstGeom>
          <a:noFill/>
          <a:ln/>
        </p:spPr>
        <p:txBody>
          <a:bodyPr wrap="square" rtlCol="0" anchor="ctr"/>
          <a:lstStyle/>
          <a:p>
            <a:pPr indent="0" marL="0">
              <a:buNone/>
            </a:pPr>
            <a:r>
              <a:rPr lang="en-US" sz="1000" dirty="0">
                <a:solidFill>
                  <a:srgbClr val="1A1A1A"/>
                </a:solidFill>
              </a:rPr>
              <a:t>Deform mesh (B1-B3)</a:t>
            </a:r>
            <a:endParaRPr lang="en-US" sz="1000" dirty="0"/>
          </a:p>
        </p:txBody>
      </p:sp>
      <p:sp>
        <p:nvSpPr>
          <p:cNvPr id="12" name="Text 10"/>
          <p:cNvSpPr/>
          <p:nvPr/>
        </p:nvSpPr>
        <p:spPr>
          <a:xfrm>
            <a:off x="5943600" y="1737360"/>
            <a:ext cx="2103120" cy="228600"/>
          </a:xfrm>
          <a:prstGeom prst="rect">
            <a:avLst/>
          </a:prstGeom>
          <a:noFill/>
          <a:ln/>
        </p:spPr>
        <p:txBody>
          <a:bodyPr wrap="square" rtlCol="0" anchor="ctr"/>
          <a:lstStyle/>
          <a:p>
            <a:pPr algn="r" indent="0" marL="0">
              <a:buNone/>
            </a:pPr>
            <a:r>
              <a:rPr lang="en-US" sz="1000" dirty="0">
                <a:solidFill>
                  <a:srgbClr val="1A1A1A"/>
                </a:solidFill>
              </a:rPr>
              <a:t>30 min</a:t>
            </a:r>
            <a:endParaRPr lang="en-US" sz="1000" dirty="0"/>
          </a:p>
        </p:txBody>
      </p:sp>
      <p:sp>
        <p:nvSpPr>
          <p:cNvPr id="13" name="Shape 11"/>
          <p:cNvSpPr/>
          <p:nvPr/>
        </p:nvSpPr>
        <p:spPr>
          <a:xfrm>
            <a:off x="914400" y="2011680"/>
            <a:ext cx="7315200" cy="320040"/>
          </a:xfrm>
          <a:prstGeom prst="rect">
            <a:avLst/>
          </a:prstGeom>
          <a:solidFill>
            <a:srgbClr val="F0F4F8"/>
          </a:solidFill>
          <a:ln/>
        </p:spPr>
      </p:sp>
      <p:sp>
        <p:nvSpPr>
          <p:cNvPr id="14" name="Text 12"/>
          <p:cNvSpPr/>
          <p:nvPr/>
        </p:nvSpPr>
        <p:spPr>
          <a:xfrm>
            <a:off x="1097280" y="2057400"/>
            <a:ext cx="4572000" cy="228600"/>
          </a:xfrm>
          <a:prstGeom prst="rect">
            <a:avLst/>
          </a:prstGeom>
          <a:noFill/>
          <a:ln/>
        </p:spPr>
        <p:txBody>
          <a:bodyPr wrap="square" rtlCol="0" anchor="ctr"/>
          <a:lstStyle/>
          <a:p>
            <a:pPr indent="0" marL="0">
              <a:buNone/>
            </a:pPr>
            <a:r>
              <a:rPr lang="en-US" sz="1000" dirty="0">
                <a:solidFill>
                  <a:srgbClr val="1A1A1A"/>
                </a:solidFill>
              </a:rPr>
              <a:t>Tn raycast</a:t>
            </a:r>
            <a:endParaRPr lang="en-US" sz="1000" dirty="0"/>
          </a:p>
        </p:txBody>
      </p:sp>
      <p:sp>
        <p:nvSpPr>
          <p:cNvPr id="15" name="Text 13"/>
          <p:cNvSpPr/>
          <p:nvPr/>
        </p:nvSpPr>
        <p:spPr>
          <a:xfrm>
            <a:off x="5943600" y="2057400"/>
            <a:ext cx="2103120" cy="228600"/>
          </a:xfrm>
          <a:prstGeom prst="rect">
            <a:avLst/>
          </a:prstGeom>
          <a:noFill/>
          <a:ln/>
        </p:spPr>
        <p:txBody>
          <a:bodyPr wrap="square" rtlCol="0" anchor="ctr"/>
          <a:lstStyle/>
          <a:p>
            <a:pPr algn="r" indent="0" marL="0">
              <a:buNone/>
            </a:pPr>
            <a:r>
              <a:rPr lang="en-US" sz="1000" dirty="0">
                <a:solidFill>
                  <a:srgbClr val="1A1A1A"/>
                </a:solidFill>
              </a:rPr>
              <a:t>15 min</a:t>
            </a:r>
            <a:endParaRPr lang="en-US" sz="1000" dirty="0"/>
          </a:p>
        </p:txBody>
      </p:sp>
      <p:sp>
        <p:nvSpPr>
          <p:cNvPr id="16" name="Shape 14"/>
          <p:cNvSpPr/>
          <p:nvPr/>
        </p:nvSpPr>
        <p:spPr>
          <a:xfrm>
            <a:off x="914400" y="2331720"/>
            <a:ext cx="7315200" cy="320040"/>
          </a:xfrm>
          <a:prstGeom prst="rect">
            <a:avLst/>
          </a:prstGeom>
          <a:solidFill>
            <a:srgbClr val="FFFFFF"/>
          </a:solidFill>
          <a:ln/>
        </p:spPr>
      </p:sp>
      <p:sp>
        <p:nvSpPr>
          <p:cNvPr id="17" name="Text 15"/>
          <p:cNvSpPr/>
          <p:nvPr/>
        </p:nvSpPr>
        <p:spPr>
          <a:xfrm>
            <a:off x="1097280" y="2377440"/>
            <a:ext cx="4572000" cy="228600"/>
          </a:xfrm>
          <a:prstGeom prst="rect">
            <a:avLst/>
          </a:prstGeom>
          <a:noFill/>
          <a:ln/>
        </p:spPr>
        <p:txBody>
          <a:bodyPr wrap="square" rtlCol="0" anchor="ctr"/>
          <a:lstStyle/>
          <a:p>
            <a:pPr indent="0" marL="0">
              <a:buNone/>
            </a:pPr>
            <a:r>
              <a:rPr lang="en-US" sz="1000" dirty="0">
                <a:solidFill>
                  <a:srgbClr val="1A1A1A"/>
                </a:solidFill>
              </a:rPr>
              <a:t>Load &amp; validate tool</a:t>
            </a:r>
            <a:endParaRPr lang="en-US" sz="1000" dirty="0"/>
          </a:p>
        </p:txBody>
      </p:sp>
      <p:sp>
        <p:nvSpPr>
          <p:cNvPr id="18" name="Text 16"/>
          <p:cNvSpPr/>
          <p:nvPr/>
        </p:nvSpPr>
        <p:spPr>
          <a:xfrm>
            <a:off x="5943600" y="2377440"/>
            <a:ext cx="2103120" cy="228600"/>
          </a:xfrm>
          <a:prstGeom prst="rect">
            <a:avLst/>
          </a:prstGeom>
          <a:noFill/>
          <a:ln/>
        </p:spPr>
        <p:txBody>
          <a:bodyPr wrap="square" rtlCol="0" anchor="ctr"/>
          <a:lstStyle/>
          <a:p>
            <a:pPr algn="r" indent="0" marL="0">
              <a:buNone/>
            </a:pPr>
            <a:r>
              <a:rPr lang="en-US" sz="1000" dirty="0">
                <a:solidFill>
                  <a:srgbClr val="1A1A1A"/>
                </a:solidFill>
              </a:rPr>
              <a:t>30 min</a:t>
            </a:r>
            <a:endParaRPr lang="en-US" sz="1000" dirty="0"/>
          </a:p>
        </p:txBody>
      </p:sp>
      <p:sp>
        <p:nvSpPr>
          <p:cNvPr id="19" name="Shape 17"/>
          <p:cNvSpPr/>
          <p:nvPr/>
        </p:nvSpPr>
        <p:spPr>
          <a:xfrm>
            <a:off x="914400" y="2651760"/>
            <a:ext cx="7315200" cy="320040"/>
          </a:xfrm>
          <a:prstGeom prst="rect">
            <a:avLst/>
          </a:prstGeom>
          <a:solidFill>
            <a:srgbClr val="F0F4F8"/>
          </a:solidFill>
          <a:ln/>
        </p:spPr>
      </p:sp>
      <p:sp>
        <p:nvSpPr>
          <p:cNvPr id="20" name="Text 18"/>
          <p:cNvSpPr/>
          <p:nvPr/>
        </p:nvSpPr>
        <p:spPr>
          <a:xfrm>
            <a:off x="1097280" y="2697480"/>
            <a:ext cx="4572000" cy="228600"/>
          </a:xfrm>
          <a:prstGeom prst="rect">
            <a:avLst/>
          </a:prstGeom>
          <a:noFill/>
          <a:ln/>
        </p:spPr>
        <p:txBody>
          <a:bodyPr wrap="square" rtlCol="0" anchor="ctr"/>
          <a:lstStyle/>
          <a:p>
            <a:pPr indent="0" marL="0">
              <a:buNone/>
            </a:pPr>
            <a:r>
              <a:rPr lang="en-US" sz="1000" dirty="0">
                <a:solidFill>
                  <a:srgbClr val="1A1A1A"/>
                </a:solidFill>
              </a:rPr>
              <a:t>Error analysis</a:t>
            </a:r>
            <a:endParaRPr lang="en-US" sz="1000" dirty="0"/>
          </a:p>
        </p:txBody>
      </p:sp>
      <p:sp>
        <p:nvSpPr>
          <p:cNvPr id="21" name="Text 19"/>
          <p:cNvSpPr/>
          <p:nvPr/>
        </p:nvSpPr>
        <p:spPr>
          <a:xfrm>
            <a:off x="5943600" y="2697480"/>
            <a:ext cx="2103120" cy="228600"/>
          </a:xfrm>
          <a:prstGeom prst="rect">
            <a:avLst/>
          </a:prstGeom>
          <a:noFill/>
          <a:ln/>
        </p:spPr>
        <p:txBody>
          <a:bodyPr wrap="square" rtlCol="0" anchor="ctr"/>
          <a:lstStyle/>
          <a:p>
            <a:pPr algn="r" indent="0" marL="0">
              <a:buNone/>
            </a:pPr>
            <a:r>
              <a:rPr lang="en-US" sz="1000" dirty="0">
                <a:solidFill>
                  <a:srgbClr val="1A1A1A"/>
                </a:solidFill>
              </a:rPr>
              <a:t>10 min</a:t>
            </a:r>
            <a:endParaRPr lang="en-US" sz="1000" dirty="0"/>
          </a:p>
        </p:txBody>
      </p:sp>
      <p:sp>
        <p:nvSpPr>
          <p:cNvPr id="22" name="Shape 20"/>
          <p:cNvSpPr/>
          <p:nvPr/>
        </p:nvSpPr>
        <p:spPr>
          <a:xfrm>
            <a:off x="914400" y="2971800"/>
            <a:ext cx="7315200" cy="320040"/>
          </a:xfrm>
          <a:prstGeom prst="rect">
            <a:avLst/>
          </a:prstGeom>
          <a:solidFill>
            <a:srgbClr val="FFFFFF"/>
          </a:solidFill>
          <a:ln/>
        </p:spPr>
      </p:sp>
      <p:sp>
        <p:nvSpPr>
          <p:cNvPr id="23" name="Text 21"/>
          <p:cNvSpPr/>
          <p:nvPr/>
        </p:nvSpPr>
        <p:spPr>
          <a:xfrm>
            <a:off x="1097280" y="3017520"/>
            <a:ext cx="4572000" cy="228600"/>
          </a:xfrm>
          <a:prstGeom prst="rect">
            <a:avLst/>
          </a:prstGeom>
          <a:noFill/>
          <a:ln/>
        </p:spPr>
        <p:txBody>
          <a:bodyPr wrap="square" rtlCol="0" anchor="ctr"/>
          <a:lstStyle/>
          <a:p>
            <a:pPr indent="0" marL="0">
              <a:buNone/>
            </a:pPr>
            <a:r>
              <a:rPr lang="en-US" sz="1000" dirty="0">
                <a:solidFill>
                  <a:srgbClr val="1A1A1A"/>
                </a:solidFill>
              </a:rPr>
              <a:t>Repeat scenarios B,C,D</a:t>
            </a:r>
            <a:endParaRPr lang="en-US" sz="1000" dirty="0"/>
          </a:p>
        </p:txBody>
      </p:sp>
      <p:sp>
        <p:nvSpPr>
          <p:cNvPr id="24" name="Text 22"/>
          <p:cNvSpPr/>
          <p:nvPr/>
        </p:nvSpPr>
        <p:spPr>
          <a:xfrm>
            <a:off x="5943600" y="3017520"/>
            <a:ext cx="2103120" cy="228600"/>
          </a:xfrm>
          <a:prstGeom prst="rect">
            <a:avLst/>
          </a:prstGeom>
          <a:noFill/>
          <a:ln/>
        </p:spPr>
        <p:txBody>
          <a:bodyPr wrap="square" rtlCol="0" anchor="ctr"/>
          <a:lstStyle/>
          <a:p>
            <a:pPr algn="r" indent="0" marL="0">
              <a:buNone/>
            </a:pPr>
            <a:r>
              <a:rPr lang="en-US" sz="1000" dirty="0">
                <a:solidFill>
                  <a:srgbClr val="1A1A1A"/>
                </a:solidFill>
              </a:rPr>
              <a:t>60 min (optional)</a:t>
            </a:r>
            <a:endParaRPr lang="en-US" sz="1000" dirty="0"/>
          </a:p>
        </p:txBody>
      </p:sp>
      <p:sp>
        <p:nvSpPr>
          <p:cNvPr id="25" name="Shape 23"/>
          <p:cNvSpPr/>
          <p:nvPr/>
        </p:nvSpPr>
        <p:spPr>
          <a:xfrm>
            <a:off x="914400" y="3291840"/>
            <a:ext cx="7315200" cy="365760"/>
          </a:xfrm>
          <a:prstGeom prst="rect">
            <a:avLst/>
          </a:prstGeom>
          <a:solidFill>
            <a:srgbClr val="F2A516"/>
          </a:solidFill>
          <a:ln/>
        </p:spPr>
      </p:sp>
      <p:sp>
        <p:nvSpPr>
          <p:cNvPr id="26" name="Text 24"/>
          <p:cNvSpPr/>
          <p:nvPr/>
        </p:nvSpPr>
        <p:spPr>
          <a:xfrm>
            <a:off x="1097280" y="3337560"/>
            <a:ext cx="4572000" cy="274320"/>
          </a:xfrm>
          <a:prstGeom prst="rect">
            <a:avLst/>
          </a:prstGeom>
          <a:noFill/>
          <a:ln/>
        </p:spPr>
        <p:txBody>
          <a:bodyPr wrap="square" rtlCol="0" anchor="ctr"/>
          <a:lstStyle/>
          <a:p>
            <a:pPr indent="0" marL="0">
              <a:buNone/>
            </a:pPr>
            <a:r>
              <a:rPr lang="en-US" sz="1100" b="1" dirty="0">
                <a:solidFill>
                  <a:srgbClr val="FFFFFF"/>
                </a:solidFill>
              </a:rPr>
              <a:t>TOTAL</a:t>
            </a:r>
            <a:endParaRPr lang="en-US" sz="1100" dirty="0"/>
          </a:p>
        </p:txBody>
      </p:sp>
      <p:sp>
        <p:nvSpPr>
          <p:cNvPr id="27" name="Text 25"/>
          <p:cNvSpPr/>
          <p:nvPr/>
        </p:nvSpPr>
        <p:spPr>
          <a:xfrm>
            <a:off x="5943600" y="3337560"/>
            <a:ext cx="2103120" cy="274320"/>
          </a:xfrm>
          <a:prstGeom prst="rect">
            <a:avLst/>
          </a:prstGeom>
          <a:noFill/>
          <a:ln/>
        </p:spPr>
        <p:txBody>
          <a:bodyPr wrap="square" rtlCol="0" anchor="ctr"/>
          <a:lstStyle/>
          <a:p>
            <a:pPr algn="r" indent="0" marL="0">
              <a:buNone/>
            </a:pPr>
            <a:r>
              <a:rPr lang="en-US" sz="1100" b="1" dirty="0">
                <a:solidFill>
                  <a:srgbClr val="FFFFFF"/>
                </a:solidFill>
              </a:rPr>
              <a:t>~2 hours (Scenarios A only)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A43"/>
          </a:solidFill>
          <a:ln/>
        </p:spPr>
      </p:sp>
      <p:sp>
        <p:nvSpPr>
          <p:cNvPr id="3" name="Text 1"/>
          <p:cNvSpPr/>
          <p:nvPr/>
        </p:nvSpPr>
        <p:spPr>
          <a:xfrm>
            <a:off x="457200" y="91440"/>
            <a:ext cx="8229600" cy="457200"/>
          </a:xfrm>
          <a:prstGeom prst="rect">
            <a:avLst/>
          </a:prstGeom>
          <a:noFill/>
          <a:ln/>
        </p:spPr>
        <p:txBody>
          <a:bodyPr wrap="square" rtlCol="0" anchor="ctr"/>
          <a:lstStyle/>
          <a:p>
            <a:pPr indent="0" marL="0">
              <a:buNone/>
            </a:pPr>
            <a:r>
              <a:rPr lang="en-US" sz="3200" b="1" dirty="0">
                <a:solidFill>
                  <a:srgbClr val="FFFFFF"/>
                </a:solidFill>
              </a:rPr>
              <a:t>Validation Metrics &amp; Expected Accuracy</a:t>
            </a:r>
            <a:endParaRPr lang="en-US" sz="3200" dirty="0"/>
          </a:p>
        </p:txBody>
      </p:sp>
      <p:sp>
        <p:nvSpPr>
          <p:cNvPr id="4" name="Text 2"/>
          <p:cNvSpPr/>
          <p:nvPr/>
        </p:nvSpPr>
        <p:spPr>
          <a:xfrm>
            <a:off x="457200" y="1005840"/>
            <a:ext cx="8229600" cy="274320"/>
          </a:xfrm>
          <a:prstGeom prst="rect">
            <a:avLst/>
          </a:prstGeom>
          <a:noFill/>
          <a:ln/>
        </p:spPr>
        <p:txBody>
          <a:bodyPr wrap="square" rtlCol="0" anchor="ctr"/>
          <a:lstStyle/>
          <a:p>
            <a:pPr indent="0" marL="0">
              <a:buNone/>
            </a:pPr>
            <a:r>
              <a:rPr lang="en-US" sz="1300" b="1" dirty="0">
                <a:solidFill>
                  <a:srgbClr val="0F2A43"/>
                </a:solidFill>
              </a:rPr>
              <a:t>mm-Level Accuracy Target:</a:t>
            </a:r>
            <a:endParaRPr lang="en-US" sz="1300" dirty="0"/>
          </a:p>
        </p:txBody>
      </p:sp>
      <p:sp>
        <p:nvSpPr>
          <p:cNvPr id="5" name="Text 3"/>
          <p:cNvSpPr/>
          <p:nvPr/>
        </p:nvSpPr>
        <p:spPr>
          <a:xfrm>
            <a:off x="640080" y="1463040"/>
            <a:ext cx="7772400" cy="320040"/>
          </a:xfrm>
          <a:prstGeom prst="rect">
            <a:avLst/>
          </a:prstGeom>
          <a:noFill/>
          <a:ln/>
        </p:spPr>
        <p:txBody>
          <a:bodyPr wrap="square" rtlCol="0" anchor="t"/>
          <a:lstStyle/>
          <a:p>
            <a:pPr algn="l" indent="0" marL="0">
              <a:buNone/>
            </a:pPr>
            <a:r>
              <a:rPr lang="en-US" sz="1300" dirty="0">
                <a:solidFill>
                  <a:srgbClr val="1A1A1A"/>
                </a:solidFill>
              </a:rPr>
              <a:t>• Crown settlement: |measured - prescribed| &lt; 1.0 mm</a:t>
            </a:r>
            <a:endParaRPr lang="en-US" sz="1300" dirty="0"/>
          </a:p>
        </p:txBody>
      </p:sp>
      <p:sp>
        <p:nvSpPr>
          <p:cNvPr id="6" name="Text 4"/>
          <p:cNvSpPr/>
          <p:nvPr/>
        </p:nvSpPr>
        <p:spPr>
          <a:xfrm>
            <a:off x="640080" y="1874520"/>
            <a:ext cx="7772400" cy="320040"/>
          </a:xfrm>
          <a:prstGeom prst="rect">
            <a:avLst/>
          </a:prstGeom>
          <a:noFill/>
          <a:ln/>
        </p:spPr>
        <p:txBody>
          <a:bodyPr wrap="square" rtlCol="0" anchor="t"/>
          <a:lstStyle/>
          <a:p>
            <a:pPr algn="l" indent="0" marL="0">
              <a:buNone/>
            </a:pPr>
            <a:r>
              <a:rPr lang="en-US" sz="1300" dirty="0">
                <a:solidFill>
                  <a:srgbClr val="1A1A1A"/>
                </a:solidFill>
              </a:rPr>
              <a:t>• Sidewall convergence: |measured - prescribed| &lt; 1.0 mm</a:t>
            </a:r>
            <a:endParaRPr lang="en-US" sz="1300" dirty="0"/>
          </a:p>
        </p:txBody>
      </p:sp>
      <p:sp>
        <p:nvSpPr>
          <p:cNvPr id="7" name="Text 5"/>
          <p:cNvSpPr/>
          <p:nvPr/>
        </p:nvSpPr>
        <p:spPr>
          <a:xfrm>
            <a:off x="640080" y="2286000"/>
            <a:ext cx="7772400" cy="320040"/>
          </a:xfrm>
          <a:prstGeom prst="rect">
            <a:avLst/>
          </a:prstGeom>
          <a:noFill/>
          <a:ln/>
        </p:spPr>
        <p:txBody>
          <a:bodyPr wrap="square" rtlCol="0" anchor="t"/>
          <a:lstStyle/>
          <a:p>
            <a:pPr algn="l" indent="0" marL="0">
              <a:buNone/>
            </a:pPr>
            <a:r>
              <a:rPr lang="en-US" sz="1300" dirty="0">
                <a:solidFill>
                  <a:srgbClr val="1A1A1A"/>
                </a:solidFill>
              </a:rPr>
              <a:t>• Local damage: |measured - prescribed| &lt; 2.0 mm</a:t>
            </a:r>
            <a:endParaRPr lang="en-US" sz="1300" dirty="0"/>
          </a:p>
        </p:txBody>
      </p:sp>
      <p:sp>
        <p:nvSpPr>
          <p:cNvPr id="8" name="Text 6"/>
          <p:cNvSpPr/>
          <p:nvPr/>
        </p:nvSpPr>
        <p:spPr>
          <a:xfrm>
            <a:off x="640080" y="2697480"/>
            <a:ext cx="7772400" cy="320040"/>
          </a:xfrm>
          <a:prstGeom prst="rect">
            <a:avLst/>
          </a:prstGeom>
          <a:noFill/>
          <a:ln/>
        </p:spPr>
        <p:txBody>
          <a:bodyPr wrap="square" rtlCol="0" anchor="t"/>
          <a:lstStyle/>
          <a:p>
            <a:pPr algn="l" indent="0" marL="0">
              <a:buNone/>
            </a:pPr>
            <a:r>
              <a:rPr lang="en-US" sz="1300" dirty="0">
                <a:solidFill>
                  <a:srgbClr val="1A1A1A"/>
                </a:solidFill>
              </a:rPr>
              <a:t>• Mean Absolute Error (MAE): &lt; 0.6 mm (baseline from SSL T0→T5)</a:t>
            </a:r>
            <a:endParaRPr lang="en-US" sz="1300" dirty="0"/>
          </a:p>
        </p:txBody>
      </p:sp>
      <p:sp>
        <p:nvSpPr>
          <p:cNvPr id="9" name="Text 7"/>
          <p:cNvSpPr/>
          <p:nvPr/>
        </p:nvSpPr>
        <p:spPr>
          <a:xfrm>
            <a:off x="640080" y="3108960"/>
            <a:ext cx="7772400" cy="320040"/>
          </a:xfrm>
          <a:prstGeom prst="rect">
            <a:avLst/>
          </a:prstGeom>
          <a:noFill/>
          <a:ln/>
        </p:spPr>
        <p:txBody>
          <a:bodyPr wrap="square" rtlCol="0" anchor="t"/>
          <a:lstStyle/>
          <a:p>
            <a:pPr algn="l" indent="0" marL="0">
              <a:buNone/>
            </a:pPr>
            <a:r>
              <a:rPr lang="en-US" sz="1300" dirty="0">
                <a:solidFill>
                  <a:srgbClr val="1A1A1A"/>
                </a:solidFill>
              </a:rPr>
              <a:t>• Max error across all metrics: &lt; 2.5 mm</a:t>
            </a:r>
            <a:endParaRPr lang="en-US" sz="1300" dirty="0"/>
          </a:p>
        </p:txBody>
      </p:sp>
      <p:sp>
        <p:nvSpPr>
          <p:cNvPr id="10" name="Shape 8"/>
          <p:cNvSpPr/>
          <p:nvPr/>
        </p:nvSpPr>
        <p:spPr>
          <a:xfrm>
            <a:off x="457200" y="3840480"/>
            <a:ext cx="8229600" cy="914400"/>
          </a:xfrm>
          <a:prstGeom prst="rect">
            <a:avLst/>
          </a:prstGeom>
          <a:solidFill>
            <a:srgbClr val="27AE60"/>
          </a:solidFill>
          <a:ln/>
        </p:spPr>
      </p:sp>
      <p:sp>
        <p:nvSpPr>
          <p:cNvPr id="11" name="Text 9"/>
          <p:cNvSpPr/>
          <p:nvPr/>
        </p:nvSpPr>
        <p:spPr>
          <a:xfrm>
            <a:off x="640080" y="3931920"/>
            <a:ext cx="7863840" cy="320040"/>
          </a:xfrm>
          <a:prstGeom prst="rect">
            <a:avLst/>
          </a:prstGeom>
          <a:noFill/>
          <a:ln/>
        </p:spPr>
        <p:txBody>
          <a:bodyPr wrap="square" rtlCol="0" anchor="ctr"/>
          <a:lstStyle/>
          <a:p>
            <a:pPr indent="0" marL="0">
              <a:buNone/>
            </a:pPr>
            <a:r>
              <a:rPr lang="en-US" sz="1200" b="1" dirty="0">
                <a:solidFill>
                  <a:srgbClr val="FFFFFF"/>
                </a:solidFill>
              </a:rPr>
              <a:t>✓ SUCCESS: If protocol achieves &lt; ±1mm error</a:t>
            </a:r>
            <a:endParaRPr lang="en-US" sz="1200" dirty="0"/>
          </a:p>
        </p:txBody>
      </p:sp>
      <p:sp>
        <p:nvSpPr>
          <p:cNvPr id="12" name="Text 10"/>
          <p:cNvSpPr/>
          <p:nvPr/>
        </p:nvSpPr>
        <p:spPr>
          <a:xfrm>
            <a:off x="640080" y="4279392"/>
            <a:ext cx="7863840" cy="320040"/>
          </a:xfrm>
          <a:prstGeom prst="rect">
            <a:avLst/>
          </a:prstGeom>
          <a:noFill/>
          <a:ln/>
        </p:spPr>
        <p:txBody>
          <a:bodyPr wrap="square" rtlCol="0" anchor="ctr"/>
          <a:lstStyle/>
          <a:p>
            <a:pPr indent="0" marL="0">
              <a:buNone/>
            </a:pPr>
            <a:r>
              <a:rPr lang="en-US" sz="1100" dirty="0">
                <a:solidFill>
                  <a:srgbClr val="FFFFFF"/>
                </a:solidFill>
              </a:rPr>
              <a:t>Tool is validated for mm-level deformation measurement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F2A43"/>
          </a:solidFill>
          <a:ln/>
        </p:spPr>
      </p:sp>
      <p:sp>
        <p:nvSpPr>
          <p:cNvPr id="3" name="Text 1"/>
          <p:cNvSpPr/>
          <p:nvPr/>
        </p:nvSpPr>
        <p:spPr>
          <a:xfrm>
            <a:off x="457200" y="91440"/>
            <a:ext cx="8229600" cy="457200"/>
          </a:xfrm>
          <a:prstGeom prst="rect">
            <a:avLst/>
          </a:prstGeom>
          <a:noFill/>
          <a:ln/>
        </p:spPr>
        <p:txBody>
          <a:bodyPr wrap="square" rtlCol="0" anchor="ctr"/>
          <a:lstStyle/>
          <a:p>
            <a:pPr indent="0" marL="0">
              <a:buNone/>
            </a:pPr>
            <a:r>
              <a:rPr lang="en-US" sz="3200" b="1" dirty="0">
                <a:solidFill>
                  <a:srgbClr val="FFFFFF"/>
                </a:solidFill>
              </a:rPr>
              <a:t>Summary: What We Build</a:t>
            </a:r>
            <a:endParaRPr lang="en-US" sz="3200" dirty="0"/>
          </a:p>
        </p:txBody>
      </p:sp>
      <p:sp>
        <p:nvSpPr>
          <p:cNvPr id="4" name="Text 2"/>
          <p:cNvSpPr/>
          <p:nvPr/>
        </p:nvSpPr>
        <p:spPr>
          <a:xfrm>
            <a:off x="457200" y="914400"/>
            <a:ext cx="8229600" cy="274320"/>
          </a:xfrm>
          <a:prstGeom prst="rect">
            <a:avLst/>
          </a:prstGeom>
          <a:noFill/>
          <a:ln/>
        </p:spPr>
        <p:txBody>
          <a:bodyPr wrap="square" rtlCol="0" anchor="ctr"/>
          <a:lstStyle/>
          <a:p>
            <a:pPr indent="0" marL="0">
              <a:buNone/>
            </a:pPr>
            <a:r>
              <a:rPr lang="en-US" sz="1300" b="1" dirty="0">
                <a:solidFill>
                  <a:srgbClr val="0F2A43"/>
                </a:solidFill>
              </a:rPr>
              <a:t>Deliverables:</a:t>
            </a:r>
            <a:endParaRPr lang="en-US" sz="1300" dirty="0"/>
          </a:p>
        </p:txBody>
      </p:sp>
      <p:sp>
        <p:nvSpPr>
          <p:cNvPr id="5" name="Text 3"/>
          <p:cNvSpPr/>
          <p:nvPr/>
        </p:nvSpPr>
        <p:spPr>
          <a:xfrm>
            <a:off x="640080" y="1371600"/>
            <a:ext cx="7772400" cy="320040"/>
          </a:xfrm>
          <a:prstGeom prst="rect">
            <a:avLst/>
          </a:prstGeom>
          <a:noFill/>
          <a:ln/>
        </p:spPr>
        <p:txBody>
          <a:bodyPr wrap="square" rtlCol="0" anchor="t"/>
          <a:lstStyle/>
          <a:p>
            <a:pPr algn="l" indent="0" marL="0">
              <a:buNone/>
            </a:pPr>
            <a:r>
              <a:rPr lang="en-US" sz="1300" dirty="0">
                <a:solidFill>
                  <a:srgbClr val="1A1A1A"/>
                </a:solidFill>
              </a:rPr>
              <a:t>• T0.las: Clean reference point cloud (364 points, no deformation)</a:t>
            </a:r>
            <a:endParaRPr lang="en-US" sz="1300" dirty="0"/>
          </a:p>
        </p:txBody>
      </p:sp>
      <p:sp>
        <p:nvSpPr>
          <p:cNvPr id="6" name="Text 4"/>
          <p:cNvSpPr/>
          <p:nvPr/>
        </p:nvSpPr>
        <p:spPr>
          <a:xfrm>
            <a:off x="640080" y="1783080"/>
            <a:ext cx="7772400" cy="320040"/>
          </a:xfrm>
          <a:prstGeom prst="rect">
            <a:avLst/>
          </a:prstGeom>
          <a:noFill/>
          <a:ln/>
        </p:spPr>
        <p:txBody>
          <a:bodyPr wrap="square" rtlCol="0" anchor="t"/>
          <a:lstStyle/>
          <a:p>
            <a:pPr algn="l" indent="0" marL="0">
              <a:buNone/>
            </a:pPr>
            <a:r>
              <a:rPr lang="en-US" sz="1300" dirty="0">
                <a:solidFill>
                  <a:srgbClr val="1A1A1A"/>
                </a:solidFill>
              </a:rPr>
              <a:t>• Tn.las: Deformed monitoring scan (known -7mm crown, -5mm convergence)</a:t>
            </a:r>
            <a:endParaRPr lang="en-US" sz="1300" dirty="0"/>
          </a:p>
        </p:txBody>
      </p:sp>
      <p:sp>
        <p:nvSpPr>
          <p:cNvPr id="7" name="Text 5"/>
          <p:cNvSpPr/>
          <p:nvPr/>
        </p:nvSpPr>
        <p:spPr>
          <a:xfrm>
            <a:off x="640080" y="2194560"/>
            <a:ext cx="7772400" cy="320040"/>
          </a:xfrm>
          <a:prstGeom prst="rect">
            <a:avLst/>
          </a:prstGeom>
          <a:noFill/>
          <a:ln/>
        </p:spPr>
        <p:txBody>
          <a:bodyPr wrap="square" rtlCol="0" anchor="t"/>
          <a:lstStyle/>
          <a:p>
            <a:pPr algn="l" indent="0" marL="0">
              <a:buNone/>
            </a:pPr>
            <a:r>
              <a:rPr lang="en-US" sz="1300" dirty="0">
                <a:solidFill>
                  <a:srgbClr val="1A1A1A"/>
                </a:solidFill>
              </a:rPr>
              <a:t>• ground_truth.csv: Prescribed deformation values</a:t>
            </a:r>
            <a:endParaRPr lang="en-US" sz="1300" dirty="0"/>
          </a:p>
        </p:txBody>
      </p:sp>
      <p:sp>
        <p:nvSpPr>
          <p:cNvPr id="8" name="Text 6"/>
          <p:cNvSpPr/>
          <p:nvPr/>
        </p:nvSpPr>
        <p:spPr>
          <a:xfrm>
            <a:off x="640080" y="2606040"/>
            <a:ext cx="7772400" cy="320040"/>
          </a:xfrm>
          <a:prstGeom prst="rect">
            <a:avLst/>
          </a:prstGeom>
          <a:noFill/>
          <a:ln/>
        </p:spPr>
        <p:txBody>
          <a:bodyPr wrap="square" rtlCol="0" anchor="t"/>
          <a:lstStyle/>
          <a:p>
            <a:pPr algn="l" indent="0" marL="0">
              <a:buNone/>
            </a:pPr>
            <a:r>
              <a:rPr lang="en-US" sz="1300" dirty="0">
                <a:solidFill>
                  <a:srgbClr val="1A1A1A"/>
                </a:solidFill>
              </a:rPr>
              <a:t>• validation_results.csv: Tool measurements vs ground truth</a:t>
            </a:r>
            <a:endParaRPr lang="en-US" sz="1300" dirty="0"/>
          </a:p>
        </p:txBody>
      </p:sp>
      <p:sp>
        <p:nvSpPr>
          <p:cNvPr id="9" name="Text 7"/>
          <p:cNvSpPr/>
          <p:nvPr/>
        </p:nvSpPr>
        <p:spPr>
          <a:xfrm>
            <a:off x="640080" y="3017520"/>
            <a:ext cx="7772400" cy="320040"/>
          </a:xfrm>
          <a:prstGeom prst="rect">
            <a:avLst/>
          </a:prstGeom>
          <a:noFill/>
          <a:ln/>
        </p:spPr>
        <p:txBody>
          <a:bodyPr wrap="square" rtlCol="0" anchor="t"/>
          <a:lstStyle/>
          <a:p>
            <a:pPr algn="l" indent="0" marL="0">
              <a:buNone/>
            </a:pPr>
            <a:r>
              <a:rPr lang="en-US" sz="1300" dirty="0">
                <a:solidFill>
                  <a:srgbClr val="1A1A1A"/>
                </a:solidFill>
              </a:rPr>
              <a:t>• Validation report: Error analysis and confidence metrics</a:t>
            </a:r>
            <a:endParaRPr lang="en-US" sz="1300" dirty="0"/>
          </a:p>
        </p:txBody>
      </p:sp>
      <p:sp>
        <p:nvSpPr>
          <p:cNvPr id="10" name="Text 8"/>
          <p:cNvSpPr/>
          <p:nvPr/>
        </p:nvSpPr>
        <p:spPr>
          <a:xfrm>
            <a:off x="457200" y="3657600"/>
            <a:ext cx="8229600" cy="365760"/>
          </a:xfrm>
          <a:prstGeom prst="rect">
            <a:avLst/>
          </a:prstGeom>
          <a:noFill/>
          <a:ln/>
        </p:spPr>
        <p:txBody>
          <a:bodyPr wrap="square" rtlCol="0" anchor="ctr"/>
          <a:lstStyle/>
          <a:p>
            <a:pPr indent="0" marL="0">
              <a:buNone/>
            </a:pPr>
            <a:r>
              <a:rPr lang="en-US" sz="1200" b="1" dirty="0">
                <a:solidFill>
                  <a:srgbClr val="27AE60"/>
                </a:solidFill>
              </a:rPr>
              <a:t>Outcome: mm-level accuracy validation of tunnel_analysis tool</a:t>
            </a:r>
            <a:endParaRPr lang="en-US" sz="1200" dirty="0"/>
          </a:p>
        </p:txBody>
      </p:sp>
      <p:sp>
        <p:nvSpPr>
          <p:cNvPr id="11" name="Text 9"/>
          <p:cNvSpPr/>
          <p:nvPr/>
        </p:nvSpPr>
        <p:spPr>
          <a:xfrm>
            <a:off x="457200" y="4206240"/>
            <a:ext cx="8229600" cy="274320"/>
          </a:xfrm>
          <a:prstGeom prst="rect">
            <a:avLst/>
          </a:prstGeom>
          <a:noFill/>
          <a:ln/>
        </p:spPr>
        <p:txBody>
          <a:bodyPr wrap="square" rtlCol="0" anchor="ctr"/>
          <a:lstStyle/>
          <a:p>
            <a:pPr indent="0" marL="0">
              <a:buNone/>
            </a:pPr>
            <a:r>
              <a:rPr lang="en-US" sz="1100" i="1" dirty="0">
                <a:solidFill>
                  <a:srgbClr val="1A1A1A"/>
                </a:solidFill>
              </a:rPr>
              <a:t>Based on TLSynth paper methodology + 2 hours of work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2026-06-23T09:32:44Z</dcterms:created>
  <dcterms:modified xsi:type="dcterms:W3CDTF">2026-06-23T09:32:44Z</dcterms:modified>
</cp:coreProperties>
</file>