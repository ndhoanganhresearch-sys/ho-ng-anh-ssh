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Công cụ đo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A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Lún đỉnh</c:v>
                  </c:pt>
                  <c:pt idx="1">
                    <c:v>Hội tụ vách</c:v>
                  </c:pt>
                  <c:pt idx="2">
                    <c:v>Hư hỏng cục bộ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</c:v>
                </c:pt>
                <c:pt idx="1">
                  <c:v>13</c:v>
                </c:pt>
                <c:pt idx="2">
                  <c:v>13.59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Biết trước</c:v>
                </c:pt>
              </c:strCache>
            </c:strRef>
          </c:tx>
          <c:spPr>
            <a:solidFill>
              <a:srgbClr val="F2A51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A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Lún đỉnh</c:v>
                  </c:pt>
                  <c:pt idx="1">
                    <c:v>Hội tụ vách</c:v>
                  </c:pt>
                  <c:pt idx="2">
                    <c:v>Hư hỏng cục bộ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15</c:v>
                </c:pt>
                <c:pt idx="1">
                  <c:v>13</c:v>
                </c:pt>
                <c:pt idx="2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A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7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C6B75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48656" y="1280160"/>
            <a:ext cx="3566160" cy="206654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A2036">
                <a:alpha val="18000"/>
              </a:srgbClr>
            </a:outerShdw>
          </a:effectLst>
        </p:spPr>
      </p:sp>
      <p:pic>
        <p:nvPicPr>
          <p:cNvPr id="3" name="Image 0" descr="C:\Users\ssl\Desktop\Code Python\data python cusor\tunnel_project\docs\img\tunnel_interi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1808" y="1353312"/>
            <a:ext cx="3419856" cy="1920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48656" y="34015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DB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hầm tròn Ø8.5 m dựng trong Blender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48640" y="8412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A5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PHƯƠNG PHÁP KIỂM CHỨNG  •  VALIDATION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1371600"/>
            <a:ext cx="4572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Mô phỏng LiDAR bằng Raycasting</a:t>
            </a:r>
            <a:endParaRPr lang="en-US" sz="3500" dirty="0"/>
          </a:p>
        </p:txBody>
      </p:sp>
      <p:sp>
        <p:nvSpPr>
          <p:cNvPr id="7" name="Text 4"/>
          <p:cNvSpPr/>
          <p:nvPr/>
        </p:nvSpPr>
        <p:spPr>
          <a:xfrm>
            <a:off x="566928" y="315468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F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Chứng minh độ chính xác đo biến dạng hầm — tới từng milimet.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66928" y="422452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2A5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Biến dạng biết trước → quét laser ảo → đo lại → đối chiếu.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VẤN ĐỀ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Dữ liệu quét thật không có “đáp án”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600200"/>
            <a:ext cx="49377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1E2A33"/>
                </a:solidFill>
              </a:rPr>
              <a:t>Khách hàng cần tin con số biến dạng mm là đúng. Nhưng: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5C6B75"/>
                </a:solidFill>
              </a:rPr>
              <a:t>Một đường hầm quét ngoài hiện trường không kèm theo giá trị biến dạng thật để chấm điểm.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5C6B75"/>
                </a:solidFill>
              </a:rPr>
              <a:t>Muốn kiểm chứng tool đo đúng 45 mm, phải có hầm thật đã lún đúng 45 mm — không thể / quá tốn kém.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C6B75"/>
                </a:solidFill>
              </a:rPr>
              <a:t>Không có “sự thật nền” (ground truth) ⇒ không thể đo độ chính xác.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806440" y="1600200"/>
            <a:ext cx="2834640" cy="2743200"/>
          </a:xfrm>
          <a:prstGeom prst="rect">
            <a:avLst/>
          </a:prstGeom>
          <a:solidFill>
            <a:srgbClr val="0F2A43"/>
          </a:solidFill>
          <a:ln/>
          <a:effectLst>
            <a:outerShdw sx="100000" sy="100000" kx="0" ky="0" algn="bl" rotWithShape="0" blurRad="88900" dist="38100" dir="8100000">
              <a:srgbClr val="0A2036">
                <a:alpha val="18000"/>
              </a:srgbClr>
            </a:outerShdw>
          </a:effectLst>
        </p:spPr>
      </p:sp>
      <p:pic>
        <p:nvPicPr>
          <p:cNvPr id="6" name="Image 0" descr="C:\Users\ssl\Desktop\Code Python\data python cusor\tunnel_project\docs\img\tunnel_trac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06440" y="1600200"/>
            <a:ext cx="2834640" cy="2743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06440" y="1600200"/>
            <a:ext cx="2834640" cy="2743200"/>
          </a:xfrm>
          <a:prstGeom prst="rect">
            <a:avLst/>
          </a:prstGeom>
          <a:solidFill>
            <a:srgbClr val="0F2A43">
              <a:alpha val="7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5806440" y="173736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2A5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7200" dirty="0"/>
          </a:p>
        </p:txBody>
      </p:sp>
      <p:sp>
        <p:nvSpPr>
          <p:cNvPr id="9" name="Text 6"/>
          <p:cNvSpPr/>
          <p:nvPr/>
        </p:nvSpPr>
        <p:spPr>
          <a:xfrm>
            <a:off x="5943600" y="30632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quét trông “đẹp” — nhưng biến dạng thật = ? mm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PHÁP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Máy quét laser ảo (raycasting)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47548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450" dirty="0">
                <a:solidFill>
                  <a:srgbClr val="1E2A33"/>
                </a:solidFill>
              </a:rPr>
              <a:t>Trong Blender, từ vị trí “máy quét ảo”, phần mềm bắn hàng trăm nghìn tia laser ảo. Mỗi tia chạm bề mặt hầm và trả về một điểm — y hệt máy quét laser (TLS) thật ngoài hiện trường.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3063240"/>
            <a:ext cx="4754880" cy="1417320"/>
          </a:xfrm>
          <a:prstGeom prst="rect">
            <a:avLst/>
          </a:prstGeom>
          <a:solidFill>
            <a:srgbClr val="F2F5F7"/>
          </a:solidFill>
          <a:ln/>
          <a:effectLst>
            <a:outerShdw sx="100000" sy="100000" kx="0" ky="0" algn="bl" rotWithShape="0" blurRad="88900" dist="38100" dir="8100000">
              <a:srgbClr val="0A2036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3063240"/>
            <a:ext cx="82296" cy="1417320"/>
          </a:xfrm>
          <a:prstGeom prst="rect">
            <a:avLst/>
          </a:prstGeom>
          <a:solidFill>
            <a:srgbClr val="F2A516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3200400"/>
            <a:ext cx="4434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E2A33"/>
                </a:solidFill>
              </a:rPr>
              <a:t>Ví von:  crash-test bằng hình nộm có cảm biến</a:t>
            </a:r>
            <a:endParaRPr lang="en-US" sz="1350" dirty="0"/>
          </a:p>
          <a:p>
            <a:pPr indent="0" marL="0">
              <a:buNone/>
            </a:pPr>
            <a:r>
              <a:rPr lang="en-US" sz="1250" dirty="0">
                <a:solidFill>
                  <a:srgbClr val="5C6B75"/>
                </a:solidFill>
              </a:rPr>
              <a:t>Ta biết chính xác lực tác động lên hình nộm, nên kiểm chứng được cảm biến đo đúng. Hầm ảo của chúng tôi chính là “hình nộm” đó.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40680" y="3200400"/>
            <a:ext cx="182880" cy="182880"/>
          </a:xfrm>
          <a:prstGeom prst="ellipse">
            <a:avLst/>
          </a:prstGeom>
          <a:solidFill>
            <a:srgbClr val="F2A516"/>
          </a:solidFill>
          <a:ln/>
        </p:spPr>
      </p:sp>
      <p:sp>
        <p:nvSpPr>
          <p:cNvPr id="9" name="Shape 7"/>
          <p:cNvSpPr/>
          <p:nvPr/>
        </p:nvSpPr>
        <p:spPr>
          <a:xfrm>
            <a:off x="5532120" y="3291840"/>
            <a:ext cx="2606040" cy="-1920240"/>
          </a:xfrm>
          <a:prstGeom prst="line">
            <a:avLst/>
          </a:prstGeom>
          <a:noFill/>
          <a:ln w="12700">
            <a:solidFill>
              <a:srgbClr val="1AA0AB">
                <a:alpha val="5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32120" y="3291840"/>
            <a:ext cx="2880360" cy="-1371600"/>
          </a:xfrm>
          <a:prstGeom prst="line">
            <a:avLst/>
          </a:prstGeom>
          <a:noFill/>
          <a:ln w="12700">
            <a:solidFill>
              <a:srgbClr val="1AA0AB">
                <a:alpha val="5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532120" y="3291840"/>
            <a:ext cx="3017520" cy="-731520"/>
          </a:xfrm>
          <a:prstGeom prst="line">
            <a:avLst/>
          </a:prstGeom>
          <a:noFill/>
          <a:ln w="12700">
            <a:solidFill>
              <a:srgbClr val="1AA0AB">
                <a:alpha val="5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32120" y="3291840"/>
            <a:ext cx="3017520" cy="-91440"/>
          </a:xfrm>
          <a:prstGeom prst="line">
            <a:avLst/>
          </a:prstGeom>
          <a:noFill/>
          <a:ln w="12700">
            <a:solidFill>
              <a:srgbClr val="1AA0AB">
                <a:alpha val="5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32120" y="3291840"/>
            <a:ext cx="2880360" cy="548640"/>
          </a:xfrm>
          <a:prstGeom prst="line">
            <a:avLst/>
          </a:prstGeom>
          <a:noFill/>
          <a:ln w="12700">
            <a:solidFill>
              <a:srgbClr val="1AA0AB">
                <a:alpha val="5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32120" y="3291840"/>
            <a:ext cx="2606040" cy="1097280"/>
          </a:xfrm>
          <a:prstGeom prst="line">
            <a:avLst/>
          </a:prstGeom>
          <a:noFill/>
          <a:ln w="12700">
            <a:solidFill>
              <a:srgbClr val="1AA0AB">
                <a:alpha val="5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92440" y="1325880"/>
            <a:ext cx="91440" cy="91440"/>
          </a:xfrm>
          <a:prstGeom prst="ellipse">
            <a:avLst/>
          </a:prstGeom>
          <a:solidFill>
            <a:srgbClr val="0F2A43"/>
          </a:solidFill>
          <a:ln/>
        </p:spPr>
      </p:sp>
      <p:sp>
        <p:nvSpPr>
          <p:cNvPr id="16" name="Shape 14"/>
          <p:cNvSpPr/>
          <p:nvPr/>
        </p:nvSpPr>
        <p:spPr>
          <a:xfrm>
            <a:off x="8366760" y="1874520"/>
            <a:ext cx="91440" cy="91440"/>
          </a:xfrm>
          <a:prstGeom prst="ellipse">
            <a:avLst/>
          </a:prstGeom>
          <a:solidFill>
            <a:srgbClr val="0F2A43"/>
          </a:solidFill>
          <a:ln/>
        </p:spPr>
      </p:sp>
      <p:sp>
        <p:nvSpPr>
          <p:cNvPr id="17" name="Shape 15"/>
          <p:cNvSpPr/>
          <p:nvPr/>
        </p:nvSpPr>
        <p:spPr>
          <a:xfrm>
            <a:off x="8503920" y="2514600"/>
            <a:ext cx="91440" cy="91440"/>
          </a:xfrm>
          <a:prstGeom prst="ellipse">
            <a:avLst/>
          </a:prstGeom>
          <a:solidFill>
            <a:srgbClr val="0F2A43"/>
          </a:solidFill>
          <a:ln/>
        </p:spPr>
      </p:sp>
      <p:sp>
        <p:nvSpPr>
          <p:cNvPr id="18" name="Shape 16"/>
          <p:cNvSpPr/>
          <p:nvPr/>
        </p:nvSpPr>
        <p:spPr>
          <a:xfrm>
            <a:off x="8503920" y="3154680"/>
            <a:ext cx="91440" cy="91440"/>
          </a:xfrm>
          <a:prstGeom prst="ellipse">
            <a:avLst/>
          </a:prstGeom>
          <a:solidFill>
            <a:srgbClr val="0F2A43"/>
          </a:solidFill>
          <a:ln/>
        </p:spPr>
      </p:sp>
      <p:sp>
        <p:nvSpPr>
          <p:cNvPr id="19" name="Shape 17"/>
          <p:cNvSpPr/>
          <p:nvPr/>
        </p:nvSpPr>
        <p:spPr>
          <a:xfrm>
            <a:off x="8366760" y="3794760"/>
            <a:ext cx="91440" cy="91440"/>
          </a:xfrm>
          <a:prstGeom prst="ellipse">
            <a:avLst/>
          </a:prstGeom>
          <a:solidFill>
            <a:srgbClr val="0F2A43"/>
          </a:solidFill>
          <a:ln/>
        </p:spPr>
      </p:sp>
      <p:sp>
        <p:nvSpPr>
          <p:cNvPr id="20" name="Shape 18"/>
          <p:cNvSpPr/>
          <p:nvPr/>
        </p:nvSpPr>
        <p:spPr>
          <a:xfrm>
            <a:off x="8092440" y="4343400"/>
            <a:ext cx="91440" cy="91440"/>
          </a:xfrm>
          <a:prstGeom prst="ellipse">
            <a:avLst/>
          </a:prstGeom>
          <a:solidFill>
            <a:srgbClr val="0F2A43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34564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máy quét ảo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955280" y="45262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vỏ hầm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TRÌNH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Năm bước, có “sự thật nền” từ đầu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591056" cy="2743200"/>
          </a:xfrm>
          <a:prstGeom prst="rect">
            <a:avLst/>
          </a:prstGeom>
          <a:solidFill>
            <a:srgbClr val="0F2A43"/>
          </a:solidFill>
          <a:ln/>
          <a:effectLst>
            <a:outerShdw sx="100000" sy="100000" kx="0" ky="0" algn="bl" rotWithShape="0" blurRad="88900" dist="38100" dir="8100000">
              <a:srgbClr val="0A2036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1856232"/>
            <a:ext cx="585216" cy="585216"/>
          </a:xfrm>
          <a:prstGeom prst="ellipse">
            <a:avLst/>
          </a:prstGeom>
          <a:solidFill>
            <a:srgbClr val="F2A516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856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12648" y="26060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Hầm ảo đúng tỷ lệ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12648" y="3227832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Dựng theo kích thước thật đo từ dữ liệu LiDAR (bore ~8.5 m).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057400" y="26974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2244852" y="1600200"/>
            <a:ext cx="1591056" cy="2743200"/>
          </a:xfrm>
          <a:prstGeom prst="rect">
            <a:avLst/>
          </a:prstGeom>
          <a:solidFill>
            <a:srgbClr val="0F2A43"/>
          </a:solidFill>
          <a:ln/>
          <a:effectLst>
            <a:outerShdw sx="100000" sy="100000" kx="0" ky="0" algn="bl" rotWithShape="0" blurRad="88900" dist="38100" dir="8100000">
              <a:srgbClr val="0A2036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7772" y="1856232"/>
            <a:ext cx="585216" cy="585216"/>
          </a:xfrm>
          <a:prstGeom prst="ellipse">
            <a:avLst/>
          </a:prstGeom>
          <a:solidFill>
            <a:srgbClr val="F2A516"/>
          </a:solidFill>
          <a:ln/>
        </p:spPr>
      </p:sp>
      <p:sp>
        <p:nvSpPr>
          <p:cNvPr id="12" name="Text 10"/>
          <p:cNvSpPr/>
          <p:nvPr/>
        </p:nvSpPr>
        <p:spPr>
          <a:xfrm>
            <a:off x="2747772" y="1856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354580" y="26060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Biến dạng biết trước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354580" y="3227832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Lún đỉnh, hội tụ vách, hư hỏng cục bộ theo T0→T5.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799332" y="26974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3986784" y="1600200"/>
            <a:ext cx="1591056" cy="2743200"/>
          </a:xfrm>
          <a:prstGeom prst="rect">
            <a:avLst/>
          </a:prstGeom>
          <a:solidFill>
            <a:srgbClr val="0F2A43"/>
          </a:solidFill>
          <a:ln/>
          <a:effectLst>
            <a:outerShdw sx="100000" sy="100000" kx="0" ky="0" algn="bl" rotWithShape="0" blurRad="88900" dist="38100" dir="8100000">
              <a:srgbClr val="0A2036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489704" y="1856232"/>
            <a:ext cx="585216" cy="585216"/>
          </a:xfrm>
          <a:prstGeom prst="ellipse">
            <a:avLst/>
          </a:prstGeom>
          <a:solidFill>
            <a:srgbClr val="F2A516"/>
          </a:solidFill>
          <a:ln/>
        </p:spPr>
      </p:sp>
      <p:sp>
        <p:nvSpPr>
          <p:cNvPr id="18" name="Text 16"/>
          <p:cNvSpPr/>
          <p:nvPr/>
        </p:nvSpPr>
        <p:spPr>
          <a:xfrm>
            <a:off x="4489704" y="1856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096512" y="26060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Raycasting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096512" y="3227832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Quét laser ảo → tạo point cloud như scan thật.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541264" y="26974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5728716" y="1600200"/>
            <a:ext cx="1591056" cy="2743200"/>
          </a:xfrm>
          <a:prstGeom prst="rect">
            <a:avLst/>
          </a:prstGeom>
          <a:solidFill>
            <a:srgbClr val="0F2A43"/>
          </a:solidFill>
          <a:ln/>
          <a:effectLst>
            <a:outerShdw sx="100000" sy="100000" kx="0" ky="0" algn="bl" rotWithShape="0" blurRad="88900" dist="38100" dir="8100000">
              <a:srgbClr val="0A2036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31636" y="1856232"/>
            <a:ext cx="585216" cy="585216"/>
          </a:xfrm>
          <a:prstGeom prst="ellipse">
            <a:avLst/>
          </a:prstGeom>
          <a:solidFill>
            <a:srgbClr val="F2A516"/>
          </a:solidFill>
          <a:ln/>
        </p:spPr>
      </p:sp>
      <p:sp>
        <p:nvSpPr>
          <p:cNvPr id="24" name="Text 22"/>
          <p:cNvSpPr/>
          <p:nvPr/>
        </p:nvSpPr>
        <p:spPr>
          <a:xfrm>
            <a:off x="6231636" y="1856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5838444" y="26060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 công cụ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838444" y="3227832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 biến dạng trên chính point cloud đó.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283196" y="26974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7470648" y="1600200"/>
            <a:ext cx="1591056" cy="2743200"/>
          </a:xfrm>
          <a:prstGeom prst="rect">
            <a:avLst/>
          </a:prstGeom>
          <a:solidFill>
            <a:srgbClr val="0F2A43"/>
          </a:solidFill>
          <a:ln/>
          <a:effectLst>
            <a:outerShdw sx="100000" sy="100000" kx="0" ky="0" algn="bl" rotWithShape="0" blurRad="88900" dist="38100" dir="8100000">
              <a:srgbClr val="0A2036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973568" y="1856232"/>
            <a:ext cx="585216" cy="585216"/>
          </a:xfrm>
          <a:prstGeom prst="ellipse">
            <a:avLst/>
          </a:prstGeom>
          <a:solidFill>
            <a:srgbClr val="F2A516"/>
          </a:solidFill>
          <a:ln/>
        </p:spPr>
      </p:sp>
      <p:sp>
        <p:nvSpPr>
          <p:cNvPr id="30" name="Text 28"/>
          <p:cNvSpPr/>
          <p:nvPr/>
        </p:nvSpPr>
        <p:spPr>
          <a:xfrm>
            <a:off x="7973568" y="1856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7580376" y="26060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Đối chiếu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7580376" y="3227832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kết quả với số biết trước → ra độ chính xác thật.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VÌ SAO KHÔNG CHỈ “THÊM NHIỄU”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Raycasting tái tạo đúng vật lý của scan thật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4069080" cy="1207008"/>
          </a:xfrm>
          <a:prstGeom prst="rect">
            <a:avLst/>
          </a:prstGeom>
          <a:solidFill>
            <a:srgbClr val="F2F5F7"/>
          </a:solidFill>
          <a:ln/>
          <a:effectLst>
            <a:outerShdw sx="100000" sy="100000" kx="0" ky="0" algn="bl" rotWithShape="0" blurRad="88900" dist="38100" dir="8100000">
              <a:srgbClr val="0A2036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856232"/>
            <a:ext cx="310896" cy="31089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7830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 khuất (occlusion)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2167128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Vùng tối thật sau cáp, đèn, người — không bịa ra.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1600200"/>
            <a:ext cx="4069080" cy="1207008"/>
          </a:xfrm>
          <a:prstGeom prst="rect">
            <a:avLst/>
          </a:prstGeom>
          <a:solidFill>
            <a:srgbClr val="F2F5F7"/>
          </a:solidFill>
          <a:ln/>
          <a:effectLst>
            <a:outerShdw sx="100000" sy="100000" kx="0" ky="0" algn="bl" rotWithShape="0" blurRad="88900" dist="38100" dir="8100000">
              <a:srgbClr val="0A2036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856232"/>
            <a:ext cx="310896" cy="31089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0" y="17830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Mật độ theo cự ly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212080" y="2167128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Gần máy điểm dày, xa thưa dần — như scan thật.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971800"/>
            <a:ext cx="4069080" cy="1207008"/>
          </a:xfrm>
          <a:prstGeom prst="rect">
            <a:avLst/>
          </a:prstGeom>
          <a:solidFill>
            <a:srgbClr val="F2F5F7"/>
          </a:solidFill>
          <a:ln/>
          <a:effectLst>
            <a:outerShdw sx="100000" sy="100000" kx="0" ky="0" algn="bl" rotWithShape="0" blurRad="88900" dist="38100" dir="8100000">
              <a:srgbClr val="0A2036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" y="3227832"/>
            <a:ext cx="310896" cy="31089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31546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Cường độ phản xạ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3538728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 nhau theo vật liệu: bê tông / thép / target.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0" y="2971800"/>
            <a:ext cx="4069080" cy="1207008"/>
          </a:xfrm>
          <a:prstGeom prst="rect">
            <a:avLst/>
          </a:prstGeom>
          <a:solidFill>
            <a:srgbClr val="F2F5F7"/>
          </a:solidFill>
          <a:ln/>
          <a:effectLst>
            <a:outerShdw sx="100000" sy="100000" kx="0" ky="0" algn="bl" rotWithShape="0" blurRad="88900" dist="38100" dir="8100000">
              <a:srgbClr val="0A2036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3227832"/>
            <a:ext cx="310896" cy="31089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8" name="Text 16"/>
          <p:cNvSpPr/>
          <p:nvPr/>
        </p:nvSpPr>
        <p:spPr>
          <a:xfrm>
            <a:off x="5212080" y="31546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Nhiễu khoảng cách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12080" y="3538728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số tăng theo cự ly: σ = 2 mm + 0.06 mm/m.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4370832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 hoàn hảo + nhiễu ngẫu nhiên = test lý tưởng hoá.   Raycasting = test giống thực tế.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BẰNG CHỨNG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Đo lại đúng giá trị biết trước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2743200" cy="2743200"/>
          </a:xfrm>
          <a:prstGeom prst="rect">
            <a:avLst/>
          </a:prstGeom>
          <a:solidFill>
            <a:srgbClr val="0F2A43"/>
          </a:solidFill>
          <a:ln/>
          <a:effectLst>
            <a:outerShdw sx="100000" sy="100000" kx="0" ky="0" algn="bl" rotWithShape="0" blurRad="88900" dist="38100" dir="8100000">
              <a:srgbClr val="0A2036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8745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2A5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0.58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502920" y="2788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 sai số trung bình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FE0E6"/>
                </a:solidFill>
              </a:rPr>
              <a:t>Tối đa 2.45 mm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DB3BD"/>
                </a:solidFill>
              </a:rPr>
              <a:t>6 mốc T0–T5 · 5 cặp liên tiếp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566160" y="15544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vs giá trị biết trước (mm) — bước T4→T5</a:t>
            </a:r>
            <a:endParaRPr lang="en-US" sz="12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3520440" y="1874520"/>
          <a:ext cx="525780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LỘ TRÌNH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Từ synthetic đến dữ liệu thật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2670048" cy="2468880"/>
          </a:xfrm>
          <a:prstGeom prst="rect">
            <a:avLst/>
          </a:prstGeom>
          <a:solidFill>
            <a:srgbClr val="F2F5F7"/>
          </a:solidFill>
          <a:ln/>
          <a:effectLst>
            <a:outerShdw sx="100000" sy="100000" kx="0" ky="0" algn="bl" rotWithShape="0" blurRad="88900" dist="38100" dir="8100000">
              <a:srgbClr val="0A2036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691640"/>
            <a:ext cx="2670048" cy="56692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801368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Giai đoạn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404872"/>
            <a:ext cx="2304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Hiện tại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85800" y="2880360"/>
            <a:ext cx="23042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synthetic, giả định đã căn chỉnh. Tập trung kiểm chứng phần phân tích.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154680" y="2651760"/>
            <a:ext cx="23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282696" y="1691640"/>
            <a:ext cx="2670048" cy="2468880"/>
          </a:xfrm>
          <a:prstGeom prst="rect">
            <a:avLst/>
          </a:prstGeom>
          <a:solidFill>
            <a:srgbClr val="F2F5F7"/>
          </a:solidFill>
          <a:ln/>
          <a:effectLst>
            <a:outerShdw sx="100000" sy="100000" kx="0" ky="0" algn="bl" rotWithShape="0" blurRad="88900" dist="38100" dir="8100000">
              <a:srgbClr val="0A2036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82696" y="1691640"/>
            <a:ext cx="2670048" cy="566928"/>
          </a:xfrm>
          <a:prstGeom prst="rect">
            <a:avLst/>
          </a:prstGeom>
          <a:solidFill>
            <a:srgbClr val="1AA0AB"/>
          </a:solidFill>
          <a:ln/>
        </p:spPr>
      </p:sp>
      <p:sp>
        <p:nvSpPr>
          <p:cNvPr id="12" name="Text 10"/>
          <p:cNvSpPr/>
          <p:nvPr/>
        </p:nvSpPr>
        <p:spPr>
          <a:xfrm>
            <a:off x="3465576" y="1801368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Giai đoạn 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65576" y="2404872"/>
            <a:ext cx="2304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Tiếp theo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465576" y="2880360"/>
            <a:ext cx="23042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phỏng đầy đủ môi trường LiDAR (nhiều trạm, sai lệch đặt máy) → kiểm chứng cả khâu căn chỉnh.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934456" y="2651760"/>
            <a:ext cx="23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062472" y="1691640"/>
            <a:ext cx="2670048" cy="2468880"/>
          </a:xfrm>
          <a:prstGeom prst="rect">
            <a:avLst/>
          </a:prstGeom>
          <a:solidFill>
            <a:srgbClr val="F2F5F7"/>
          </a:solidFill>
          <a:ln/>
          <a:effectLst>
            <a:outerShdw sx="100000" sy="100000" kx="0" ky="0" algn="bl" rotWithShape="0" blurRad="88900" dist="38100" dir="8100000">
              <a:srgbClr val="0A2036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62472" y="1691640"/>
            <a:ext cx="2670048" cy="566928"/>
          </a:xfrm>
          <a:prstGeom prst="rect">
            <a:avLst/>
          </a:prstGeom>
          <a:solidFill>
            <a:srgbClr val="F2A516"/>
          </a:solidFill>
          <a:ln/>
        </p:spPr>
      </p:sp>
      <p:sp>
        <p:nvSpPr>
          <p:cNvPr id="18" name="Text 16"/>
          <p:cNvSpPr/>
          <p:nvPr/>
        </p:nvSpPr>
        <p:spPr>
          <a:xfrm>
            <a:off x="6245352" y="1801368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Giai đoạn 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45352" y="2404872"/>
            <a:ext cx="2304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Cuối cùng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245352" y="2880360"/>
            <a:ext cx="23042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Đối chiếu trên dữ liệu quét thật của khách hàng.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A5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KHÁCH HÀNG THƯỜNG HỎI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Hỏi &amp; Đáp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“Dữ liệu giả thì có ý nghĩa gì?”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03911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F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 nhưng vật lý đúng và biết đáp án — cách duy nhất chứng minh độ chính xác trước khi áp lên dữ liệu thật.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71576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“Sao không dùng luôn hầm thật?”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0632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F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Hầm thật không có ground truth mm để chấm điểm; ta dùng nó ở bước cuối để xác nhận, không phải để đo độ chính xác.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3739896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“Khác gì digital twin?”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40873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F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Đây là digital twin có chủ đích để kiểm thử — biến dạng được cài đặt chính xác phục vụ validation.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4617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2A5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Biến dạng biết trước → quét laser ảo → đo lại → đối chiếu.  Sai số ~0.6 mm.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 phong LiDAR bang Raycasting</dc:title>
  <dc:subject>PptxGenJS Presentation</dc:subject>
  <dc:creator>SSL Tunnel Analysis</dc:creator>
  <cp:lastModifiedBy>SSL Tunnel Analysis</cp:lastModifiedBy>
  <cp:revision>1</cp:revision>
  <dcterms:created xsi:type="dcterms:W3CDTF">2026-06-15T09:47:43Z</dcterms:created>
  <dcterms:modified xsi:type="dcterms:W3CDTF">2026-06-15T09:47:43Z</dcterms:modified>
</cp:coreProperties>
</file>