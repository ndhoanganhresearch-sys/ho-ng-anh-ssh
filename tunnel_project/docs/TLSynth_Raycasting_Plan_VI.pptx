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F2A516"/>
                </a:solidFill>
                <a:latin typeface="Aptos"/>
              </a:rPr>
              <a:t>D? ?N TUNNEL LIDAR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?ng d?ng TLSynth-principle v?o raycasting synthetic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417320"/>
            <a:ext cx="68580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0">
                <a:solidFill>
                  <a:srgbClr val="CFE0E6"/>
                </a:solidFill>
                <a:latin typeface="Aptos"/>
              </a:rPr>
              <a:t>K? ho?ch tri?n khai + gi?i th?ch t?ng b??c cho pipeline T0?T5</a:t>
            </a:r>
          </a:p>
        </p:txBody>
      </p:sp>
      <p:pic>
        <p:nvPicPr>
          <p:cNvPr id="5" name="Picture 4" descr="raycast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188720"/>
            <a:ext cx="5029200" cy="2834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297680"/>
            <a:ext cx="548640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M?c ti?u: t?o d? li?u qu?t h?m c? ground truth ?? ki?m ch?ng Step 3 registration v? Step 6 deformation.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66360"/>
            <a:ext cx="56692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>
                <a:solidFill>
                  <a:srgbClr val="F2A516"/>
                </a:solidFill>
                <a:latin typeface="Aptos"/>
              </a:rPr>
              <a:t>Kh?ng t?ch h?p TLSynth add-on ngay; d?ng TLSynth nh? c? s? ph??ng ph?p lu?n.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ptos"/>
              </a:rPr>
              <a:t>V?N ?? C?N GI?I QUY?T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1E2A33"/>
                </a:solidFill>
                <a:latin typeface="Georgia"/>
              </a:rPr>
              <a:t>Scan th?t kh?ng c? ???p ?n ??ng? ?? ki?m ch?ng mm-level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356616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64792"/>
            <a:ext cx="4892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D? li?u LiDAR th?c t? c? noise, occlusion, m?t ?? ?i?m kh?ng ??u nh?ng kh?ng bi?t bi?n d?ng th?t l? bao nhi?u mm.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Mu?n ch?ng minh tool ?o ??ng, c?n m?t h?m synthetic bi?t tr??c bi?n d?ng T0?T5.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Raycasting gi?p t?o point cloud gi?ng c?ch TLS nh?n th?y scene, kh?ng ch? r?i ?i?m s?ch l?n mesh.</a:t>
            </a:r>
          </a:p>
        </p:txBody>
      </p:sp>
      <p:pic>
        <p:nvPicPr>
          <p:cNvPr id="6" name="Picture 5" descr="cross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17320"/>
            <a:ext cx="493776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ptos"/>
              </a:rPr>
              <a:t>NGUY?N 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1E2A33"/>
                </a:solidFill>
                <a:latin typeface="Georgia"/>
              </a:rPr>
              <a:t>TLSynth-principle: scanner ?o b?n tia v?o mesh</a:t>
            </a:r>
          </a:p>
        </p:txBody>
      </p:sp>
      <p:pic>
        <p:nvPicPr>
          <p:cNvPr id="4" name="Picture 3" descr="raycast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583680" cy="36576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43800" y="1417320"/>
            <a:ext cx="3886200" cy="361188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581912"/>
            <a:ext cx="34747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??t scanner ?o trong Blender scene.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T?o h??ng tia theo l??i g?c ngang/d?c.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D?ng ray casting ?? l?y giao ?i?m ??u ti?n.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Th?m noise/intensity ?? g?n TLS th?c t? h?n.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ptos"/>
              </a:rPr>
              <a:t>K? HO?CH T?NG 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1E2A33"/>
                </a:solidFill>
                <a:latin typeface="Georgia"/>
              </a:rPr>
              <a:t>5 b??c tri?n khai trong d? ?n hi?n t?i</a:t>
            </a:r>
          </a:p>
        </p:txBody>
      </p:sp>
      <p:pic>
        <p:nvPicPr>
          <p:cNvPr id="4" name="Picture 3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5715000"/>
            <a:ext cx="9784080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1E2A33"/>
                </a:solidFill>
                <a:latin typeface="Aptos"/>
              </a:rPr>
              <a:t>Output cu?i: b? d? li?u T0?T5 + metadata + slide/report gi?i th?ch r? ?follow TLSynth principle?.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ptos"/>
              </a:rPr>
              <a:t>B??C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1E2A33"/>
                </a:solidFill>
                <a:latin typeface="Georgia"/>
              </a:rPr>
              <a:t>D?ng scene h?m synthetic ??ng ng? c?nh d? ?n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08760"/>
            <a:ext cx="5394960" cy="3749039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73351"/>
            <a:ext cx="4983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H?m TBM d?ng arch, d?i 80.0 m, ???ng k?nh 8.5 m.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C? rail, sleepers, cable tray, LED, handrail, target sphere v? ng??i l?m scale reference.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T?o T0 l?m baseline; T1?T5 bi?n d?ng t?ng d?n theo ground truth.</a:t>
            </a:r>
          </a:p>
        </p:txBody>
      </p:sp>
      <p:pic>
        <p:nvPicPr>
          <p:cNvPr id="6" name="Picture 5" descr="scanner_po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466344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4800600"/>
            <a:ext cx="47548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0E7C86"/>
                </a:solidFill>
                <a:latin typeface="Aptos"/>
              </a:rPr>
              <a:t>Scene c?ng gi?ng field scan th? Step 6 c?ng ???c ki?m th? th?t h?n.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ptos"/>
              </a:rPr>
              <a:t>B??C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1E2A33"/>
                </a:solidFill>
                <a:latin typeface="Georgia"/>
              </a:rPr>
              <a:t>??t scanner ?o v? c?u h?nh qu?t</a:t>
            </a:r>
          </a:p>
        </p:txBody>
      </p:sp>
      <p:pic>
        <p:nvPicPr>
          <p:cNvPr id="4" name="Picture 3" descr="scanner_posi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577840" cy="3520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37960" y="1234440"/>
            <a:ext cx="4892040" cy="411480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399032"/>
            <a:ext cx="4480559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3 v? tr? scanner: chainage 10 m, 40 m, 70 m.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?? ph?n gi?i ngang/d?c: 0.5? ? 0.5?.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Vertical FOV: -35? ??n 90?; max range 60.0 m.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Scanner ?i theo alignment cong, kh?ng ph?i m?t ???ng Y th?ng.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ptos"/>
              </a:rPr>
              <a:t>B??C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1E2A33"/>
                </a:solidFill>
                <a:latin typeface="Georgia"/>
              </a:rPr>
              <a:t>Raycasting t?o occlusion v? m?t ?? ?i?m gi?ng th?c 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5029200" cy="384048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81912"/>
            <a:ext cx="4617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M?i tia ch? gi? hit point ??u ti?n n?n object ph?a tr??c s? che m?t h?m ph?a sau.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?i?m g?n scanner d?y h?n, xa scanner th?a h?n theo h?nh h?c qu?t.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??y l? l? do raycasting t?t h?n ?mesh s?ch + noise ng?u nhi?n?.</a:t>
            </a:r>
          </a:p>
        </p:txBody>
      </p:sp>
      <p:pic>
        <p:nvPicPr>
          <p:cNvPr id="6" name="Picture 5" descr="raycasting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234440"/>
            <a:ext cx="5486400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09360" y="4892040"/>
            <a:ext cx="498348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0E7C86"/>
                </a:solidFill>
                <a:latin typeface="Aptos"/>
              </a:rPr>
              <a:t>Trong code/dataset hi?n t?i: ph??ng ph?p ???c m? t? l? scene.ray_cast() t? 3 scanner positions.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ptos"/>
              </a:rPr>
              <a:t>B??C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1E2A33"/>
                </a:solidFill>
                <a:latin typeface="Georgia"/>
              </a:rPr>
              <a:t>Th?m noise, intensity v? nh?n ?? gi?ng TLS th?t</a:t>
            </a:r>
          </a:p>
        </p:txBody>
      </p:sp>
      <p:pic>
        <p:nvPicPr>
          <p:cNvPr id="4" name="Picture 3" descr="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303520" cy="3337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463040"/>
            <a:ext cx="4937760" cy="333756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29400" y="1627632"/>
            <a:ext cx="45262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Noise hi?n t?i trong manifest: ? = 0.002 + 0.00006 ? distance_m.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Intensity d?ng reflectivity theo label + cosine + distance falloff.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Labels ph?n bi?t lining, floor/sleepers, metal, LED, target sphere, person.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4983480"/>
            <a:ext cx="48006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1">
                <a:solidFill>
                  <a:srgbClr val="F2A516"/>
                </a:solidFill>
                <a:latin typeface="Aptos"/>
              </a:rPr>
              <a:t>?i?m quan tr?ng khi vi?t b?o c?o: ??y l? ?LiDAR-like degradation?, kh?ng ph?i d? li?u ho?n h?o.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ptos"/>
              </a:rPr>
              <a:t>B??C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1E2A33"/>
                </a:solidFill>
                <a:latin typeface="Georgia"/>
              </a:rPr>
              <a:t>Ki?m ch?ng Step 3 v? Step 6 b?ng ground truth</a:t>
            </a:r>
          </a:p>
        </p:txBody>
      </p:sp>
      <p:pic>
        <p:nvPicPr>
          <p:cNvPr id="4" name="Picture 3" descr="deform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760720" cy="33375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720840" y="1325880"/>
            <a:ext cx="4572000" cy="361188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490472"/>
            <a:ext cx="416052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Step 3: d?ng target sphere/registration transforms ?? ki?m tra auto-align.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Step 6: so s?nh T0 v?i Tn ?? xem tool c? b?t ??ng crown settlement, convergence, local damage.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K?t qu? k? v?ng: sau alignment RMSE v? m?c noise floor; deformation trend b?m ground truth.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ptos"/>
              </a:rPr>
              <a:t>C?CH N?I H?C THU?T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1E2A33"/>
                </a:solidFill>
                <a:latin typeface="Georgia"/>
              </a:rPr>
              <a:t>D?ng TLSynth l?m reference method, kh?ng claim qu? m?c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315200" cy="3154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83879" y="1097280"/>
            <a:ext cx="3474720" cy="4343400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261872"/>
            <a:ext cx="3063239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N?n n?i: ?following / inspired by TLSynth principle?.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Kh?ng n?n n?i: ?we use TLSynth add-on? n?u ch?a t?ch h?p th?t.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?i?m m?i c?a d? ?n: tunnel-specific T0?T5 deformation validation v?i ground truth.</a:t>
            </a:r>
          </a:p>
          <a:p>
            <a:pPr marL="0">
              <a:spcAft>
                <a:spcPts val="700"/>
              </a:spcAft>
              <a:defRPr sz="1500">
                <a:solidFill>
                  <a:srgbClr val="1E2A33"/>
                </a:solidFill>
                <a:latin typeface="Aptos"/>
              </a:defRPr>
            </a:pPr>
            <a:r>
              <a:t>N?u c?n n?ng c?p sau: t?ch h?p TLSynth add-on th?t ?? chu?n h?a scan simulator.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ptos"/>
              </a:rPr>
              <a:t>ROADMAP TH?C THI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13816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000" b="1">
                <a:solidFill>
                  <a:srgbClr val="1E2A33"/>
                </a:solidFill>
                <a:latin typeface="Georgia"/>
              </a:rPr>
              <a:t>Vi?c n?n l?m ti?p theo trong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216152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ptos"/>
              </a:rPr>
              <a:t>Chu?n h?a t?i li?u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216152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ptos"/>
              </a:rPr>
              <a:t>README: ghi r? custom Blender raycasting follows TLSynth principle.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084831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ptos"/>
              </a:rPr>
              <a:t>??ng g?i 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84831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ptos"/>
              </a:rPr>
              <a:t>M?t command generate T0?T5 + manifest + ground_truth.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53512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ptos"/>
              </a:rPr>
              <a:t>Benchmark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53512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ptos"/>
              </a:rPr>
              <a:t>Ch?y Step 3/Step 6, l?u RMSE v? sai s? deformation.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79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822191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ptos"/>
              </a:rPr>
              <a:t>Slide/report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22191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ptos"/>
              </a:rPr>
              <a:t>??a h?nh raycasting, noise curve, deformation trend v?o paper/presentation.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9160"/>
            <a:ext cx="411480" cy="411480"/>
          </a:xfrm>
          <a:prstGeom prst="rect">
            <a:avLst/>
          </a:prstGeom>
          <a:solidFill>
            <a:srgbClr val="0E7C86"/>
          </a:solidFill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690872"/>
            <a:ext cx="2377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>
                <a:solidFill>
                  <a:srgbClr val="1E2A33"/>
                </a:solidFill>
                <a:latin typeface="Aptos"/>
              </a:rPr>
              <a:t>T?ch h?p th?t n?u c?n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690872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5C6B75"/>
                </a:solidFill>
                <a:latin typeface="Aptos"/>
              </a:rPr>
              <a:t>Ch? t?ch h?p TLSynth add-on khi c?n so s?nh/chu?n h?a th?m.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1">
                <a:solidFill>
                  <a:srgbClr val="0E7C86"/>
                </a:solidFill>
                <a:latin typeface="Aptos"/>
              </a:rPr>
              <a:t>MINH H?A T? D? ?N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89611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1E2A33"/>
                </a:solidFill>
                <a:latin typeface="Georgia"/>
              </a:rPr>
              <a:t>?nh section annotated: c?ch ng??i xem ??c k?t qu? T0/Tn</a:t>
            </a:r>
          </a:p>
        </p:txBody>
      </p:sp>
      <p:pic>
        <p:nvPicPr>
          <p:cNvPr id="4" name="Picture 3" descr="section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35240" cy="432820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49640" y="1417320"/>
            <a:ext cx="2971800" cy="3977639"/>
          </a:xfrm>
          <a:prstGeom prst="roundRect">
            <a:avLst/>
          </a:prstGeom>
          <a:solidFill>
            <a:srgbClr val="F2F5F7"/>
          </a:solidFill>
          <a:ln>
            <a:solidFill>
              <a:srgbClr val="D8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96528" y="1691640"/>
            <a:ext cx="25146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A33"/>
                </a:solidFill>
              </a:defRPr>
            </a:pPr>
            <a:r>
              <a:t>V?ng tr?n/reference = T0 ho?c design baseline</a:t>
            </a:r>
          </a:p>
          <a:p>
            <a:pPr>
              <a:spcAft>
                <a:spcPts val="800"/>
              </a:spcAft>
              <a:defRPr sz="1300">
                <a:solidFill>
                  <a:srgbClr val="1E2A33"/>
                </a:solidFill>
              </a:defRPr>
            </a:pPr>
            <a:r>
              <a:t>Ch?m scan = d? li?u Tn sau raycasting/scan</a:t>
            </a:r>
          </a:p>
          <a:p>
            <a:pPr>
              <a:spcAft>
                <a:spcPts val="800"/>
              </a:spcAft>
              <a:defRPr sz="1300">
                <a:solidFill>
                  <a:srgbClr val="1E2A33"/>
                </a:solidFill>
              </a:defRPr>
            </a:pPr>
            <a:r>
              <a:t>Kho?ng l?ch = deformation c?n ?o</a:t>
            </a:r>
          </a:p>
          <a:p>
            <a:pPr>
              <a:spcAft>
                <a:spcPts val="800"/>
              </a:spcAft>
              <a:defRPr sz="1300">
                <a:solidFill>
                  <a:srgbClr val="1E2A33"/>
                </a:solidFill>
              </a:defRPr>
            </a:pPr>
            <a:r>
              <a:t>Visual ?10 gi?p bi?n d?ng mm-level d? nh?n</a:t>
            </a:r>
          </a:p>
          <a:p>
            <a:pPr>
              <a:spcAft>
                <a:spcPts val="800"/>
              </a:spcAft>
              <a:defRPr sz="1300">
                <a:solidFill>
                  <a:srgbClr val="1E2A33"/>
                </a:solidFill>
              </a:defRPr>
            </a:pPr>
            <a:r>
              <a:t>Status bar gom metric R, oval%, e, delta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5577840"/>
            <a:ext cx="27432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>
                <a:solidFill>
                  <a:srgbClr val="0E7C86"/>
                </a:solidFill>
                <a:latin typeface="Aptos"/>
              </a:rPr>
              <a:t>Slide n?y d?ng ?nh th?t ?? c? trong repo ?? n?i ph?n m? ph?ng v?i giao di?n gi?i th?ch k?t qu?.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5C6B75"/>
                </a:solidFill>
                <a:latin typeface="Aptos"/>
              </a:rPr>
              <a:t>TLSynth-principle raycasting plan ?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