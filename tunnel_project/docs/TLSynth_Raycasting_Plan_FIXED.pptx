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F2A516"/>
                </a:solidFill>
                <a:latin typeface="Arial"/>
              </a:rPr>
              <a:t>TUNNEL LIDAR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Georgia"/>
              </a:rPr>
              <a:t>Apply TLSynth-principle to synthetic raycasting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53312"/>
            <a:ext cx="7315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FE0E6"/>
                </a:solidFill>
                <a:latin typeface="Arial"/>
              </a:rPr>
              <a:t>Implementation plan + step-by-step explanation</a:t>
            </a:r>
          </a:p>
        </p:txBody>
      </p:sp>
      <p:pic>
        <p:nvPicPr>
          <p:cNvPr id="5" name="Picture 4" descr="ray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97680"/>
            <a:ext cx="557784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Goal: create tunnel scan data with ground truth to validate Step 3 registration and Step 6 deformation.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5669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2A516"/>
                </a:solidFill>
                <a:latin typeface="Arial"/>
              </a:rPr>
              <a:t>Approach: use TLSynth as methodology reference, not as a direct add-on dependency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Real scans do not provide exact mm-level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35661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Real LiDAR has noise, occlusion and uneven point density, but true deformation is unknown.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To prove the tool measures correctly, we need synthetic T0 to T5 data with known deformation.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Raycasting simulates how TLS sees the scene instead of placing clean random points on a mesh.</a:t>
            </a:r>
          </a:p>
        </p:txBody>
      </p:sp>
      <p:pic>
        <p:nvPicPr>
          <p:cNvPr id="6" name="Picture 5" descr="cr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93776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TLSynth-principle: virtual scanner casts rays into mesh</a:t>
            </a:r>
          </a:p>
        </p:txBody>
      </p:sp>
      <p:pic>
        <p:nvPicPr>
          <p:cNvPr id="4" name="Picture 3" descr="ray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58368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417320"/>
            <a:ext cx="3886200" cy="36118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60020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Place a virtual scanner in the Blender scene.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Generate ray directions using horizontal and vertical angular grids.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Use ray casting to find the first surface intersection.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Add noise and intensity to approximate real TLS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OVERALL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Five implementation steps in the current project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715000"/>
            <a:ext cx="9784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E2A33"/>
                </a:solidFill>
                <a:latin typeface="Arial"/>
              </a:rPr>
              <a:t>Final output: T0-T5 dataset + metadata + clear report language: follow TLSynth principle.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Build the synthetic tunnel scene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3749039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39"/>
            <a:ext cx="498348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TBM arch tunnel, length 80.0 m, diameter 8.5 m.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Include rails, sleepers, cable trays, LEDs, handrails, target spheres and scale-reference people.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Use T0 as baseline; deform T1 to T5 using known ground truth.</a:t>
            </a:r>
          </a:p>
        </p:txBody>
      </p:sp>
      <p:pic>
        <p:nvPicPr>
          <p:cNvPr id="6" name="Picture 5" descr="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66344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800600"/>
            <a:ext cx="47548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0E7C86"/>
                </a:solidFill>
                <a:latin typeface="Arial"/>
              </a:rPr>
              <a:t>A field-like scene makes Step 6 validation more realistic.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Place virtual scanners and define scan settings</a:t>
            </a:r>
          </a:p>
        </p:txBody>
      </p:sp>
      <p:pic>
        <p:nvPicPr>
          <p:cNvPr id="4" name="Picture 3" descr="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577840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1234440"/>
            <a:ext cx="4892040" cy="411480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17320"/>
            <a:ext cx="4480559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Three scanner stations: chainage 10 m, 40 m and 70 m.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Angular resolution: 0.5 deg x 0.5 deg.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Vertical FOV: -35 deg to 90 deg; max range 60.0 m.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Scanners follow the curved alignment, not a simple straight Y-axis.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Raycasting creates realistic occlusion and point density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029200" cy="38404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4617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Each ray keeps only the first hit point, so foreground objects hide the wall behind them.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Points are denser near the scanner and sparser farther away.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This is stronger than using a clean mesh plus random noise.</a:t>
            </a:r>
          </a:p>
        </p:txBody>
      </p:sp>
      <p:pic>
        <p:nvPicPr>
          <p:cNvPr id="6" name="Picture 5" descr="ray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34440"/>
            <a:ext cx="548640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892040"/>
            <a:ext cx="4983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Arial"/>
              </a:rPr>
              <a:t>Dataset method: scene.ray_cast() from three scanner positions.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Add noise, intensity and labels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303520" cy="3337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463040"/>
            <a:ext cx="4937760" cy="33375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45920"/>
            <a:ext cx="4526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Current noise model: sigma = 0.002 + 0.00006 x distance_m.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Intensity uses label reflectivity, Lambert cosine and distance falloff.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Labels separate lining, floor, metal, LED, target spheres and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983480"/>
            <a:ext cx="4800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2A516"/>
                </a:solidFill>
                <a:latin typeface="Arial"/>
              </a:rPr>
              <a:t>This is LiDAR-like degradation, not perfect synthetic geometry.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Validate Step 3 and Step 6 against ground truth</a:t>
            </a:r>
          </a:p>
        </p:txBody>
      </p:sp>
      <p:pic>
        <p:nvPicPr>
          <p:cNvPr id="4" name="Picture 3" descr="d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760720" cy="3337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325880"/>
            <a:ext cx="4572000" cy="36118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508760"/>
            <a:ext cx="4160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Step 3: use target spheres and registration transforms to test auto-align.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Step 6: compare T0 with Tn for crown settlement, convergence and local damage.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Expected result: alignment error approaches noise floor and deformation trend follows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ACADEMIC WORDING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Use TLSynth as a reference method without overclaiming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315200" cy="3154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097280"/>
            <a:ext cx="3474720" cy="434340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280160"/>
            <a:ext cx="30632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Say: following or inspired by TLSynth principle.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Do not say: we use TLSynth add-on, unless it is truly integrated.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Project contribution: tunnel-specific T0 to T5 deformation validation with ground truth.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Future upgrade: integrate the TLSynth add-on if stricter simulator standardization is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EXECUTION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Recommended next actions in the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1615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1615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Update README: custom Blender raycasting follows TLSynth principle.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84831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Generation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84831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Create one command to generate T0-T5, manifest and ground_truth.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5351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Run Step 3 and Step 6; save RMSE and deformation error.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79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22191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Report assets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22191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Use raycasting diagram, noise curve and deformation trend in paper/slides.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9087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Real TLSynth add-on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9087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Integrate later only if direct tool comparison is required.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PROJECT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418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Annotated section: how users read T0/Tn output</a:t>
            </a:r>
          </a:p>
        </p:txBody>
      </p:sp>
      <p:pic>
        <p:nvPicPr>
          <p:cNvPr id="4" name="Picture 3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35240" cy="43282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1417320"/>
            <a:ext cx="2971800" cy="3977639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600200"/>
            <a:ext cx="25603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Reference circle = T0 or design baseline.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Scan dots = Tn data after scan/raycasting.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Gap = deformation measured by the tool.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Visual x10 makes mm-level deformation visible.</a:t>
            </a:r>
          </a:p>
          <a:p>
            <a:pPr>
              <a:spcAft>
                <a:spcPts val="700"/>
              </a:spcAft>
              <a:defRPr sz="1500">
                <a:solidFill>
                  <a:srgbClr val="1E2A33"/>
                </a:solidFill>
                <a:latin typeface="Arial"/>
              </a:defRPr>
            </a:pPr>
            <a:r>
              <a:t>- Status bar summarizes R, ovality, eccentricity and delta.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5577840"/>
            <a:ext cx="2743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E7C86"/>
                </a:solidFill>
                <a:latin typeface="Arial"/>
              </a:rPr>
              <a:t>This connects the synthetic scan method to the final Step 6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TLSynth-principle raycasting plan - 12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