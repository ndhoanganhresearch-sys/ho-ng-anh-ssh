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000"/>
                </a:solidFill>
              </a:rPr>
              <a:t>VISUAL-FIRST REPORT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Raycasting LiDAR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 tunnel deformation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42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2"/>
                </a:solidFill>
              </a:rPr>
              <a:t>T0–T5 synthetic TLS scans with known mm-level ground truth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73152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pic>
        <p:nvPicPr>
          <p:cNvPr id="6" name="Image 0" descr="C:\Users\ssl\Desktop\Code Python\data python cusor\tunnel_project\docs\visual_raycasting_assets\T5_sid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914400"/>
            <a:ext cx="4846320" cy="2606040"/>
          </a:xfrm>
          <a:prstGeom prst="rect">
            <a:avLst/>
          </a:prstGeom>
        </p:spPr>
      </p:pic>
      <p:pic>
        <p:nvPicPr>
          <p:cNvPr id="7" name="Image 1" descr="C:\Users\ssl\Desktop\Code Python\data python cusor\tunnel_project\docs\visual_raycasting_assets\deformation_sched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03320"/>
            <a:ext cx="4846320" cy="1645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6A6"/>
                </a:solidFill>
              </a:rPr>
              <a:t>527k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85800" y="48737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points / epoch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251460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00"/>
                </a:solidFill>
              </a:rPr>
              <a:t>6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2514600" y="48737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epochs T0–T5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34340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B5F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343400" y="48737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TLS stations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EVIDENCE PACK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Dataset summary: enough numbers to audit the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Epochs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23160" y="14264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T0 reference + T1–T5 monitoring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99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Ray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2029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Blender scene.ray_cast()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05456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334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Scanner grid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633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0.5° horizontal × 0.5° vertical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369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Stations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3236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Chainage 10 m, 40 m, 70 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04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Range / FOV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38404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60 m max; vertical −35° to 90°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315968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439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Noise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4443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σ = 0.002 + 0.00006 × distance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1298448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pic>
        <p:nvPicPr>
          <p:cNvPr id="23" name="Image 0" descr="C:\Users\ssl\Desktop\Code Python\data python cusor\tunnel_project\docs\visual_raycasting_assets\T0_sid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508760"/>
            <a:ext cx="5029200" cy="2788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126480" y="457200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T0 side-view sample: raycast creates non-uniform visibility and occlusion, not a clean mesh sample.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METHOD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Pipeline: mesh → virtual scan → validation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411480" cy="41148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Blender scene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29718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Tunnel lining + rails + lights + targets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2834640"/>
            <a:ext cx="429768" cy="0"/>
          </a:xfrm>
          <a:prstGeom prst="line">
            <a:avLst/>
          </a:prstGeom>
          <a:noFill/>
          <a:ln w="19050">
            <a:solidFill>
              <a:srgbClr val="9CB6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82880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965960"/>
            <a:ext cx="411480" cy="411480"/>
          </a:xfrm>
          <a:prstGeom prst="rect">
            <a:avLst/>
          </a:prstGeom>
          <a:solidFill>
            <a:srgbClr val="FFB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2542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Virtual TLS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29718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3 stations, angular ray grid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2834640"/>
            <a:ext cx="429768" cy="0"/>
          </a:xfrm>
          <a:prstGeom prst="line">
            <a:avLst/>
          </a:prstGeom>
          <a:noFill/>
          <a:ln w="19050">
            <a:solidFill>
              <a:srgbClr val="9CB6C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182880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965960"/>
            <a:ext cx="411480" cy="411480"/>
          </a:xfrm>
          <a:prstGeom prst="rect">
            <a:avLst/>
          </a:prstGeom>
          <a:solidFill>
            <a:srgbClr val="E94B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2542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First hit only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9512" y="29718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Occlusion and shadow zones appear naturally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2834640"/>
            <a:ext cx="429768" cy="0"/>
          </a:xfrm>
          <a:prstGeom prst="line">
            <a:avLst/>
          </a:prstGeom>
          <a:noFill/>
          <a:ln w="19050">
            <a:solidFill>
              <a:srgbClr val="9CB6C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182880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965960"/>
            <a:ext cx="411480" cy="411480"/>
          </a:xfrm>
          <a:prstGeom prst="rect">
            <a:avLst/>
          </a:prstGeom>
          <a:solidFill>
            <a:srgbClr val="0B355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98080" y="2542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Epoch deformation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29718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Inject known T1–T5 changes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81160" y="2834640"/>
            <a:ext cx="429768" cy="0"/>
          </a:xfrm>
          <a:prstGeom prst="line">
            <a:avLst/>
          </a:prstGeom>
          <a:noFill/>
          <a:ln w="19050">
            <a:solidFill>
              <a:srgbClr val="9CB6C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55480" y="182880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1965960"/>
            <a:ext cx="411480" cy="411480"/>
          </a:xfrm>
          <a:prstGeom prst="rect">
            <a:avLst/>
          </a:prstGeom>
          <a:solidFill>
            <a:srgbClr val="2BB6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38360" y="25420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Export point cloud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20072" y="29718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TXT / LAS-ready labeled scans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4892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558"/>
                </a:solidFill>
              </a:rPr>
              <a:t>One-sentence claim: the point cloud is generated from the same visibility logic as TLS — every point is a ray/object intersection.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GROUND TRUTH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Known deformation schedule, visible by epoch</a:t>
            </a:r>
            <a:endParaRPr lang="en-US" sz="2200" dirty="0"/>
          </a:p>
        </p:txBody>
      </p:sp>
      <p:pic>
        <p:nvPicPr>
          <p:cNvPr id="4" name="Image 0" descr="C:\Users\ssl\Desktop\Code Python\data python cusor\tunnel_project\docs\visual_raycasting_assets\deformation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66751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3749040" cy="3749040"/>
          </a:xfrm>
          <a:prstGeom prst="roundRect">
            <a:avLst>
              <a:gd name="adj" fmla="val 1951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Crown settlement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09560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20 m  |  −45 mm at T5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09560" y="2606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Sidewall convergence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09560" y="2898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00"/>
                </a:solidFill>
              </a:rPr>
              <a:t>45 m  |  −35 mm at T5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3566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Local damage patch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3858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B5F"/>
                </a:solidFill>
              </a:rPr>
              <a:t>65 m  |  −40 mm at T5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VISUAL RESULT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Raycast point clouds show scan-like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pic>
        <p:nvPicPr>
          <p:cNvPr id="5" name="Image 0" descr="C:\Users\ssl\Desktop\Code Python\data python cusor\tunnel_project\docs\visual_raycasting_assets\T0_sid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81328"/>
            <a:ext cx="502920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T0 reference scan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36208" y="12344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pic>
        <p:nvPicPr>
          <p:cNvPr id="8" name="Image 1" descr="C:\Users\ssl\Desktop\Code Python\data python cusor\tunnel_project\docs\visual_raycasting_assets\T5_sid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481328"/>
            <a:ext cx="5029200" cy="3063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9088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T5 deformed monitoring scan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VALIDATION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Measured deformation tracks ground truth</a:t>
            </a:r>
            <a:endParaRPr lang="en-US" sz="2200" dirty="0"/>
          </a:p>
        </p:txBody>
      </p:sp>
      <p:pic>
        <p:nvPicPr>
          <p:cNvPr id="4" name="Image 0" descr="C:\Users\ssl\Desktop\Code Python\data python cusor\tunnel_project\docs\visual_raycasting_assets\measured_vs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4754880" cy="4206240"/>
          </a:xfrm>
          <a:prstGeom prst="rect">
            <a:avLst/>
          </a:prstGeom>
        </p:spPr>
      </p:pic>
      <p:pic>
        <p:nvPicPr>
          <p:cNvPr id="5" name="Image 1" descr="C:\Users\ssl\Desktop\Code Python\data python cusor\tunnel_project\docs\visual_raycasting_assets\validation_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30352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Dashed line = perfect agreement; most deviations stay low, with local damage hardest due to smaller patch and occlusion.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NUMBERS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Validation table: T5 is the stress 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0B355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184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03320" y="16184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GT T5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6184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Measured T5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41080" y="16184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Error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167128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3682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Crown settlement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23682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−45.0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3682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−46.9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1080" y="23682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1.9 mm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2916936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1181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Sidewall convergence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31181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−35.0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31181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−32.7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31181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2.3 mm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3666744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867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Local damage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3867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−40.0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3867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−34.5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1080" y="38679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5.5 mm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4590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The global deformation modes are recovered within ~2 mm at T5; the small local patch has larger error because it is more sensitive to sampling density and occlusion.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WHY IT MATTERS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Raycasting adds the failure modes the tool must survive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Occlusion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581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1"/>
                </a:solidFill>
              </a:rPr>
              <a:t>First-hit rule hides surfaces behind fixtures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</a:rPr>
              <a:t>Density gradient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581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1"/>
                </a:solidFill>
              </a:rPr>
              <a:t>Angular grid creates near/far point imbalance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01000" y="14173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B5F"/>
                </a:solidFill>
              </a:rPr>
              <a:t>Intensity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0" y="1581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1"/>
                </a:solidFill>
              </a:rPr>
              <a:t>Reflectivity + angle + distance model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83464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8"/>
                </a:solidFill>
              </a:rPr>
              <a:t>Registration bias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999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1"/>
                </a:solidFill>
              </a:rPr>
              <a:t>Epochs can carry unknown TLS pose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283464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B673"/>
                </a:solidFill>
              </a:rPr>
              <a:t>Labels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2999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1"/>
                </a:solidFill>
              </a:rPr>
              <a:t>Structure vs non-structure can be filtered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5074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558"/>
                </a:solidFill>
              </a:rPr>
              <a:t>Bottom line: this is closer to field TLS than direct clean sampling from a mesh.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0A6A6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Files already available for reproducible reporting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380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14600" y="138074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data/blender_lidar_t0t5/T0.txt … T5.txt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751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Metadata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197510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data/blender_lidar_t0t5/manifest.json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694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Truth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56946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data/blender_lidar_t0t5/ground_truth.csv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1638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316382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data/blender_lidar_t0t5/series_validation.csv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61188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58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Protocol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7581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RAYCASTING_GROUNDTRUTH_PROTOCOL.md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3525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Script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435254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381"/>
                </a:solidFill>
              </a:rPr>
              <a:t>tools/raycast_tunnel_epochs.py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000"/>
                </a:solidFill>
              </a:rPr>
              <a:t>FINAL TAKEAWAY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Raycasting gives us auditable synthetic TLS data with known deformation.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6A6"/>
                </a:solidFill>
              </a:rPr>
              <a:t>0.5°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182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ray grid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79476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00"/>
                </a:solidFill>
              </a:rPr>
              <a:t>527k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794760" y="3182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points / epoch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2648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B5F"/>
                </a:solidFill>
              </a:rPr>
              <a:t>−45 mm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0" y="3182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max crown GT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582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B673"/>
                </a:solidFill>
              </a:rPr>
              <a:t>~2 mm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458200" y="3182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T5 global error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08760" y="48920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D8E2"/>
                </a:solidFill>
              </a:rPr>
              <a:t>Use this deck as the report backbone: numbers + visuals first, explanatory text only where needed.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LiDAR validation  | 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SSL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Raycasting LiDAR Visual Report</dc:title>
  <dc:subject>Visual-first raycasting report</dc:subject>
  <dc:creator>SSL Tunnel Analysis</dc:creator>
  <cp:lastModifiedBy>SSL Tunnel Analysis</cp:lastModifiedBy>
  <cp:revision>1</cp:revision>
  <dcterms:created xsi:type="dcterms:W3CDTF">2026-06-30T16:39:54Z</dcterms:created>
  <dcterms:modified xsi:type="dcterms:W3CDTF">2026-06-30T16:39:54Z</dcterms:modified>
</cp:coreProperties>
</file>