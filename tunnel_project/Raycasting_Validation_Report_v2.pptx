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703320" y="1280160"/>
            <a:ext cx="1737360" cy="1737360"/>
          </a:xfrm>
          <a:prstGeom prst="arc">
            <a:avLst>
              <a:gd name="adj1" fmla="val 10800000"/>
              <a:gd name="adj2" fmla="val 21600000"/>
            </a:avLst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flipV="1">
            <a:off x="4572000" y="1880403"/>
            <a:ext cx="826164" cy="268437"/>
          </a:xfrm>
          <a:prstGeom prst="line">
            <a:avLst/>
          </a:prstGeom>
          <a:noFill/>
          <a:ln w="1143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4572000" y="1683378"/>
            <a:ext cx="733451" cy="465462"/>
          </a:xfrm>
          <a:prstGeom prst="line">
            <a:avLst/>
          </a:prstGeom>
          <a:noFill/>
          <a:ln w="1143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4572000" y="1515600"/>
            <a:ext cx="594652" cy="633240"/>
          </a:xfrm>
          <a:prstGeom prst="line">
            <a:avLst/>
          </a:prstGeom>
          <a:noFill/>
          <a:ln w="1143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4572000" y="1387610"/>
            <a:ext cx="418490" cy="761230"/>
          </a:xfrm>
          <a:prstGeom prst="line">
            <a:avLst/>
          </a:prstGeom>
          <a:noFill/>
          <a:ln w="1143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4572000" y="1307451"/>
            <a:ext cx="216032" cy="841389"/>
          </a:xfrm>
          <a:prstGeom prst="line">
            <a:avLst/>
          </a:prstGeom>
          <a:noFill/>
          <a:ln w="1143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0" y="1280160"/>
            <a:ext cx="0" cy="868680"/>
          </a:xfrm>
          <a:prstGeom prst="line">
            <a:avLst/>
          </a:prstGeom>
          <a:noFill/>
          <a:ln w="1143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55968" y="1307451"/>
            <a:ext cx="216032" cy="841389"/>
          </a:xfrm>
          <a:prstGeom prst="line">
            <a:avLst/>
          </a:prstGeom>
          <a:noFill/>
          <a:ln w="1143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53510" y="1387610"/>
            <a:ext cx="418490" cy="761230"/>
          </a:xfrm>
          <a:prstGeom prst="line">
            <a:avLst/>
          </a:prstGeom>
          <a:noFill/>
          <a:ln w="1143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977348" y="1515600"/>
            <a:ext cx="594652" cy="633240"/>
          </a:xfrm>
          <a:prstGeom prst="line">
            <a:avLst/>
          </a:prstGeom>
          <a:noFill/>
          <a:ln w="1143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838549" y="1683378"/>
            <a:ext cx="733451" cy="465462"/>
          </a:xfrm>
          <a:prstGeom prst="line">
            <a:avLst/>
          </a:prstGeom>
          <a:noFill/>
          <a:ln w="1143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745836" y="1880403"/>
            <a:ext cx="826164" cy="268437"/>
          </a:xfrm>
          <a:prstGeom prst="line">
            <a:avLst/>
          </a:prstGeom>
          <a:noFill/>
          <a:ln w="1143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467758" y="2044598"/>
            <a:ext cx="208483" cy="208483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65176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Raycasting Ground Truth Validation</a:t>
            </a:r>
            <a:endParaRPr lang="en-US" sz="4600" dirty="0"/>
          </a:p>
        </p:txBody>
      </p:sp>
      <p:sp>
        <p:nvSpPr>
          <p:cNvPr id="16" name="Text 14"/>
          <p:cNvSpPr/>
          <p:nvPr/>
        </p:nvSpPr>
        <p:spPr>
          <a:xfrm>
            <a:off x="457200" y="3931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LiDAR for Tool Step 6 (M3C2) Verification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457200" y="6035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2026-06-29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55864" y="557784"/>
            <a:ext cx="621792" cy="621792"/>
          </a:xfrm>
          <a:prstGeom prst="arc">
            <a:avLst>
              <a:gd name="adj1" fmla="val 10800000"/>
              <a:gd name="adj2" fmla="val 21600000"/>
            </a:avLst>
          </a:prstGeom>
          <a:noFill/>
          <a:ln w="15240">
            <a:solidFill>
              <a:srgbClr val="1C729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flipV="1">
            <a:off x="8366760" y="772608"/>
            <a:ext cx="295680" cy="96072"/>
          </a:xfrm>
          <a:prstGeom prst="line">
            <a:avLst/>
          </a:prstGeom>
          <a:noFill/>
          <a:ln w="9144">
            <a:solidFill>
              <a:srgbClr val="1C729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8366760" y="660650"/>
            <a:ext cx="231041" cy="208030"/>
          </a:xfrm>
          <a:prstGeom prst="line">
            <a:avLst/>
          </a:prstGeom>
          <a:noFill/>
          <a:ln w="9144">
            <a:solidFill>
              <a:srgbClr val="1C72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8366760" y="584662"/>
            <a:ext cx="126453" cy="284018"/>
          </a:xfrm>
          <a:prstGeom prst="line">
            <a:avLst/>
          </a:prstGeom>
          <a:noFill/>
          <a:ln w="9144">
            <a:solidFill>
              <a:srgbClr val="1C729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366760" y="557784"/>
            <a:ext cx="0" cy="310896"/>
          </a:xfrm>
          <a:prstGeom prst="line">
            <a:avLst/>
          </a:prstGeom>
          <a:noFill/>
          <a:ln w="9144">
            <a:solidFill>
              <a:srgbClr val="1C729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40307" y="584662"/>
            <a:ext cx="126453" cy="284018"/>
          </a:xfrm>
          <a:prstGeom prst="line">
            <a:avLst/>
          </a:prstGeom>
          <a:noFill/>
          <a:ln w="9144">
            <a:solidFill>
              <a:srgbClr val="1C729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135719" y="660650"/>
            <a:ext cx="231041" cy="208030"/>
          </a:xfrm>
          <a:prstGeom prst="line">
            <a:avLst/>
          </a:prstGeom>
          <a:noFill/>
          <a:ln w="9144">
            <a:solidFill>
              <a:srgbClr val="1C729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71080" y="772608"/>
            <a:ext cx="295680" cy="96072"/>
          </a:xfrm>
          <a:prstGeom prst="line">
            <a:avLst/>
          </a:prstGeom>
          <a:noFill/>
          <a:ln w="9144">
            <a:solidFill>
              <a:srgbClr val="1C729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329452" y="831372"/>
            <a:ext cx="74615" cy="74615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365760"/>
            <a:ext cx="7589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Initial State (Phase A/B/C v1)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731520" y="137160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Scripts targeted imaginary tunnel (straight, R=3.0m, 1 scanner, -7/-5/-15mm)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31520" y="224028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actually run end-to-end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31520" y="310896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copy-paste risks ("must match byte-for-byte")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31520" y="397764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dataset blender_lidar_t0t5 is curved (R=500m), 3 TLS stations, progressive T1-T5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55864" y="557784"/>
            <a:ext cx="621792" cy="621792"/>
          </a:xfrm>
          <a:prstGeom prst="arc">
            <a:avLst>
              <a:gd name="adj1" fmla="val 10800000"/>
              <a:gd name="adj2" fmla="val 21600000"/>
            </a:avLst>
          </a:prstGeom>
          <a:noFill/>
          <a:ln w="15240">
            <a:solidFill>
              <a:srgbClr val="1C729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flipV="1">
            <a:off x="8366760" y="772608"/>
            <a:ext cx="295680" cy="96072"/>
          </a:xfrm>
          <a:prstGeom prst="line">
            <a:avLst/>
          </a:prstGeom>
          <a:noFill/>
          <a:ln w="9144">
            <a:solidFill>
              <a:srgbClr val="1C729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8366760" y="660650"/>
            <a:ext cx="231041" cy="208030"/>
          </a:xfrm>
          <a:prstGeom prst="line">
            <a:avLst/>
          </a:prstGeom>
          <a:noFill/>
          <a:ln w="9144">
            <a:solidFill>
              <a:srgbClr val="1C72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8366760" y="584662"/>
            <a:ext cx="126453" cy="284018"/>
          </a:xfrm>
          <a:prstGeom prst="line">
            <a:avLst/>
          </a:prstGeom>
          <a:noFill/>
          <a:ln w="9144">
            <a:solidFill>
              <a:srgbClr val="1C729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366760" y="557784"/>
            <a:ext cx="0" cy="310896"/>
          </a:xfrm>
          <a:prstGeom prst="line">
            <a:avLst/>
          </a:prstGeom>
          <a:noFill/>
          <a:ln w="9144">
            <a:solidFill>
              <a:srgbClr val="1C729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40307" y="584662"/>
            <a:ext cx="126453" cy="284018"/>
          </a:xfrm>
          <a:prstGeom prst="line">
            <a:avLst/>
          </a:prstGeom>
          <a:noFill/>
          <a:ln w="9144">
            <a:solidFill>
              <a:srgbClr val="1C729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135719" y="660650"/>
            <a:ext cx="231041" cy="208030"/>
          </a:xfrm>
          <a:prstGeom prst="line">
            <a:avLst/>
          </a:prstGeom>
          <a:noFill/>
          <a:ln w="9144">
            <a:solidFill>
              <a:srgbClr val="1C729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71080" y="772608"/>
            <a:ext cx="295680" cy="96072"/>
          </a:xfrm>
          <a:prstGeom prst="line">
            <a:avLst/>
          </a:prstGeom>
          <a:noFill/>
          <a:ln w="9144">
            <a:solidFill>
              <a:srgbClr val="1C729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329452" y="831372"/>
            <a:ext cx="74615" cy="74615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365760"/>
            <a:ext cx="7589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Realign to Real Geometry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731520" y="137160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.blend via Blender MCP: R=500m curve, radius 4.256m, 3 stations @ arc-len 10/40/70m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31520" y="237744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single engine (raycast_tunnel_epochs.py) for T0 &amp; Tn — same code path, no drift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31520" y="338328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Deform in local cross-section frame (ground_truth.csv magnitudes: crown -45, side -35, local -40mm @ T5)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55864" y="557784"/>
            <a:ext cx="621792" cy="621792"/>
          </a:xfrm>
          <a:prstGeom prst="arc">
            <a:avLst>
              <a:gd name="adj1" fmla="val 10800000"/>
              <a:gd name="adj2" fmla="val 21600000"/>
            </a:avLst>
          </a:prstGeom>
          <a:noFill/>
          <a:ln w="15240">
            <a:solidFill>
              <a:srgbClr val="1C729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flipV="1">
            <a:off x="8366760" y="772608"/>
            <a:ext cx="295680" cy="96072"/>
          </a:xfrm>
          <a:prstGeom prst="line">
            <a:avLst/>
          </a:prstGeom>
          <a:noFill/>
          <a:ln w="9144">
            <a:solidFill>
              <a:srgbClr val="1C729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8366760" y="660650"/>
            <a:ext cx="231041" cy="208030"/>
          </a:xfrm>
          <a:prstGeom prst="line">
            <a:avLst/>
          </a:prstGeom>
          <a:noFill/>
          <a:ln w="9144">
            <a:solidFill>
              <a:srgbClr val="1C72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8366760" y="584662"/>
            <a:ext cx="126453" cy="284018"/>
          </a:xfrm>
          <a:prstGeom prst="line">
            <a:avLst/>
          </a:prstGeom>
          <a:noFill/>
          <a:ln w="9144">
            <a:solidFill>
              <a:srgbClr val="1C729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366760" y="557784"/>
            <a:ext cx="0" cy="310896"/>
          </a:xfrm>
          <a:prstGeom prst="line">
            <a:avLst/>
          </a:prstGeom>
          <a:noFill/>
          <a:ln w="9144">
            <a:solidFill>
              <a:srgbClr val="1C729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40307" y="584662"/>
            <a:ext cx="126453" cy="284018"/>
          </a:xfrm>
          <a:prstGeom prst="line">
            <a:avLst/>
          </a:prstGeom>
          <a:noFill/>
          <a:ln w="9144">
            <a:solidFill>
              <a:srgbClr val="1C729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135719" y="660650"/>
            <a:ext cx="231041" cy="208030"/>
          </a:xfrm>
          <a:prstGeom prst="line">
            <a:avLst/>
          </a:prstGeom>
          <a:noFill/>
          <a:ln w="9144">
            <a:solidFill>
              <a:srgbClr val="1C729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71080" y="772608"/>
            <a:ext cx="295680" cy="96072"/>
          </a:xfrm>
          <a:prstGeom prst="line">
            <a:avLst/>
          </a:prstGeom>
          <a:noFill/>
          <a:ln w="9144">
            <a:solidFill>
              <a:srgbClr val="1C729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329452" y="831372"/>
            <a:ext cx="74615" cy="74615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365760"/>
            <a:ext cx="7589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Single Engine, Two Validators</a:t>
            </a:r>
            <a:endParaRPr lang="en-US" sz="3400" dirty="0"/>
          </a:p>
        </p:txBody>
      </p:sp>
      <p:sp>
        <p:nvSpPr>
          <p:cNvPr id="12" name="Shape 10"/>
          <p:cNvSpPr/>
          <p:nvPr/>
        </p:nvSpPr>
        <p:spPr>
          <a:xfrm>
            <a:off x="457200" y="1371600"/>
            <a:ext cx="2560320" cy="402336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50800" dist="25400" dir="5400000">
              <a:srgbClr val="BFBFBF">
                <a:alpha val="4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7200" y="15544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40080" y="219456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tools/raycast_tunnel_epochs.py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2761488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Blender bpy + BVHTree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" y="3328416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T0 clean, Tn deformed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0080" y="3895344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Same 3 stations &amp; noise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" y="4462272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Export T0-T5 .txt/.json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00400" y="1371600"/>
            <a:ext cx="2560320" cy="402336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50800" dist="25400" dir="5400000">
              <a:srgbClr val="BFBFBF">
                <a:alpha val="4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200400" y="15544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Validator 1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3383280" y="219456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phase_c_validate.py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383280" y="2761488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Window-mean in frame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383280" y="3328416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Checks raycast fidelity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383280" y="3895344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Lower bound (bias low)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383280" y="4462272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Regenerable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943600" y="1371600"/>
            <a:ext cx="2560320" cy="402336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50800" dist="25400" dir="5400000">
              <a:srgbClr val="BFBFBF">
                <a:alpha val="4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943600" y="15544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Validator 2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6126480" y="219456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crosscheck_tool_step6.py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126480" y="2761488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Call Step 6 M3C2 (prod)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126480" y="3328416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Independent check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126480" y="3895344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Mm-level accuracy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126480" y="4462272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FINAL TRUTH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55864" y="557784"/>
            <a:ext cx="621792" cy="621792"/>
          </a:xfrm>
          <a:prstGeom prst="arc">
            <a:avLst>
              <a:gd name="adj1" fmla="val 10800000"/>
              <a:gd name="adj2" fmla="val 21600000"/>
            </a:avLst>
          </a:prstGeom>
          <a:noFill/>
          <a:ln w="15240">
            <a:solidFill>
              <a:srgbClr val="1C729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flipV="1">
            <a:off x="8366760" y="772608"/>
            <a:ext cx="295680" cy="96072"/>
          </a:xfrm>
          <a:prstGeom prst="line">
            <a:avLst/>
          </a:prstGeom>
          <a:noFill/>
          <a:ln w="9144">
            <a:solidFill>
              <a:srgbClr val="1C729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8366760" y="660650"/>
            <a:ext cx="231041" cy="208030"/>
          </a:xfrm>
          <a:prstGeom prst="line">
            <a:avLst/>
          </a:prstGeom>
          <a:noFill/>
          <a:ln w="9144">
            <a:solidFill>
              <a:srgbClr val="1C72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8366760" y="584662"/>
            <a:ext cx="126453" cy="284018"/>
          </a:xfrm>
          <a:prstGeom prst="line">
            <a:avLst/>
          </a:prstGeom>
          <a:noFill/>
          <a:ln w="9144">
            <a:solidFill>
              <a:srgbClr val="1C729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366760" y="557784"/>
            <a:ext cx="0" cy="310896"/>
          </a:xfrm>
          <a:prstGeom prst="line">
            <a:avLst/>
          </a:prstGeom>
          <a:noFill/>
          <a:ln w="9144">
            <a:solidFill>
              <a:srgbClr val="1C729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40307" y="584662"/>
            <a:ext cx="126453" cy="284018"/>
          </a:xfrm>
          <a:prstGeom prst="line">
            <a:avLst/>
          </a:prstGeom>
          <a:noFill/>
          <a:ln w="9144">
            <a:solidFill>
              <a:srgbClr val="1C729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135719" y="660650"/>
            <a:ext cx="231041" cy="208030"/>
          </a:xfrm>
          <a:prstGeom prst="line">
            <a:avLst/>
          </a:prstGeom>
          <a:noFill/>
          <a:ln w="9144">
            <a:solidFill>
              <a:srgbClr val="1C729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71080" y="772608"/>
            <a:ext cx="295680" cy="96072"/>
          </a:xfrm>
          <a:prstGeom prst="line">
            <a:avLst/>
          </a:prstGeom>
          <a:noFill/>
          <a:ln w="9144">
            <a:solidFill>
              <a:srgbClr val="1C729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329452" y="831372"/>
            <a:ext cx="74615" cy="74615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365760"/>
            <a:ext cx="7589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Validator 1: Window-Mean (Raycast Fidelity)</a:t>
            </a:r>
            <a:endParaRPr lang="en-US" sz="2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325880"/>
          <a:ext cx="7863840" cy="3291840"/>
        </p:xfrm>
        <a:graphic>
          <a:graphicData uri="http://schemas.openxmlformats.org/drawingml/2006/table">
            <a:tbl>
              <a:tblPr/>
              <a:tblGrid>
                <a:gridCol w="1188720"/>
                <a:gridCol w="1371600"/>
                <a:gridCol w="1371600"/>
                <a:gridCol w="1371600"/>
                <a:gridCol w="118872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Epoch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Crown err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Side err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 err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C7293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7EE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7EE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7EE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7EE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0.1mm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7EEF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0.1mm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7EE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7EE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7EE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7EE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0.8mm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7EEF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2.2mm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7EE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7EE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7EE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7EE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3.2mm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7EEF2"/>
                    </a:solidFill>
                  </a:tcPr>
                </a:tc>
              </a:tr>
            </a:tbl>
          </a:graphicData>
        </a:graphic>
      </p:graphicFrame>
      <p:sp>
        <p:nvSpPr>
          <p:cNvPr id="13" name="Text 10"/>
          <p:cNvSpPr/>
          <p:nvPr/>
        </p:nvSpPr>
        <p:spPr>
          <a:xfrm>
            <a:off x="640080" y="49377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Window-mean is lower bound; narrow features read low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55864" y="557784"/>
            <a:ext cx="621792" cy="621792"/>
          </a:xfrm>
          <a:prstGeom prst="arc">
            <a:avLst>
              <a:gd name="adj1" fmla="val 10800000"/>
              <a:gd name="adj2" fmla="val 21600000"/>
            </a:avLst>
          </a:prstGeom>
          <a:noFill/>
          <a:ln w="15240">
            <a:solidFill>
              <a:srgbClr val="2E7D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flipV="1">
            <a:off x="8366760" y="772608"/>
            <a:ext cx="295680" cy="96072"/>
          </a:xfrm>
          <a:prstGeom prst="line">
            <a:avLst/>
          </a:prstGeom>
          <a:noFill/>
          <a:ln w="9144">
            <a:solidFill>
              <a:srgbClr val="2E7D3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8366760" y="660650"/>
            <a:ext cx="231041" cy="208030"/>
          </a:xfrm>
          <a:prstGeom prst="line">
            <a:avLst/>
          </a:prstGeom>
          <a:noFill/>
          <a:ln w="9144">
            <a:solidFill>
              <a:srgbClr val="2E7D3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8366760" y="584662"/>
            <a:ext cx="126453" cy="284018"/>
          </a:xfrm>
          <a:prstGeom prst="line">
            <a:avLst/>
          </a:prstGeom>
          <a:noFill/>
          <a:ln w="9144">
            <a:solidFill>
              <a:srgbClr val="2E7D3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366760" y="557784"/>
            <a:ext cx="0" cy="310896"/>
          </a:xfrm>
          <a:prstGeom prst="line">
            <a:avLst/>
          </a:prstGeom>
          <a:noFill/>
          <a:ln w="9144">
            <a:solidFill>
              <a:srgbClr val="2E7D3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40307" y="584662"/>
            <a:ext cx="126453" cy="284018"/>
          </a:xfrm>
          <a:prstGeom prst="line">
            <a:avLst/>
          </a:prstGeom>
          <a:noFill/>
          <a:ln w="9144">
            <a:solidFill>
              <a:srgbClr val="2E7D3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135719" y="660650"/>
            <a:ext cx="231041" cy="208030"/>
          </a:xfrm>
          <a:prstGeom prst="line">
            <a:avLst/>
          </a:prstGeom>
          <a:noFill/>
          <a:ln w="9144">
            <a:solidFill>
              <a:srgbClr val="2E7D3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71080" y="772608"/>
            <a:ext cx="295680" cy="96072"/>
          </a:xfrm>
          <a:prstGeom prst="line">
            <a:avLst/>
          </a:prstGeom>
          <a:noFill/>
          <a:ln w="9144">
            <a:solidFill>
              <a:srgbClr val="2E7D3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329452" y="831372"/>
            <a:ext cx="74615" cy="74615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365760"/>
            <a:ext cx="7589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Validator 2: Tool M3C2 (py4dgeo) — FINAL TRUTH</a:t>
            </a:r>
            <a:endParaRPr lang="en-US" sz="2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325880"/>
          <a:ext cx="7863840" cy="3291840"/>
        </p:xfrm>
        <a:graphic>
          <a:graphicData uri="http://schemas.openxmlformats.org/drawingml/2006/table">
            <a:tbl>
              <a:tblPr/>
              <a:tblGrid>
                <a:gridCol w="1188720"/>
                <a:gridCol w="1371600"/>
                <a:gridCol w="1371600"/>
                <a:gridCol w="1371600"/>
                <a:gridCol w="118872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Epoch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Crown err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Side err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 err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Peak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E7D3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6EF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6EF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6EF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6EF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M3C2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6EFE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M3C2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6EF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6EF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6EF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6EF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M3C2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6EFE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M3C2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6EF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6EF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6EF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6EF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M3C2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6EFE7"/>
                    </a:solidFill>
                  </a:tcPr>
                </a:tc>
              </a:tr>
            </a:tbl>
          </a:graphicData>
        </a:graphic>
      </p:graphicFrame>
      <p:sp>
        <p:nvSpPr>
          <p:cNvPr id="13" name="Text 10"/>
          <p:cNvSpPr/>
          <p:nvPr/>
        </p:nvSpPr>
        <p:spPr>
          <a:xfrm>
            <a:off x="640080" y="49377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recovers GT ≤ 2.4mm peak — mm-level accurate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55864" y="557784"/>
            <a:ext cx="621792" cy="621792"/>
          </a:xfrm>
          <a:prstGeom prst="arc">
            <a:avLst>
              <a:gd name="adj1" fmla="val 10800000"/>
              <a:gd name="adj2" fmla="val 21600000"/>
            </a:avLst>
          </a:prstGeom>
          <a:noFill/>
          <a:ln w="15240">
            <a:solidFill>
              <a:srgbClr val="1C729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flipV="1">
            <a:off x="8366760" y="772608"/>
            <a:ext cx="295680" cy="96072"/>
          </a:xfrm>
          <a:prstGeom prst="line">
            <a:avLst/>
          </a:prstGeom>
          <a:noFill/>
          <a:ln w="9144">
            <a:solidFill>
              <a:srgbClr val="1C729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8366760" y="660650"/>
            <a:ext cx="231041" cy="208030"/>
          </a:xfrm>
          <a:prstGeom prst="line">
            <a:avLst/>
          </a:prstGeom>
          <a:noFill/>
          <a:ln w="9144">
            <a:solidFill>
              <a:srgbClr val="1C72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8366760" y="584662"/>
            <a:ext cx="126453" cy="284018"/>
          </a:xfrm>
          <a:prstGeom prst="line">
            <a:avLst/>
          </a:prstGeom>
          <a:noFill/>
          <a:ln w="9144">
            <a:solidFill>
              <a:srgbClr val="1C729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366760" y="557784"/>
            <a:ext cx="0" cy="310896"/>
          </a:xfrm>
          <a:prstGeom prst="line">
            <a:avLst/>
          </a:prstGeom>
          <a:noFill/>
          <a:ln w="9144">
            <a:solidFill>
              <a:srgbClr val="1C729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40307" y="584662"/>
            <a:ext cx="126453" cy="284018"/>
          </a:xfrm>
          <a:prstGeom prst="line">
            <a:avLst/>
          </a:prstGeom>
          <a:noFill/>
          <a:ln w="9144">
            <a:solidFill>
              <a:srgbClr val="1C729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135719" y="660650"/>
            <a:ext cx="231041" cy="208030"/>
          </a:xfrm>
          <a:prstGeom prst="line">
            <a:avLst/>
          </a:prstGeom>
          <a:noFill/>
          <a:ln w="9144">
            <a:solidFill>
              <a:srgbClr val="1C729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71080" y="772608"/>
            <a:ext cx="295680" cy="96072"/>
          </a:xfrm>
          <a:prstGeom prst="line">
            <a:avLst/>
          </a:prstGeom>
          <a:noFill/>
          <a:ln w="9144">
            <a:solidFill>
              <a:srgbClr val="1C729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329452" y="831372"/>
            <a:ext cx="74615" cy="74615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365760"/>
            <a:ext cx="7589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Ground Truth by Epoch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640080" y="12344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Crown Settlement @ 20m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22960" y="16459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T0: 0   T1: -5   T2: -12   T3: -20   T4: -30   T5: -45 mm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68680" y="2487168"/>
            <a:ext cx="384048" cy="7315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5" name="Shape 13"/>
          <p:cNvSpPr/>
          <p:nvPr/>
        </p:nvSpPr>
        <p:spPr>
          <a:xfrm>
            <a:off x="1435608" y="2431288"/>
            <a:ext cx="384048" cy="12903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6" name="Shape 14"/>
          <p:cNvSpPr/>
          <p:nvPr/>
        </p:nvSpPr>
        <p:spPr>
          <a:xfrm>
            <a:off x="2002536" y="2353056"/>
            <a:ext cx="384048" cy="20726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7" name="Shape 15"/>
          <p:cNvSpPr/>
          <p:nvPr/>
        </p:nvSpPr>
        <p:spPr>
          <a:xfrm>
            <a:off x="2569464" y="2263648"/>
            <a:ext cx="384048" cy="29667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8" name="Shape 16"/>
          <p:cNvSpPr/>
          <p:nvPr/>
        </p:nvSpPr>
        <p:spPr>
          <a:xfrm>
            <a:off x="3136392" y="2151888"/>
            <a:ext cx="384048" cy="40843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9" name="Shape 17"/>
          <p:cNvSpPr/>
          <p:nvPr/>
        </p:nvSpPr>
        <p:spPr>
          <a:xfrm>
            <a:off x="3703320" y="1984248"/>
            <a:ext cx="384048" cy="57607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27432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Sidewall Convergence @ 45m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22960" y="31546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T0: 0   T1: 0   T2: -5   T3: -12   T4: -22   T5: -35 mm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68680" y="3995928"/>
            <a:ext cx="384048" cy="7315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3" name="Shape 21"/>
          <p:cNvSpPr/>
          <p:nvPr/>
        </p:nvSpPr>
        <p:spPr>
          <a:xfrm>
            <a:off x="1435608" y="3995928"/>
            <a:ext cx="384048" cy="7315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4" name="Shape 22"/>
          <p:cNvSpPr/>
          <p:nvPr/>
        </p:nvSpPr>
        <p:spPr>
          <a:xfrm>
            <a:off x="2002536" y="3940048"/>
            <a:ext cx="384048" cy="12903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5" name="Shape 23"/>
          <p:cNvSpPr/>
          <p:nvPr/>
        </p:nvSpPr>
        <p:spPr>
          <a:xfrm>
            <a:off x="2569464" y="3861816"/>
            <a:ext cx="384048" cy="20726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6" name="Shape 24"/>
          <p:cNvSpPr/>
          <p:nvPr/>
        </p:nvSpPr>
        <p:spPr>
          <a:xfrm>
            <a:off x="3136392" y="3750056"/>
            <a:ext cx="384048" cy="31902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7" name="Shape 25"/>
          <p:cNvSpPr/>
          <p:nvPr/>
        </p:nvSpPr>
        <p:spPr>
          <a:xfrm>
            <a:off x="3703320" y="3604768"/>
            <a:ext cx="384048" cy="46431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" y="42519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Damage @ 65m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822960" y="46634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T0: 0   T1: 0   T2: 0   T3: -15   T4: -25   T5: -40 mm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868680" y="5504688"/>
            <a:ext cx="384048" cy="7315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1" name="Shape 29"/>
          <p:cNvSpPr/>
          <p:nvPr/>
        </p:nvSpPr>
        <p:spPr>
          <a:xfrm>
            <a:off x="1435608" y="5504688"/>
            <a:ext cx="384048" cy="7315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2" name="Shape 30"/>
          <p:cNvSpPr/>
          <p:nvPr/>
        </p:nvSpPr>
        <p:spPr>
          <a:xfrm>
            <a:off x="2002536" y="5504688"/>
            <a:ext cx="384048" cy="7315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3" name="Shape 31"/>
          <p:cNvSpPr/>
          <p:nvPr/>
        </p:nvSpPr>
        <p:spPr>
          <a:xfrm>
            <a:off x="2569464" y="5337048"/>
            <a:ext cx="384048" cy="24079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4" name="Shape 32"/>
          <p:cNvSpPr/>
          <p:nvPr/>
        </p:nvSpPr>
        <p:spPr>
          <a:xfrm>
            <a:off x="3136392" y="5225288"/>
            <a:ext cx="384048" cy="35255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5" name="Shape 33"/>
          <p:cNvSpPr/>
          <p:nvPr/>
        </p:nvSpPr>
        <p:spPr>
          <a:xfrm>
            <a:off x="3703320" y="5057648"/>
            <a:ext cx="384048" cy="520192"/>
          </a:xfrm>
          <a:prstGeom prst="rect">
            <a:avLst/>
          </a:prstGeom>
          <a:solidFill>
            <a:srgbClr val="065A82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55864" y="557784"/>
            <a:ext cx="621792" cy="621792"/>
          </a:xfrm>
          <a:prstGeom prst="arc">
            <a:avLst>
              <a:gd name="adj1" fmla="val 10800000"/>
              <a:gd name="adj2" fmla="val 21600000"/>
            </a:avLst>
          </a:prstGeom>
          <a:noFill/>
          <a:ln w="15240">
            <a:solidFill>
              <a:srgbClr val="1C729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flipV="1">
            <a:off x="8366760" y="772608"/>
            <a:ext cx="295680" cy="96072"/>
          </a:xfrm>
          <a:prstGeom prst="line">
            <a:avLst/>
          </a:prstGeom>
          <a:noFill/>
          <a:ln w="9144">
            <a:solidFill>
              <a:srgbClr val="1C729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8366760" y="660650"/>
            <a:ext cx="231041" cy="208030"/>
          </a:xfrm>
          <a:prstGeom prst="line">
            <a:avLst/>
          </a:prstGeom>
          <a:noFill/>
          <a:ln w="9144">
            <a:solidFill>
              <a:srgbClr val="1C72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8366760" y="584662"/>
            <a:ext cx="126453" cy="284018"/>
          </a:xfrm>
          <a:prstGeom prst="line">
            <a:avLst/>
          </a:prstGeom>
          <a:noFill/>
          <a:ln w="9144">
            <a:solidFill>
              <a:srgbClr val="1C729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366760" y="557784"/>
            <a:ext cx="0" cy="310896"/>
          </a:xfrm>
          <a:prstGeom prst="line">
            <a:avLst/>
          </a:prstGeom>
          <a:noFill/>
          <a:ln w="9144">
            <a:solidFill>
              <a:srgbClr val="1C729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40307" y="584662"/>
            <a:ext cx="126453" cy="284018"/>
          </a:xfrm>
          <a:prstGeom prst="line">
            <a:avLst/>
          </a:prstGeom>
          <a:noFill/>
          <a:ln w="9144">
            <a:solidFill>
              <a:srgbClr val="1C729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135719" y="660650"/>
            <a:ext cx="231041" cy="208030"/>
          </a:xfrm>
          <a:prstGeom prst="line">
            <a:avLst/>
          </a:prstGeom>
          <a:noFill/>
          <a:ln w="9144">
            <a:solidFill>
              <a:srgbClr val="1C729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71080" y="772608"/>
            <a:ext cx="295680" cy="96072"/>
          </a:xfrm>
          <a:prstGeom prst="line">
            <a:avLst/>
          </a:prstGeom>
          <a:noFill/>
          <a:ln w="9144">
            <a:solidFill>
              <a:srgbClr val="1C729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329452" y="831372"/>
            <a:ext cx="74615" cy="74615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365760"/>
            <a:ext cx="7589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Validation</a:t>
            </a:r>
            <a:endParaRPr lang="en-US" sz="3400" dirty="0"/>
          </a:p>
        </p:txBody>
      </p:sp>
      <p:sp>
        <p:nvSpPr>
          <p:cNvPr id="12" name="Shape 10"/>
          <p:cNvSpPr/>
          <p:nvPr/>
        </p:nvSpPr>
        <p:spPr>
          <a:xfrm>
            <a:off x="731520" y="1325880"/>
            <a:ext cx="329184" cy="329184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132588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34440" y="1280160"/>
            <a:ext cx="7406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Geometry verified via Blender MCP inspection (R=500, radius 4.25m, curve centerline)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" y="2103120"/>
            <a:ext cx="329184" cy="329184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210312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34440" y="2057400"/>
            <a:ext cx="7406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robustness: scripts resolve via __file__ (run from any cwd)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31520" y="2880360"/>
            <a:ext cx="329184" cy="329184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288036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234440" y="2834640"/>
            <a:ext cx="7406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series T0-T5 generated (112k-112.5k points/epoch, ~4.2MB each)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31520" y="3657600"/>
            <a:ext cx="329184" cy="329184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365760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234440" y="3611880"/>
            <a:ext cx="7406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independent validators (window-mean + tool M3C2)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31520" y="4434840"/>
            <a:ext cx="329184" cy="329184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" y="443484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234440" y="4389120"/>
            <a:ext cx="7406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25MB regenerable point clouds gitignored; metadata/CSV tracked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548640"/>
            <a:ext cx="731520" cy="731520"/>
          </a:xfrm>
          <a:prstGeom prst="arc">
            <a:avLst>
              <a:gd name="adj1" fmla="val 10800000"/>
              <a:gd name="adj2" fmla="val 21600000"/>
            </a:avLst>
          </a:prstGeom>
          <a:noFill/>
          <a:ln w="16510">
            <a:solidFill>
              <a:srgbClr val="CADC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flipV="1">
            <a:off x="8321040" y="801374"/>
            <a:ext cx="347858" cy="113026"/>
          </a:xfrm>
          <a:prstGeom prst="line">
            <a:avLst/>
          </a:prstGeom>
          <a:noFill/>
          <a:ln w="9906">
            <a:solidFill>
              <a:srgbClr val="CADCF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8321040" y="669659"/>
            <a:ext cx="271813" cy="244741"/>
          </a:xfrm>
          <a:prstGeom prst="line">
            <a:avLst/>
          </a:prstGeom>
          <a:noFill/>
          <a:ln w="9906">
            <a:solidFill>
              <a:srgbClr val="CADC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8321040" y="580262"/>
            <a:ext cx="148768" cy="334138"/>
          </a:xfrm>
          <a:prstGeom prst="line">
            <a:avLst/>
          </a:prstGeom>
          <a:noFill/>
          <a:ln w="9906">
            <a:solidFill>
              <a:srgbClr val="CADCF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321040" y="548640"/>
            <a:ext cx="0" cy="365760"/>
          </a:xfrm>
          <a:prstGeom prst="line">
            <a:avLst/>
          </a:prstGeom>
          <a:noFill/>
          <a:ln w="9906">
            <a:solidFill>
              <a:srgbClr val="CADCF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172272" y="580262"/>
            <a:ext cx="148768" cy="334138"/>
          </a:xfrm>
          <a:prstGeom prst="line">
            <a:avLst/>
          </a:prstGeom>
          <a:noFill/>
          <a:ln w="9906">
            <a:solidFill>
              <a:srgbClr val="CADCF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049227" y="669659"/>
            <a:ext cx="271813" cy="244741"/>
          </a:xfrm>
          <a:prstGeom prst="line">
            <a:avLst/>
          </a:prstGeom>
          <a:noFill/>
          <a:ln w="9906">
            <a:solidFill>
              <a:srgbClr val="CADCF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973182" y="801374"/>
            <a:ext cx="347858" cy="113026"/>
          </a:xfrm>
          <a:prstGeom prst="line">
            <a:avLst/>
          </a:prstGeom>
          <a:noFill/>
          <a:ln w="9906">
            <a:solidFill>
              <a:srgbClr val="CADCF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77149" y="870509"/>
            <a:ext cx="87782" cy="87782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457200"/>
            <a:ext cx="7589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Conclusions</a:t>
            </a:r>
            <a:endParaRPr lang="en-US" sz="3800" dirty="0"/>
          </a:p>
        </p:txBody>
      </p:sp>
      <p:sp>
        <p:nvSpPr>
          <p:cNvPr id="12" name="Shape 10"/>
          <p:cNvSpPr/>
          <p:nvPr/>
        </p:nvSpPr>
        <p:spPr>
          <a:xfrm>
            <a:off x="731520" y="1773936"/>
            <a:ext cx="164592" cy="164592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3" name="Text 11"/>
          <p:cNvSpPr/>
          <p:nvPr/>
        </p:nvSpPr>
        <p:spPr>
          <a:xfrm>
            <a:off x="1143000" y="1627632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Step 6 (py4dgeo M3C2) is mm-level accurate on curved tunnel geometry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31520" y="2734056"/>
            <a:ext cx="164592" cy="164592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5" name="Text 13"/>
          <p:cNvSpPr/>
          <p:nvPr/>
        </p:nvSpPr>
        <p:spPr>
          <a:xfrm>
            <a:off x="1143000" y="2587752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Raycasting ground truth validates the measurement pipeline end-to-end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31520" y="3694176"/>
            <a:ext cx="164592" cy="164592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7" name="Text 15"/>
          <p:cNvSpPr/>
          <p:nvPr/>
        </p:nvSpPr>
        <p:spPr>
          <a:xfrm>
            <a:off x="1143000" y="3547872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engine architecture eliminates config-drift risk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31520" y="4654296"/>
            <a:ext cx="164592" cy="164592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9" name="Text 17"/>
          <p:cNvSpPr/>
          <p:nvPr/>
        </p:nvSpPr>
        <p:spPr>
          <a:xfrm>
            <a:off x="1143000" y="4507992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for next phase: higher ray density (0.5°) or real-world validation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55864" y="557784"/>
            <a:ext cx="621792" cy="621792"/>
          </a:xfrm>
          <a:prstGeom prst="arc">
            <a:avLst>
              <a:gd name="adj1" fmla="val 10800000"/>
              <a:gd name="adj2" fmla="val 21600000"/>
            </a:avLst>
          </a:prstGeom>
          <a:noFill/>
          <a:ln w="15240">
            <a:solidFill>
              <a:srgbClr val="1C729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flipV="1">
            <a:off x="8366760" y="772608"/>
            <a:ext cx="295680" cy="96072"/>
          </a:xfrm>
          <a:prstGeom prst="line">
            <a:avLst/>
          </a:prstGeom>
          <a:noFill/>
          <a:ln w="9144">
            <a:solidFill>
              <a:srgbClr val="1C729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8366760" y="660650"/>
            <a:ext cx="231041" cy="208030"/>
          </a:xfrm>
          <a:prstGeom prst="line">
            <a:avLst/>
          </a:prstGeom>
          <a:noFill/>
          <a:ln w="9144">
            <a:solidFill>
              <a:srgbClr val="1C72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8366760" y="584662"/>
            <a:ext cx="126453" cy="284018"/>
          </a:xfrm>
          <a:prstGeom prst="line">
            <a:avLst/>
          </a:prstGeom>
          <a:noFill/>
          <a:ln w="9144">
            <a:solidFill>
              <a:srgbClr val="1C729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366760" y="557784"/>
            <a:ext cx="0" cy="310896"/>
          </a:xfrm>
          <a:prstGeom prst="line">
            <a:avLst/>
          </a:prstGeom>
          <a:noFill/>
          <a:ln w="9144">
            <a:solidFill>
              <a:srgbClr val="1C729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40307" y="584662"/>
            <a:ext cx="126453" cy="284018"/>
          </a:xfrm>
          <a:prstGeom prst="line">
            <a:avLst/>
          </a:prstGeom>
          <a:noFill/>
          <a:ln w="9144">
            <a:solidFill>
              <a:srgbClr val="1C729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135719" y="660650"/>
            <a:ext cx="231041" cy="208030"/>
          </a:xfrm>
          <a:prstGeom prst="line">
            <a:avLst/>
          </a:prstGeom>
          <a:noFill/>
          <a:ln w="9144">
            <a:solidFill>
              <a:srgbClr val="1C729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71080" y="772608"/>
            <a:ext cx="295680" cy="96072"/>
          </a:xfrm>
          <a:prstGeom prst="line">
            <a:avLst/>
          </a:prstGeom>
          <a:noFill/>
          <a:ln w="9144">
            <a:solidFill>
              <a:srgbClr val="1C729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329452" y="831372"/>
            <a:ext cx="74615" cy="74615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365760"/>
            <a:ext cx="7589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Delivery Summary</a:t>
            </a:r>
            <a:endParaRPr lang="en-US" sz="3400" dirty="0"/>
          </a:p>
        </p:txBody>
      </p:sp>
      <p:sp>
        <p:nvSpPr>
          <p:cNvPr id="12" name="Shape 10"/>
          <p:cNvSpPr/>
          <p:nvPr/>
        </p:nvSpPr>
        <p:spPr>
          <a:xfrm>
            <a:off x="640080" y="1554480"/>
            <a:ext cx="2194560" cy="1737360"/>
          </a:xfrm>
          <a:prstGeom prst="roundRect">
            <a:avLst>
              <a:gd name="adj" fmla="val 4211"/>
            </a:avLst>
          </a:prstGeom>
          <a:solidFill>
            <a:srgbClr val="1C7293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17830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31520" y="228600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T0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(engine verified)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00400" y="1554480"/>
            <a:ext cx="2194560" cy="1737360"/>
          </a:xfrm>
          <a:prstGeom prst="roundRect">
            <a:avLst>
              <a:gd name="adj" fmla="val 4211"/>
            </a:avLst>
          </a:prstGeom>
          <a:solidFill>
            <a:srgbClr val="1C7293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0" y="17830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B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291840" y="228600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Deformed T1-T5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(series generated)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760720" y="1554480"/>
            <a:ext cx="2194560" cy="1737360"/>
          </a:xfrm>
          <a:prstGeom prst="roundRect">
            <a:avLst>
              <a:gd name="adj" fmla="val 4211"/>
            </a:avLst>
          </a:prstGeom>
          <a:solidFill>
            <a:srgbClr val="1C7293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760720" y="17830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C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852160" y="228600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 validators, PASS)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852928" y="2212848"/>
            <a:ext cx="329184" cy="411480"/>
          </a:xfrm>
          <a:prstGeom prst="rightArrow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13248" y="2212848"/>
            <a:ext cx="329184" cy="411480"/>
          </a:xfrm>
          <a:prstGeom prst="rightArrow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411480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Scripts: 3 main (engine, 2 validators) + plotter + cross-check     |     Data: T0-T5 JSON, validation CSV, series plot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2026-06-28T17:21:47Z</dcterms:created>
  <dcterms:modified xsi:type="dcterms:W3CDTF">2026-06-28T17:21:47Z</dcterms:modified>
</cp:coreProperties>
</file>