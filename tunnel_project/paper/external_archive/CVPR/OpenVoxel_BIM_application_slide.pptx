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how OpenVoxel can be adapted to IFC/BIM. IFC already has structured components, so we do not need voxel grouping like the original paper. Instead, we extract BIM elements, create semantic descriptions using IFC metadata, geometry, and spatial relations, then build a BIM scene map. With this map, users can retrieve components using natural-language queries, such as finding concrete columns on Level 2 or beams connected to a slab.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02920" y="320040"/>
            <a:ext cx="11155680" cy="502920"/>
          </a:xfrm>
          <a:prstGeom prst="rect">
            <a:avLst/>
          </a:prstGeom>
          <a:noFill/>
          <a:ln/>
        </p:spPr>
        <p:txBody>
          <a:bodyPr wrap="square" lIns="635" tIns="635" rIns="635" bIns="635" rtlCol="0" anchor="ctr">
            <a:normAutofit/>
          </a:bodyPr>
          <a:lstStyle/>
          <a:p>
            <a:pPr algn="l" indent="0" marL="0">
              <a:buNone/>
            </a:pPr>
            <a:r>
              <a:rPr lang="en-US" sz="3000" b="1" dirty="0">
                <a:solidFill>
                  <a:srgbClr val="0F172A"/>
                </a:solidFill>
                <a:latin typeface="Aptos Display" pitchFamily="34" charset="0"/>
                <a:ea typeface="Aptos Display" pitchFamily="34" charset="-122"/>
                <a:cs typeface="Aptos Display" pitchFamily="34" charset="-120"/>
              </a:rPr>
              <a:t>Applying OpenVoxel Ideas to IFC/BIM Component Recognition</a:t>
            </a:r>
            <a:endParaRPr lang="en-US" sz="3000" dirty="0"/>
          </a:p>
        </p:txBody>
      </p:sp>
      <p:sp>
        <p:nvSpPr>
          <p:cNvPr id="3" name="Text 1"/>
          <p:cNvSpPr/>
          <p:nvPr/>
        </p:nvSpPr>
        <p:spPr>
          <a:xfrm>
            <a:off x="530352" y="868680"/>
            <a:ext cx="10972800" cy="320040"/>
          </a:xfrm>
          <a:prstGeom prst="rect">
            <a:avLst/>
          </a:prstGeom>
          <a:noFill/>
          <a:ln/>
        </p:spPr>
        <p:txBody>
          <a:bodyPr wrap="square" lIns="635" tIns="635" rIns="635" bIns="635" rtlCol="0" anchor="ctr">
            <a:normAutofit/>
          </a:bodyPr>
          <a:lstStyle/>
          <a:p>
            <a:pPr algn="l" indent="0" marL="0">
              <a:buNone/>
            </a:pPr>
            <a:r>
              <a:rPr lang="en-US" sz="1500" dirty="0">
                <a:solidFill>
                  <a:srgbClr val="475569"/>
                </a:solidFill>
                <a:latin typeface="Aptos" pitchFamily="34" charset="0"/>
                <a:ea typeface="Aptos" pitchFamily="34" charset="-122"/>
                <a:cs typeface="Aptos" pitchFamily="34" charset="-120"/>
              </a:rPr>
              <a:t>Core adaptation: replace voxel grouping with BIM element extraction, then use a captioned scene map for text-based retrieval.</a:t>
            </a:r>
            <a:endParaRPr lang="en-US" sz="1500" dirty="0"/>
          </a:p>
        </p:txBody>
      </p:sp>
      <p:sp>
        <p:nvSpPr>
          <p:cNvPr id="4" name="Shape 2"/>
          <p:cNvSpPr/>
          <p:nvPr/>
        </p:nvSpPr>
        <p:spPr>
          <a:xfrm>
            <a:off x="594360" y="1417320"/>
            <a:ext cx="5257800" cy="1143000"/>
          </a:xfrm>
          <a:prstGeom prst="roundRect">
            <a:avLst>
              <a:gd name="adj" fmla="val 6400"/>
            </a:avLst>
          </a:prstGeom>
          <a:solidFill>
            <a:srgbClr val="EEF6FF"/>
          </a:solidFill>
          <a:ln w="12700">
            <a:solidFill>
              <a:srgbClr val="93C5FD"/>
            </a:solidFill>
            <a:prstDash val="solid"/>
          </a:ln>
        </p:spPr>
      </p:sp>
      <p:sp>
        <p:nvSpPr>
          <p:cNvPr id="5" name="Text 3"/>
          <p:cNvSpPr/>
          <p:nvPr/>
        </p:nvSpPr>
        <p:spPr>
          <a:xfrm>
            <a:off x="704088" y="1490472"/>
            <a:ext cx="5038344" cy="996696"/>
          </a:xfrm>
          <a:prstGeom prst="rect">
            <a:avLst/>
          </a:prstGeom>
          <a:noFill/>
          <a:ln/>
        </p:spPr>
        <p:txBody>
          <a:bodyPr wrap="square" lIns="635" tIns="635" rIns="635" bIns="635" rtlCol="0" anchor="ctr">
            <a:normAutofit/>
          </a:bodyPr>
          <a:lstStyle/>
          <a:p>
            <a:pPr algn="ctr" indent="0" marL="0">
              <a:buNone/>
            </a:pPr>
            <a:r>
              <a:rPr lang="en-US" sz="1700" dirty="0">
                <a:solidFill>
                  <a:srgbClr val="0F172A"/>
                </a:solidFill>
                <a:latin typeface="Aptos" pitchFamily="34" charset="0"/>
                <a:ea typeface="Aptos" pitchFamily="34" charset="-122"/>
                <a:cs typeface="Aptos" pitchFamily="34" charset="-120"/>
              </a:rPr>
              <a:t>OpenVoxel</a:t>
            </a:r>
            <a:endParaRPr lang="en-US" sz="1700" dirty="0"/>
          </a:p>
          <a:p>
            <a:pPr algn="ctr" indent="0" marL="0">
              <a:buNone/>
            </a:pPr>
            <a:r>
              <a:rPr lang="en-US" sz="1700" dirty="0">
                <a:solidFill>
                  <a:srgbClr val="0F172A"/>
                </a:solidFill>
                <a:latin typeface="Aptos" pitchFamily="34" charset="0"/>
                <a:ea typeface="Aptos" pitchFamily="34" charset="-122"/>
                <a:cs typeface="Aptos" pitchFamily="34" charset="-120"/>
              </a:rPr>
              <a:t>3D voxels → object groups → object captions → text query</a:t>
            </a:r>
            <a:endParaRPr lang="en-US" sz="1700" dirty="0"/>
          </a:p>
        </p:txBody>
      </p:sp>
      <p:sp>
        <p:nvSpPr>
          <p:cNvPr id="6" name="Shape 4"/>
          <p:cNvSpPr/>
          <p:nvPr/>
        </p:nvSpPr>
        <p:spPr>
          <a:xfrm>
            <a:off x="6355080" y="1417320"/>
            <a:ext cx="5257800" cy="1143000"/>
          </a:xfrm>
          <a:prstGeom prst="roundRect">
            <a:avLst>
              <a:gd name="adj" fmla="val 6400"/>
            </a:avLst>
          </a:prstGeom>
          <a:solidFill>
            <a:srgbClr val="F0FDF4"/>
          </a:solidFill>
          <a:ln w="12700">
            <a:solidFill>
              <a:srgbClr val="86EFAC"/>
            </a:solidFill>
            <a:prstDash val="solid"/>
          </a:ln>
        </p:spPr>
      </p:sp>
      <p:sp>
        <p:nvSpPr>
          <p:cNvPr id="7" name="Text 5"/>
          <p:cNvSpPr/>
          <p:nvPr/>
        </p:nvSpPr>
        <p:spPr>
          <a:xfrm>
            <a:off x="6464808" y="1490472"/>
            <a:ext cx="5038344" cy="996696"/>
          </a:xfrm>
          <a:prstGeom prst="rect">
            <a:avLst/>
          </a:prstGeom>
          <a:noFill/>
          <a:ln/>
        </p:spPr>
        <p:txBody>
          <a:bodyPr wrap="square" lIns="635" tIns="635" rIns="635" bIns="635" rtlCol="0" anchor="ctr">
            <a:normAutofit/>
          </a:bodyPr>
          <a:lstStyle/>
          <a:p>
            <a:pPr algn="ctr" indent="0" marL="0">
              <a:buNone/>
            </a:pPr>
            <a:r>
              <a:rPr lang="en-US" sz="1700" dirty="0">
                <a:solidFill>
                  <a:srgbClr val="0F172A"/>
                </a:solidFill>
                <a:latin typeface="Aptos" pitchFamily="34" charset="0"/>
                <a:ea typeface="Aptos" pitchFamily="34" charset="-122"/>
                <a:cs typeface="Aptos" pitchFamily="34" charset="-120"/>
              </a:rPr>
              <a:t>IFC/BIM Adaptation</a:t>
            </a:r>
            <a:endParaRPr lang="en-US" sz="1700" dirty="0"/>
          </a:p>
          <a:p>
            <a:pPr algn="ctr" indent="0" marL="0">
              <a:buNone/>
            </a:pPr>
            <a:r>
              <a:rPr lang="en-US" sz="1700" dirty="0">
                <a:solidFill>
                  <a:srgbClr val="0F172A"/>
                </a:solidFill>
                <a:latin typeface="Aptos" pitchFamily="34" charset="0"/>
                <a:ea typeface="Aptos" pitchFamily="34" charset="-122"/>
                <a:cs typeface="Aptos" pitchFamily="34" charset="-120"/>
              </a:rPr>
              <a:t>IFC elements → element descriptions → BIM scene map → text query</a:t>
            </a:r>
            <a:endParaRPr lang="en-US" sz="1700" dirty="0"/>
          </a:p>
        </p:txBody>
      </p:sp>
      <p:sp>
        <p:nvSpPr>
          <p:cNvPr id="8" name="Shape 6"/>
          <p:cNvSpPr/>
          <p:nvPr/>
        </p:nvSpPr>
        <p:spPr>
          <a:xfrm>
            <a:off x="5943600" y="1984248"/>
            <a:ext cx="347472" cy="0"/>
          </a:xfrm>
          <a:prstGeom prst="line">
            <a:avLst/>
          </a:prstGeom>
          <a:noFill/>
          <a:ln w="25400">
            <a:solidFill>
              <a:srgbClr val="64748B"/>
            </a:solidFill>
            <a:prstDash val="solid"/>
            <a:headEnd type="none"/>
            <a:tailEnd type="triangle"/>
          </a:ln>
        </p:spPr>
      </p:sp>
      <p:sp>
        <p:nvSpPr>
          <p:cNvPr id="9" name="Text 7"/>
          <p:cNvSpPr/>
          <p:nvPr/>
        </p:nvSpPr>
        <p:spPr>
          <a:xfrm>
            <a:off x="594360" y="2880360"/>
            <a:ext cx="4572000" cy="320040"/>
          </a:xfrm>
          <a:prstGeom prst="rect">
            <a:avLst/>
          </a:prstGeom>
          <a:noFill/>
          <a:ln/>
        </p:spPr>
        <p:txBody>
          <a:bodyPr wrap="square" lIns="635" tIns="635" rIns="635" bIns="635" rtlCol="0" anchor="ctr">
            <a:normAutofit/>
          </a:bodyPr>
          <a:lstStyle/>
          <a:p>
            <a:pPr algn="l" indent="0" marL="0">
              <a:buNone/>
            </a:pPr>
            <a:r>
              <a:rPr lang="en-US" sz="2000" b="1" dirty="0">
                <a:solidFill>
                  <a:srgbClr val="0F172A"/>
                </a:solidFill>
                <a:latin typeface="Aptos" pitchFamily="34" charset="0"/>
                <a:ea typeface="Aptos" pitchFamily="34" charset="-122"/>
                <a:cs typeface="Aptos" pitchFamily="34" charset="-120"/>
              </a:rPr>
              <a:t>Proposed BIM workflow</a:t>
            </a:r>
            <a:endParaRPr lang="en-US" sz="2000" dirty="0"/>
          </a:p>
        </p:txBody>
      </p:sp>
      <p:sp>
        <p:nvSpPr>
          <p:cNvPr id="10" name="Shape 8"/>
          <p:cNvSpPr/>
          <p:nvPr/>
        </p:nvSpPr>
        <p:spPr>
          <a:xfrm>
            <a:off x="640080" y="3429000"/>
            <a:ext cx="1874520" cy="658368"/>
          </a:xfrm>
          <a:prstGeom prst="roundRect">
            <a:avLst>
              <a:gd name="adj" fmla="val 11111"/>
            </a:avLst>
          </a:prstGeom>
          <a:solidFill>
            <a:srgbClr val="FFFFFF"/>
          </a:solidFill>
          <a:ln w="12700">
            <a:solidFill>
              <a:srgbClr val="CBD5E1"/>
            </a:solidFill>
            <a:prstDash val="solid"/>
          </a:ln>
        </p:spPr>
      </p:sp>
      <p:sp>
        <p:nvSpPr>
          <p:cNvPr id="11" name="Text 9"/>
          <p:cNvSpPr/>
          <p:nvPr/>
        </p:nvSpPr>
        <p:spPr>
          <a:xfrm>
            <a:off x="749808" y="3502152"/>
            <a:ext cx="1655064" cy="512064"/>
          </a:xfrm>
          <a:prstGeom prst="rect">
            <a:avLst/>
          </a:prstGeom>
          <a:noFill/>
          <a:ln/>
        </p:spPr>
        <p:txBody>
          <a:bodyPr wrap="square" lIns="635" tIns="635" rIns="635" bIns="635" rtlCol="0" anchor="ctr">
            <a:normAutofit/>
          </a:bodyPr>
          <a:lstStyle/>
          <a:p>
            <a:pPr algn="ctr" indent="0" marL="0">
              <a:buNone/>
            </a:pPr>
            <a:r>
              <a:rPr lang="en-US" sz="1500" b="1" dirty="0">
                <a:solidFill>
                  <a:srgbClr val="0F172A"/>
                </a:solidFill>
                <a:latin typeface="Aptos" pitchFamily="34" charset="0"/>
                <a:ea typeface="Aptos" pitchFamily="34" charset="-122"/>
                <a:cs typeface="Aptos" pitchFamily="34" charset="-120"/>
              </a:rPr>
              <a:t>IFC/BIM</a:t>
            </a:r>
            <a:endParaRPr lang="en-US" sz="1500" dirty="0"/>
          </a:p>
          <a:p>
            <a:pPr algn="ctr" indent="0" marL="0">
              <a:buNone/>
            </a:pPr>
            <a:r>
              <a:rPr lang="en-US" sz="1500" b="1" dirty="0">
                <a:solidFill>
                  <a:srgbClr val="0F172A"/>
                </a:solidFill>
                <a:latin typeface="Aptos" pitchFamily="34" charset="0"/>
                <a:ea typeface="Aptos" pitchFamily="34" charset="-122"/>
                <a:cs typeface="Aptos" pitchFamily="34" charset="-120"/>
              </a:rPr>
              <a:t>model</a:t>
            </a:r>
            <a:endParaRPr lang="en-US" sz="1500" dirty="0"/>
          </a:p>
        </p:txBody>
      </p:sp>
      <p:sp>
        <p:nvSpPr>
          <p:cNvPr id="12" name="Shape 10"/>
          <p:cNvSpPr/>
          <p:nvPr/>
        </p:nvSpPr>
        <p:spPr>
          <a:xfrm>
            <a:off x="2788920" y="3429000"/>
            <a:ext cx="1874520" cy="658368"/>
          </a:xfrm>
          <a:prstGeom prst="roundRect">
            <a:avLst>
              <a:gd name="adj" fmla="val 11111"/>
            </a:avLst>
          </a:prstGeom>
          <a:solidFill>
            <a:srgbClr val="FFFFFF"/>
          </a:solidFill>
          <a:ln w="12700">
            <a:solidFill>
              <a:srgbClr val="CBD5E1"/>
            </a:solidFill>
            <a:prstDash val="solid"/>
          </a:ln>
        </p:spPr>
      </p:sp>
      <p:sp>
        <p:nvSpPr>
          <p:cNvPr id="13" name="Text 11"/>
          <p:cNvSpPr/>
          <p:nvPr/>
        </p:nvSpPr>
        <p:spPr>
          <a:xfrm>
            <a:off x="2898648" y="3502152"/>
            <a:ext cx="1655064" cy="512064"/>
          </a:xfrm>
          <a:prstGeom prst="rect">
            <a:avLst/>
          </a:prstGeom>
          <a:noFill/>
          <a:ln/>
        </p:spPr>
        <p:txBody>
          <a:bodyPr wrap="square" lIns="635" tIns="635" rIns="635" bIns="635" rtlCol="0" anchor="ctr">
            <a:normAutofit/>
          </a:bodyPr>
          <a:lstStyle/>
          <a:p>
            <a:pPr algn="ctr" indent="0" marL="0">
              <a:buNone/>
            </a:pPr>
            <a:r>
              <a:rPr lang="en-US" sz="1500" b="1" dirty="0">
                <a:solidFill>
                  <a:srgbClr val="0F172A"/>
                </a:solidFill>
                <a:latin typeface="Aptos" pitchFamily="34" charset="0"/>
                <a:ea typeface="Aptos" pitchFamily="34" charset="-122"/>
                <a:cs typeface="Aptos" pitchFamily="34" charset="-120"/>
              </a:rPr>
              <a:t>Extract</a:t>
            </a:r>
            <a:endParaRPr lang="en-US" sz="1500" dirty="0"/>
          </a:p>
          <a:p>
            <a:pPr algn="ctr" indent="0" marL="0">
              <a:buNone/>
            </a:pPr>
            <a:r>
              <a:rPr lang="en-US" sz="1500" b="1" dirty="0">
                <a:solidFill>
                  <a:srgbClr val="0F172A"/>
                </a:solidFill>
                <a:latin typeface="Aptos" pitchFamily="34" charset="0"/>
                <a:ea typeface="Aptos" pitchFamily="34" charset="-122"/>
                <a:cs typeface="Aptos" pitchFamily="34" charset="-120"/>
              </a:rPr>
              <a:t>elements</a:t>
            </a:r>
            <a:endParaRPr lang="en-US" sz="1500" dirty="0"/>
          </a:p>
        </p:txBody>
      </p:sp>
      <p:sp>
        <p:nvSpPr>
          <p:cNvPr id="14" name="Shape 12"/>
          <p:cNvSpPr/>
          <p:nvPr/>
        </p:nvSpPr>
        <p:spPr>
          <a:xfrm>
            <a:off x="4937760" y="3429000"/>
            <a:ext cx="2011680" cy="658368"/>
          </a:xfrm>
          <a:prstGeom prst="roundRect">
            <a:avLst>
              <a:gd name="adj" fmla="val 11111"/>
            </a:avLst>
          </a:prstGeom>
          <a:solidFill>
            <a:srgbClr val="FFFFFF"/>
          </a:solidFill>
          <a:ln w="12700">
            <a:solidFill>
              <a:srgbClr val="CBD5E1"/>
            </a:solidFill>
            <a:prstDash val="solid"/>
          </a:ln>
        </p:spPr>
      </p:sp>
      <p:sp>
        <p:nvSpPr>
          <p:cNvPr id="15" name="Text 13"/>
          <p:cNvSpPr/>
          <p:nvPr/>
        </p:nvSpPr>
        <p:spPr>
          <a:xfrm>
            <a:off x="5047488" y="3502152"/>
            <a:ext cx="1792224" cy="512064"/>
          </a:xfrm>
          <a:prstGeom prst="rect">
            <a:avLst/>
          </a:prstGeom>
          <a:noFill/>
          <a:ln/>
        </p:spPr>
        <p:txBody>
          <a:bodyPr wrap="square" lIns="635" tIns="635" rIns="635" bIns="635" rtlCol="0" anchor="ctr">
            <a:normAutofit/>
          </a:bodyPr>
          <a:lstStyle/>
          <a:p>
            <a:pPr algn="ctr" indent="0" marL="0">
              <a:buNone/>
            </a:pPr>
            <a:r>
              <a:rPr lang="en-US" sz="1500" b="1" dirty="0">
                <a:solidFill>
                  <a:srgbClr val="0F172A"/>
                </a:solidFill>
                <a:latin typeface="Aptos" pitchFamily="34" charset="0"/>
                <a:ea typeface="Aptos" pitchFamily="34" charset="-122"/>
                <a:cs typeface="Aptos" pitchFamily="34" charset="-120"/>
              </a:rPr>
              <a:t>Build BIM</a:t>
            </a:r>
            <a:endParaRPr lang="en-US" sz="1500" dirty="0"/>
          </a:p>
          <a:p>
            <a:pPr algn="ctr" indent="0" marL="0">
              <a:buNone/>
            </a:pPr>
            <a:r>
              <a:rPr lang="en-US" sz="1500" b="1" dirty="0">
                <a:solidFill>
                  <a:srgbClr val="0F172A"/>
                </a:solidFill>
                <a:latin typeface="Aptos" pitchFamily="34" charset="0"/>
                <a:ea typeface="Aptos" pitchFamily="34" charset="-122"/>
                <a:cs typeface="Aptos" pitchFamily="34" charset="-120"/>
              </a:rPr>
              <a:t>scene map</a:t>
            </a:r>
            <a:endParaRPr lang="en-US" sz="1500" dirty="0"/>
          </a:p>
        </p:txBody>
      </p:sp>
      <p:sp>
        <p:nvSpPr>
          <p:cNvPr id="16" name="Shape 14"/>
          <p:cNvSpPr/>
          <p:nvPr/>
        </p:nvSpPr>
        <p:spPr>
          <a:xfrm>
            <a:off x="7269480" y="3429000"/>
            <a:ext cx="1874520" cy="658368"/>
          </a:xfrm>
          <a:prstGeom prst="roundRect">
            <a:avLst>
              <a:gd name="adj" fmla="val 11111"/>
            </a:avLst>
          </a:prstGeom>
          <a:solidFill>
            <a:srgbClr val="FFFFFF"/>
          </a:solidFill>
          <a:ln w="12700">
            <a:solidFill>
              <a:srgbClr val="CBD5E1"/>
            </a:solidFill>
            <a:prstDash val="solid"/>
          </a:ln>
        </p:spPr>
      </p:sp>
      <p:sp>
        <p:nvSpPr>
          <p:cNvPr id="17" name="Text 15"/>
          <p:cNvSpPr/>
          <p:nvPr/>
        </p:nvSpPr>
        <p:spPr>
          <a:xfrm>
            <a:off x="7379208" y="3502152"/>
            <a:ext cx="1655064" cy="512064"/>
          </a:xfrm>
          <a:prstGeom prst="rect">
            <a:avLst/>
          </a:prstGeom>
          <a:noFill/>
          <a:ln/>
        </p:spPr>
        <p:txBody>
          <a:bodyPr wrap="square" lIns="635" tIns="635" rIns="635" bIns="635" rtlCol="0" anchor="ctr">
            <a:normAutofit/>
          </a:bodyPr>
          <a:lstStyle/>
          <a:p>
            <a:pPr algn="ctr" indent="0" marL="0">
              <a:buNone/>
            </a:pPr>
            <a:r>
              <a:rPr lang="en-US" sz="1500" b="1" dirty="0">
                <a:solidFill>
                  <a:srgbClr val="0F172A"/>
                </a:solidFill>
                <a:latin typeface="Aptos" pitchFamily="34" charset="0"/>
                <a:ea typeface="Aptos" pitchFamily="34" charset="-122"/>
                <a:cs typeface="Aptos" pitchFamily="34" charset="-120"/>
              </a:rPr>
              <a:t>Natural-language</a:t>
            </a:r>
            <a:endParaRPr lang="en-US" sz="1500" dirty="0"/>
          </a:p>
          <a:p>
            <a:pPr algn="ctr" indent="0" marL="0">
              <a:buNone/>
            </a:pPr>
            <a:r>
              <a:rPr lang="en-US" sz="1500" b="1" dirty="0">
                <a:solidFill>
                  <a:srgbClr val="0F172A"/>
                </a:solidFill>
                <a:latin typeface="Aptos" pitchFamily="34" charset="0"/>
                <a:ea typeface="Aptos" pitchFamily="34" charset="-122"/>
                <a:cs typeface="Aptos" pitchFamily="34" charset="-120"/>
              </a:rPr>
              <a:t>query</a:t>
            </a:r>
            <a:endParaRPr lang="en-US" sz="1500" dirty="0"/>
          </a:p>
        </p:txBody>
      </p:sp>
      <p:sp>
        <p:nvSpPr>
          <p:cNvPr id="18" name="Shape 16"/>
          <p:cNvSpPr/>
          <p:nvPr/>
        </p:nvSpPr>
        <p:spPr>
          <a:xfrm>
            <a:off x="9418320" y="3429000"/>
            <a:ext cx="2011680" cy="658368"/>
          </a:xfrm>
          <a:prstGeom prst="roundRect">
            <a:avLst>
              <a:gd name="adj" fmla="val 11111"/>
            </a:avLst>
          </a:prstGeom>
          <a:solidFill>
            <a:srgbClr val="FFFFFF"/>
          </a:solidFill>
          <a:ln w="12700">
            <a:solidFill>
              <a:srgbClr val="CBD5E1"/>
            </a:solidFill>
            <a:prstDash val="solid"/>
          </a:ln>
        </p:spPr>
      </p:sp>
      <p:sp>
        <p:nvSpPr>
          <p:cNvPr id="19" name="Text 17"/>
          <p:cNvSpPr/>
          <p:nvPr/>
        </p:nvSpPr>
        <p:spPr>
          <a:xfrm>
            <a:off x="9528048" y="3502152"/>
            <a:ext cx="1792224" cy="512064"/>
          </a:xfrm>
          <a:prstGeom prst="rect">
            <a:avLst/>
          </a:prstGeom>
          <a:noFill/>
          <a:ln/>
        </p:spPr>
        <p:txBody>
          <a:bodyPr wrap="square" lIns="635" tIns="635" rIns="635" bIns="635" rtlCol="0" anchor="ctr">
            <a:normAutofit/>
          </a:bodyPr>
          <a:lstStyle/>
          <a:p>
            <a:pPr algn="ctr" indent="0" marL="0">
              <a:buNone/>
            </a:pPr>
            <a:r>
              <a:rPr lang="en-US" sz="1500" b="1" dirty="0">
                <a:solidFill>
                  <a:srgbClr val="0F172A"/>
                </a:solidFill>
                <a:latin typeface="Aptos" pitchFamily="34" charset="0"/>
                <a:ea typeface="Aptos" pitchFamily="34" charset="-122"/>
                <a:cs typeface="Aptos" pitchFamily="34" charset="-120"/>
              </a:rPr>
              <a:t>Retrieve BIM</a:t>
            </a:r>
            <a:endParaRPr lang="en-US" sz="1500" dirty="0"/>
          </a:p>
          <a:p>
            <a:pPr algn="ctr" indent="0" marL="0">
              <a:buNone/>
            </a:pPr>
            <a:r>
              <a:rPr lang="en-US" sz="1500" b="1" dirty="0">
                <a:solidFill>
                  <a:srgbClr val="0F172A"/>
                </a:solidFill>
                <a:latin typeface="Aptos" pitchFamily="34" charset="0"/>
                <a:ea typeface="Aptos" pitchFamily="34" charset="-122"/>
                <a:cs typeface="Aptos" pitchFamily="34" charset="-120"/>
              </a:rPr>
              <a:t>component</a:t>
            </a:r>
            <a:endParaRPr lang="en-US" sz="1500" dirty="0"/>
          </a:p>
        </p:txBody>
      </p:sp>
      <p:sp>
        <p:nvSpPr>
          <p:cNvPr id="20" name="Shape 18"/>
          <p:cNvSpPr/>
          <p:nvPr/>
        </p:nvSpPr>
        <p:spPr>
          <a:xfrm>
            <a:off x="2587752" y="3758184"/>
            <a:ext cx="128016" cy="0"/>
          </a:xfrm>
          <a:prstGeom prst="line">
            <a:avLst/>
          </a:prstGeom>
          <a:noFill/>
          <a:ln w="25400">
            <a:solidFill>
              <a:srgbClr val="64748B"/>
            </a:solidFill>
            <a:prstDash val="solid"/>
            <a:headEnd type="none"/>
            <a:tailEnd type="triangle"/>
          </a:ln>
        </p:spPr>
      </p:sp>
      <p:sp>
        <p:nvSpPr>
          <p:cNvPr id="21" name="Shape 19"/>
          <p:cNvSpPr/>
          <p:nvPr/>
        </p:nvSpPr>
        <p:spPr>
          <a:xfrm>
            <a:off x="4736592" y="3758184"/>
            <a:ext cx="128016" cy="0"/>
          </a:xfrm>
          <a:prstGeom prst="line">
            <a:avLst/>
          </a:prstGeom>
          <a:noFill/>
          <a:ln w="25400">
            <a:solidFill>
              <a:srgbClr val="64748B"/>
            </a:solidFill>
            <a:prstDash val="solid"/>
            <a:headEnd type="none"/>
            <a:tailEnd type="triangle"/>
          </a:ln>
        </p:spPr>
      </p:sp>
      <p:sp>
        <p:nvSpPr>
          <p:cNvPr id="22" name="Shape 20"/>
          <p:cNvSpPr/>
          <p:nvPr/>
        </p:nvSpPr>
        <p:spPr>
          <a:xfrm>
            <a:off x="7022592" y="3758184"/>
            <a:ext cx="173736" cy="0"/>
          </a:xfrm>
          <a:prstGeom prst="line">
            <a:avLst/>
          </a:prstGeom>
          <a:noFill/>
          <a:ln w="25400">
            <a:solidFill>
              <a:srgbClr val="64748B"/>
            </a:solidFill>
            <a:prstDash val="solid"/>
            <a:headEnd type="none"/>
            <a:tailEnd type="triangle"/>
          </a:ln>
        </p:spPr>
      </p:sp>
      <p:sp>
        <p:nvSpPr>
          <p:cNvPr id="23" name="Shape 21"/>
          <p:cNvSpPr/>
          <p:nvPr/>
        </p:nvSpPr>
        <p:spPr>
          <a:xfrm>
            <a:off x="9217152" y="3758184"/>
            <a:ext cx="128016" cy="0"/>
          </a:xfrm>
          <a:prstGeom prst="line">
            <a:avLst/>
          </a:prstGeom>
          <a:noFill/>
          <a:ln w="25400">
            <a:solidFill>
              <a:srgbClr val="64748B"/>
            </a:solidFill>
            <a:prstDash val="solid"/>
            <a:headEnd type="none"/>
            <a:tailEnd type="triangle"/>
          </a:ln>
        </p:spPr>
      </p:sp>
      <p:sp>
        <p:nvSpPr>
          <p:cNvPr id="24" name="Text 22"/>
          <p:cNvSpPr/>
          <p:nvPr/>
        </p:nvSpPr>
        <p:spPr>
          <a:xfrm>
            <a:off x="640080" y="4617720"/>
            <a:ext cx="4297680" cy="274320"/>
          </a:xfrm>
          <a:prstGeom prst="rect">
            <a:avLst/>
          </a:prstGeom>
          <a:noFill/>
          <a:ln/>
        </p:spPr>
        <p:txBody>
          <a:bodyPr wrap="square" lIns="635" tIns="635" rIns="635" bIns="635" rtlCol="0" anchor="ctr">
            <a:normAutofit/>
          </a:bodyPr>
          <a:lstStyle/>
          <a:p>
            <a:pPr algn="l" indent="0" marL="0">
              <a:buNone/>
            </a:pPr>
            <a:r>
              <a:rPr lang="en-US" sz="1700" b="1" dirty="0">
                <a:solidFill>
                  <a:srgbClr val="0F172A"/>
                </a:solidFill>
                <a:latin typeface="Aptos" pitchFamily="34" charset="0"/>
                <a:ea typeface="Aptos" pitchFamily="34" charset="-122"/>
                <a:cs typeface="Aptos" pitchFamily="34" charset="-120"/>
              </a:rPr>
              <a:t>Example BIM scene-map entry</a:t>
            </a:r>
            <a:endParaRPr lang="en-US" sz="1700" dirty="0"/>
          </a:p>
        </p:txBody>
      </p:sp>
      <p:sp>
        <p:nvSpPr>
          <p:cNvPr id="25" name="Shape 23"/>
          <p:cNvSpPr/>
          <p:nvPr/>
        </p:nvSpPr>
        <p:spPr>
          <a:xfrm>
            <a:off x="640080" y="4956048"/>
            <a:ext cx="5212080" cy="1051560"/>
          </a:xfrm>
          <a:prstGeom prst="roundRect">
            <a:avLst>
              <a:gd name="adj" fmla="val 6957"/>
            </a:avLst>
          </a:prstGeom>
          <a:solidFill>
            <a:srgbClr val="FFFFFF"/>
          </a:solidFill>
          <a:ln w="12700">
            <a:solidFill>
              <a:srgbClr val="CBD5E1"/>
            </a:solidFill>
            <a:prstDash val="solid"/>
          </a:ln>
        </p:spPr>
      </p:sp>
      <p:sp>
        <p:nvSpPr>
          <p:cNvPr id="26" name="Text 24"/>
          <p:cNvSpPr/>
          <p:nvPr/>
        </p:nvSpPr>
        <p:spPr>
          <a:xfrm>
            <a:off x="749808" y="5029200"/>
            <a:ext cx="4992624" cy="905256"/>
          </a:xfrm>
          <a:prstGeom prst="rect">
            <a:avLst/>
          </a:prstGeom>
          <a:noFill/>
          <a:ln/>
        </p:spPr>
        <p:txBody>
          <a:bodyPr wrap="square" lIns="635" tIns="635" rIns="635" bIns="635" rtlCol="0" anchor="ctr">
            <a:normAutofit/>
          </a:bodyPr>
          <a:lstStyle/>
          <a:p>
            <a:pPr algn="l" indent="0" marL="0">
              <a:buNone/>
            </a:pPr>
            <a:r>
              <a:rPr lang="en-US" sz="1400" dirty="0">
                <a:solidFill>
                  <a:srgbClr val="0F172A"/>
                </a:solidFill>
                <a:latin typeface="Aptos" pitchFamily="34" charset="0"/>
                <a:ea typeface="Aptos" pitchFamily="34" charset="-122"/>
                <a:cs typeface="Aptos" pitchFamily="34" charset="-120"/>
              </a:rPr>
              <a:t>ID: C-201  |  Type: IfcColumn</a:t>
            </a:r>
            <a:endParaRPr lang="en-US" sz="1400" dirty="0"/>
          </a:p>
          <a:p>
            <a:pPr algn="l" indent="0" marL="0">
              <a:buNone/>
            </a:pPr>
            <a:r>
              <a:rPr lang="en-US" sz="1400" dirty="0">
                <a:solidFill>
                  <a:srgbClr val="0F172A"/>
                </a:solidFill>
                <a:latin typeface="Aptos" pitchFamily="34" charset="0"/>
                <a:ea typeface="Aptos" pitchFamily="34" charset="-122"/>
                <a:cs typeface="Aptos" pitchFamily="34" charset="-120"/>
              </a:rPr>
              <a:t>Material: Concrete  |  Level: 2</a:t>
            </a:r>
            <a:endParaRPr lang="en-US" sz="1400" dirty="0"/>
          </a:p>
          <a:p>
            <a:pPr algn="l" indent="0" marL="0">
              <a:buNone/>
            </a:pPr>
            <a:r>
              <a:rPr lang="en-US" sz="1400" dirty="0">
                <a:solidFill>
                  <a:srgbClr val="0F172A"/>
                </a:solidFill>
                <a:latin typeface="Aptos" pitchFamily="34" charset="0"/>
                <a:ea typeface="Aptos" pitchFamily="34" charset="-122"/>
                <a:cs typeface="Aptos" pitchFamily="34" charset="-120"/>
              </a:rPr>
              <a:t>Caption: reinforced concrete column near grid B-3</a:t>
            </a:r>
            <a:endParaRPr lang="en-US" sz="1400" dirty="0"/>
          </a:p>
        </p:txBody>
      </p:sp>
      <p:sp>
        <p:nvSpPr>
          <p:cNvPr id="27" name="Text 25"/>
          <p:cNvSpPr/>
          <p:nvPr/>
        </p:nvSpPr>
        <p:spPr>
          <a:xfrm>
            <a:off x="6355080" y="4617720"/>
            <a:ext cx="4297680" cy="274320"/>
          </a:xfrm>
          <a:prstGeom prst="rect">
            <a:avLst/>
          </a:prstGeom>
          <a:noFill/>
          <a:ln/>
        </p:spPr>
        <p:txBody>
          <a:bodyPr wrap="square" lIns="635" tIns="635" rIns="635" bIns="635" rtlCol="0" anchor="ctr">
            <a:normAutofit/>
          </a:bodyPr>
          <a:lstStyle/>
          <a:p>
            <a:pPr algn="l" indent="0" marL="0">
              <a:buNone/>
            </a:pPr>
            <a:r>
              <a:rPr lang="en-US" sz="1700" b="1" dirty="0">
                <a:solidFill>
                  <a:srgbClr val="0F172A"/>
                </a:solidFill>
                <a:latin typeface="Aptos" pitchFamily="34" charset="0"/>
                <a:ea typeface="Aptos" pitchFamily="34" charset="-122"/>
                <a:cs typeface="Aptos" pitchFamily="34" charset="-120"/>
              </a:rPr>
              <a:t>Possible use cases</a:t>
            </a:r>
            <a:endParaRPr lang="en-US" sz="1700" dirty="0"/>
          </a:p>
        </p:txBody>
      </p:sp>
      <p:sp>
        <p:nvSpPr>
          <p:cNvPr id="28" name="Shape 26"/>
          <p:cNvSpPr/>
          <p:nvPr/>
        </p:nvSpPr>
        <p:spPr>
          <a:xfrm>
            <a:off x="6355080" y="4956048"/>
            <a:ext cx="5257800" cy="1051560"/>
          </a:xfrm>
          <a:prstGeom prst="roundRect">
            <a:avLst>
              <a:gd name="adj" fmla="val 6957"/>
            </a:avLst>
          </a:prstGeom>
          <a:solidFill>
            <a:srgbClr val="FFFFFF"/>
          </a:solidFill>
          <a:ln w="12700">
            <a:solidFill>
              <a:srgbClr val="CBD5E1"/>
            </a:solidFill>
            <a:prstDash val="solid"/>
          </a:ln>
        </p:spPr>
      </p:sp>
      <p:sp>
        <p:nvSpPr>
          <p:cNvPr id="29" name="Text 27"/>
          <p:cNvSpPr/>
          <p:nvPr/>
        </p:nvSpPr>
        <p:spPr>
          <a:xfrm>
            <a:off x="6464808" y="5029200"/>
            <a:ext cx="5038344" cy="905256"/>
          </a:xfrm>
          <a:prstGeom prst="rect">
            <a:avLst/>
          </a:prstGeom>
          <a:noFill/>
          <a:ln/>
        </p:spPr>
        <p:txBody>
          <a:bodyPr wrap="square" lIns="635" tIns="635" rIns="635" bIns="635" rtlCol="0" anchor="ctr">
            <a:normAutofit/>
          </a:bodyPr>
          <a:lstStyle/>
          <a:p>
            <a:pPr algn="l" indent="0" marL="0">
              <a:buNone/>
            </a:pPr>
            <a:r>
              <a:rPr lang="en-US" sz="1400" dirty="0">
                <a:solidFill>
                  <a:srgbClr val="0F172A"/>
                </a:solidFill>
                <a:latin typeface="Aptos" pitchFamily="34" charset="0"/>
                <a:ea typeface="Aptos" pitchFamily="34" charset="-122"/>
                <a:cs typeface="Aptos" pitchFamily="34" charset="-120"/>
              </a:rPr>
              <a:t>• Find beams, columns, slabs, and walls by text</a:t>
            </a:r>
            <a:endParaRPr lang="en-US" sz="1400" dirty="0"/>
          </a:p>
          <a:p>
            <a:pPr algn="l" indent="0" marL="0">
              <a:buNone/>
            </a:pPr>
            <a:r>
              <a:rPr lang="en-US" sz="1400" dirty="0">
                <a:solidFill>
                  <a:srgbClr val="0F172A"/>
                </a:solidFill>
                <a:latin typeface="Aptos" pitchFamily="34" charset="0"/>
                <a:ea typeface="Aptos" pitchFamily="34" charset="-122"/>
                <a:cs typeface="Aptos" pitchFamily="34" charset="-120"/>
              </a:rPr>
              <a:t>• Detect mislabeled IFC components</a:t>
            </a:r>
            <a:endParaRPr lang="en-US" sz="1400" dirty="0"/>
          </a:p>
          <a:p>
            <a:pPr algn="l" indent="0" marL="0">
              <a:buNone/>
            </a:pPr>
            <a:r>
              <a:rPr lang="en-US" sz="1400" dirty="0">
                <a:solidFill>
                  <a:srgbClr val="0F172A"/>
                </a:solidFill>
                <a:latin typeface="Aptos" pitchFamily="34" charset="0"/>
                <a:ea typeface="Aptos" pitchFamily="34" charset="-122"/>
                <a:cs typeface="Aptos" pitchFamily="34" charset="-120"/>
              </a:rPr>
              <a:t>• Support BIM QA and facility management</a:t>
            </a:r>
            <a:endParaRPr lang="en-US" sz="1400" dirty="0"/>
          </a:p>
        </p:txBody>
      </p:sp>
      <p:sp>
        <p:nvSpPr>
          <p:cNvPr id="30" name="Shape 28"/>
          <p:cNvSpPr/>
          <p:nvPr/>
        </p:nvSpPr>
        <p:spPr>
          <a:xfrm>
            <a:off x="594360" y="6199632"/>
            <a:ext cx="11018520" cy="411480"/>
          </a:xfrm>
          <a:prstGeom prst="roundRect">
            <a:avLst>
              <a:gd name="adj" fmla="val 13333"/>
            </a:avLst>
          </a:prstGeom>
          <a:solidFill>
            <a:srgbClr val="0F172A"/>
          </a:solidFill>
          <a:ln w="12700">
            <a:solidFill>
              <a:srgbClr val="0F172A">
                <a:alpha val="0"/>
              </a:srgbClr>
            </a:solidFill>
            <a:prstDash val="solid"/>
          </a:ln>
        </p:spPr>
      </p:sp>
      <p:sp>
        <p:nvSpPr>
          <p:cNvPr id="31" name="Text 29"/>
          <p:cNvSpPr/>
          <p:nvPr/>
        </p:nvSpPr>
        <p:spPr>
          <a:xfrm>
            <a:off x="749808" y="6281928"/>
            <a:ext cx="10698480" cy="256032"/>
          </a:xfrm>
          <a:prstGeom prst="rect">
            <a:avLst/>
          </a:prstGeom>
          <a:noFill/>
          <a:ln/>
        </p:spPr>
        <p:txBody>
          <a:bodyPr wrap="square" lIns="635" tIns="635" rIns="635" bIns="635" rtlCol="0" anchor="ctr">
            <a:normAutofit/>
          </a:bodyPr>
          <a:lstStyle/>
          <a:p>
            <a:pPr algn="ctr" indent="0" marL="0">
              <a:buNone/>
            </a:pPr>
            <a:r>
              <a:rPr lang="en-US" sz="1400" b="1" dirty="0">
                <a:solidFill>
                  <a:srgbClr val="FFFFFF"/>
                </a:solidFill>
                <a:latin typeface="Aptos" pitchFamily="34" charset="0"/>
                <a:ea typeface="Aptos" pitchFamily="34" charset="-122"/>
                <a:cs typeface="Aptos" pitchFamily="34" charset="-120"/>
              </a:rPr>
              <a:t>Takeaway: Use OpenVoxel’s captioned scene map + text retrieval idea, not the original voxel pipeline directly.</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CBNU_SSL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Applying OpenVoxel Ideas to IFC/BIM Component Recognition</dc:title>
  <dc:subject>OpenVoxel adaptation to IFC/BIM</dc:subject>
  <dc:creator>OpenAI</dc:creator>
  <cp:lastModifiedBy>OpenAI</cp:lastModifiedBy>
  <cp:revision>1</cp:revision>
  <dcterms:created xsi:type="dcterms:W3CDTF">2026-06-11T00:47:45Z</dcterms:created>
  <dcterms:modified xsi:type="dcterms:W3CDTF">2026-06-11T00:47:45Z</dcterms:modified>
</cp:coreProperties>
</file>