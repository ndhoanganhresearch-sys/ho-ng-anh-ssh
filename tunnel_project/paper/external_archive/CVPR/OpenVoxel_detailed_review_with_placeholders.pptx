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42346"/>
                </a:solidFill>
                <a:latin typeface="Aptos"/>
              </a:defRPr>
            </a:pPr>
            <a:r>
              <a:t>OpenVoxel</a:t>
            </a:r>
          </a:p>
          <a:p>
            <a:pPr>
              <a:defRPr sz="2100">
                <a:solidFill>
                  <a:srgbClr val="2666B4"/>
                </a:solidFill>
                <a:latin typeface="Aptos"/>
              </a:defRPr>
            </a:pPr>
            <a:r>
              <a:t>Training-Free Grouping and Captioning Voxels for Open-Vocabulary 3D Scene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685800"/>
            <a:ext cx="4160520" cy="278892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Figure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Comparison: ReferSplat vs OpenVoxel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40280"/>
            <a:ext cx="3291840" cy="292608"/>
          </a:xfrm>
          <a:prstGeom prst="rect">
            <a:avLst/>
          </a:prstGeom>
          <a:solidFill>
            <a:srgbClr val="1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Paper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51760"/>
            <a:ext cx="30723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Open-vocabulary 3D scene understanding from natural-language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240280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240280"/>
            <a:ext cx="2788920" cy="292608"/>
          </a:xfrm>
          <a:prstGeom prst="rect">
            <a:avLst/>
          </a:prstGeom>
          <a:solidFill>
            <a:srgbClr val="3A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Core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651760"/>
            <a:ext cx="2569463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No per-scene language-field training is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886200"/>
            <a:ext cx="3291840" cy="292608"/>
          </a:xfrm>
          <a:prstGeom prst="rect">
            <a:avLst/>
          </a:prstGeom>
          <a:solidFill>
            <a:srgbClr val="DC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Main trick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297680"/>
            <a:ext cx="30723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Convert 3D objects into readable captions.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886200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3886200"/>
            <a:ext cx="2788920" cy="29260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Final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4297680"/>
            <a:ext cx="2569463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A target 3D object ID and rendered binary mask.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OpenVoxel replaces learned 3D language embeddings with object grouping, captioned scene maps, and MLLM-based text retrieval.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Problem: Language Queries Over 3D Scenes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143000"/>
            <a:ext cx="4983480" cy="3154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Optional: crop from Figure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Use the ReferSplat part to show training and annotation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97280" cy="320040"/>
          </a:xfrm>
          <a:prstGeom prst="roundRect">
            <a:avLst/>
          </a:prstGeom>
          <a:solidFill>
            <a:srgbClr val="1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Given a reconstructed 3D scene, identify objects using natural-language queries.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Queries can be simple class names or detailed referring expressions.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The method must return the correct object mask in the target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71800"/>
            <a:ext cx="1828800" cy="320040"/>
          </a:xfrm>
          <a:prstGeom prst="round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Example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90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"chair" or "apple" for open-vocabulary segmentation (OVS).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"a drinking utensil with a smooth surface near a sake bottle" for referring expression segmentation (RES).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RES requires attributes, affordances, and spatial relations.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The hard case is not keyword search; it is understanding complex object descriptions in a 3D scene.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Why Previous Methods Are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840480" cy="283464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Figure 1 crop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Focus on ReferSplat: BERT embedding + manual annotation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09728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017520" cy="292608"/>
          </a:xfrm>
          <a:prstGeom prst="rect">
            <a:avLst/>
          </a:prstGeom>
          <a:solidFill>
            <a:srgbClr val="BE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1. Per-scene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0328" y="1508760"/>
            <a:ext cx="2798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Many methods optimize a language field for every new scene.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097280"/>
            <a:ext cx="3017520" cy="292608"/>
          </a:xfrm>
          <a:prstGeom prst="rect">
            <a:avLst/>
          </a:prstGeom>
          <a:solidFill>
            <a:srgbClr val="DC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2. Embedding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508760"/>
            <a:ext cx="2798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CLIP/BERT-like spaces may miss fine-grained relations.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42316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2423160"/>
            <a:ext cx="3017520" cy="292608"/>
          </a:xfrm>
          <a:prstGeom prst="rect">
            <a:avLst/>
          </a:prstGeom>
          <a:solidFill>
            <a:srgbClr val="BE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3. Annotation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834640"/>
            <a:ext cx="2798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ReferSplat needs description-mask pairs for 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42316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423160"/>
            <a:ext cx="3017520" cy="292608"/>
          </a:xfrm>
          <a:prstGeom prst="rect">
            <a:avLst/>
          </a:prstGeom>
          <a:solidFill>
            <a:srgbClr val="DC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4.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834640"/>
            <a:ext cx="2798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Training can take tens of minutes to over one hour per scene.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OpenVoxel avoids these costs by not learning a latent language field.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Instead, it builds an explicit scene map: object ID + 3D position + natural-language caption.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Then it uses an MLLM to perform direct text-to-text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The paper reformulates 3D language understanding as object-level caption retrieval rather than feature-field learning.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OpenVoxel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0972800" cy="416052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Figure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Full pipeline overview: grouping -&gt; scene map -&gt; query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349240"/>
            <a:ext cx="33832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349240"/>
            <a:ext cx="3383280" cy="292608"/>
          </a:xfrm>
          <a:prstGeom prst="rect">
            <a:avLst/>
          </a:prstGeom>
          <a:solidFill>
            <a:srgbClr val="1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Step 1: Grouping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760720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Lift SAM2 masks from 2D views into 3D voxel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5349240"/>
            <a:ext cx="33832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5349240"/>
            <a:ext cx="3383280" cy="292608"/>
          </a:xfrm>
          <a:prstGeom prst="rect">
            <a:avLst/>
          </a:prstGeom>
          <a:solidFill>
            <a:srgbClr val="3A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Step 2: Captioning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5760720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Render each group and create a canonical caption.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5349240"/>
            <a:ext cx="33832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5349240"/>
            <a:ext cx="3383280" cy="29260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Step 3: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5760720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Canonicalize the user query and select matching object ID(s).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The pipeline creates a readable 3D scene map and uses MLLM reasoning at inference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Method 1: Training-Free Sparse Voxel Grouping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5715000" cy="448056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Figure 3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Grouping process: project, match, merge,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005840"/>
            <a:ext cx="1645920" cy="320040"/>
          </a:xfrm>
          <a:prstGeom prst="roundRect">
            <a:avLst/>
          </a:prstGeom>
          <a:solidFill>
            <a:srgbClr val="1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Run SAM2 on each input view to get 2D instance masks.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Use rendered point maps to lift each 2D mask into 3D.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Represent each voxel group by a 3D centroid-like group feature.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Across views, match new masks with existing projected groups using IoU.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Merge highly overlapping masks to reduce noisy over-segmentation.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794760"/>
            <a:ext cx="1371600" cy="320040"/>
          </a:xfrm>
          <a:prstGeom prst="round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Voxels belonging to the same object should vote toward the same object center.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Multiple views make the grouping more robust to partial occlusion or noisy masks.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No gradient descent is 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Grouping turns raw sparse voxels into object-level 3D instances without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Method 2: Canonical Scene Map Construction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5532120" cy="416052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Figure 4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Canonical captioning: group masks + images -&gt; DAM -&gt; Qwen3-VL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960120"/>
            <a:ext cx="1828800" cy="320040"/>
          </a:xfrm>
          <a:prstGeom prst="roundRect">
            <a:avLst/>
          </a:prstGeom>
          <a:solidFill>
            <a:srgbClr val="3A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Captioning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074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Render each 3D group as binary masks from multiple views.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Use DAM to generate a detailed localized description.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Use visual prompting: darken outside the mask and highlight the object.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Use Qwen3-VL to rewrite the free-form caption into a fixed template.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657600"/>
            <a:ext cx="1828800" cy="320040"/>
          </a:xfrm>
          <a:prstGeom prst="round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Scene map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69080"/>
            <a:ext cx="4983480" cy="1261872"/>
          </a:xfrm>
          <a:prstGeom prst="round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1E1E"/>
                </a:solidFill>
                <a:latin typeface="Consolas"/>
              </a:defRPr>
            </a:pPr>
            <a:r>
              <a:t>ID: 2</a:t>
            </a:r>
            <a:br/>
            <a:r>
              <a:t>Position: [x, y, z]</a:t>
            </a:r>
            <a:br/>
            <a:r>
              <a:t>Caption: "Toy dog, yellow, cartoon-like, slim legs..."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The scene is converted into an explicit table of objects, positions, and human-readable captions.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Method 3: Referring Query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5257800" cy="347472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crop from Figure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Bottom part: query refinement -&gt; text-to-text retrieving -&gt; object mask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05840"/>
            <a:ext cx="1920240" cy="320040"/>
          </a:xfrm>
          <a:prstGeom prst="round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Retrieval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5074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Input: a category word or a complex referring expression.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The MLLM rewrites the query into the same canonical template as object captions.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The MLLM compares the query with all entries in the scene map.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The selected object ID(s) are rendered as binary masks in the target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00600"/>
            <a:ext cx="3246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3246120" cy="292608"/>
          </a:xfrm>
          <a:prstGeom prst="rect">
            <a:avLst/>
          </a:prstGeom>
          <a:solidFill>
            <a:srgbClr val="DC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Original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212080"/>
            <a:ext cx="3026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"A funny toy with spindly legs..."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800600"/>
            <a:ext cx="2834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4800600"/>
            <a:ext cx="2834640" cy="292608"/>
          </a:xfrm>
          <a:prstGeom prst="rect">
            <a:avLst/>
          </a:prstGeom>
          <a:solidFill>
            <a:srgbClr val="1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Refined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5212080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"Toy, yellow, slim legs"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800600"/>
            <a:ext cx="3246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4800600"/>
            <a:ext cx="3246120" cy="292608"/>
          </a:xfrm>
          <a:prstGeom prst="rect">
            <a:avLst/>
          </a:prstGeom>
          <a:solidFill>
            <a:srgbClr val="3A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Retrieved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5212080"/>
            <a:ext cx="3026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Object group ID {2}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OpenVoxel performs text-to-text retrieval over captions, not cosine similarity over learned embeddings.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Main Results: Referring Expression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6583680" cy="448056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Table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Ref-LeRF RES mIoU: strongest evidence for the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05156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051560"/>
            <a:ext cx="3566160" cy="292608"/>
          </a:xfrm>
          <a:prstGeom prst="rect">
            <a:avLst/>
          </a:prstGeom>
          <a:solidFill>
            <a:srgbClr val="3A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OpenVoxel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7" y="1463039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42.4 mIoU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24028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2240280"/>
            <a:ext cx="3566160" cy="29260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ReferSplat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7" y="26517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29.2 mIoU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42900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3429000"/>
            <a:ext cx="3566160" cy="292608"/>
          </a:xfrm>
          <a:prstGeom prst="rect">
            <a:avLst/>
          </a:prstGeom>
          <a:solidFill>
            <a:srgbClr val="DC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384048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OpenVoxel requires no GT description-mask pairs.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75488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Best improvement appears on complex RES queries.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The result supports caption-level reasoning over embedding matching.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OpenVoxel substantially improves RES while avoiding the extra annotation required by ReferSplat.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Additional Results: Open-Vocabulary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5715000" cy="43434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Table 3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LeRF-Mask: mIoU and boundary IoU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960120"/>
            <a:ext cx="4754880" cy="20574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Optional: Insert Table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LeRF-OVS mIoU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33756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On LeRF-Mask, OpenVoxel reaches 89.7 average mIoU and 86.8 average mBIoU.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This shows that the same pipeline also handles simpler category-level OVS queries.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However, the most important contribution remains the improvement on complex 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OpenVoxel is not only strong on complex referring expressions; it remains competitive on simpler OVS benchmarks.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Qualitative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0972800" cy="416052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Figure 6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Ramen scene: ReferSplat vs OpenVoxel vs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4924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ReferSplat often segments partial or neighboring regions when the query includes relations or affordances.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OpenVoxel retrieves object masks that better match the full natural-language expression.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The qualitative examples make the central benefit visible: caption reasoning helps with attributes and spatial relations.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Ablation Study and Runtime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5166360" cy="283464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Table 4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Ablation: mask merging, canonical caption, canonical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914400"/>
            <a:ext cx="5166360" cy="283464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Insert Table 5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Runtime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6908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069080"/>
            <a:ext cx="3291840" cy="292608"/>
          </a:xfrm>
          <a:prstGeom prst="rect">
            <a:avLst/>
          </a:prstGeom>
          <a:solidFill>
            <a:srgbClr val="1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Ablation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80560"/>
            <a:ext cx="30723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24.3 -&gt; 28.0 -&gt; 36.4 -&gt; 42.4 mIoU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06908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4069080"/>
            <a:ext cx="3291840" cy="292608"/>
          </a:xfrm>
          <a:prstGeom prst="rect">
            <a:avLst/>
          </a:prstGeom>
          <a:solidFill>
            <a:srgbClr val="3A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Largest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480560"/>
            <a:ext cx="30723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Canonical captioning provides a major boost.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06908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4069080"/>
            <a:ext cx="3291840" cy="292608"/>
          </a:xfrm>
          <a:prstGeom prst="rect">
            <a:avLst/>
          </a:prstGeom>
          <a:solidFill>
            <a:srgbClr val="DC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4480560"/>
            <a:ext cx="30723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Aptos"/>
              </a:defRPr>
            </a:pPr>
            <a:r>
              <a:t>OpenVoxel: about 3 minutes; inference &lt; 1 second.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The key components are not optional: canonical captions and canonical queries strongly improve retrieval reliability.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Discussion: Strengths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645920" cy="320040"/>
          </a:xfrm>
          <a:prstGeom prst="roundRect">
            <a:avLst/>
          </a:prstGeom>
          <a:solidFill>
            <a:srgbClr val="3A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Training-free: no per-scene language-field optimization.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Annotation-free: no manually labeled description-mask pairs.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Interpretable: scene map is written in natural language.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Effective for RES: handles attributes, affordances, and relations better than simple embedding retrieval.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Fast: scene processing is reported at about 3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051560"/>
            <a:ext cx="1737360" cy="320040"/>
          </a:xfrm>
          <a:prstGeom prst="roundRect">
            <a:avLst/>
          </a:prstGeom>
          <a:solidFill>
            <a:srgbClr val="BE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Depends on SAM2 quality for the initial 2D masks.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Depends on DAM/Qwen3-VL caption quality; wrong captions can mislead retrieval.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Large scenes may produce long scene maps that are harder for an MLLM to search directly.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Spatial reasoning from object centers may be limited for view-dependent relations.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Benchmarks are mostly object-centric LeRF-style scenes.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OpenVoxel is practical and interpretable, but its reliability depends on upstream segmentation, captioning, and MLLM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960120"/>
            <a:ext cx="4434840" cy="283464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66B4"/>
                </a:solidFill>
                <a:latin typeface="Aptos"/>
              </a:defRPr>
            </a:pPr>
            <a:r>
              <a:t>Optional final visual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Use Figure 2 mini-crop or Figure 1 OpenVoxel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OpenVoxel proposes a training-free framework for open-vocabulary 3D scene understanding.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It groups sparse voxels into object-level instances using multi-view SAM2 masks.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It builds a canonical scene map with object IDs, 3D positions, and captions.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It answers language queries through MLLM-based text-to-text retrieval.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The method achieves strong RES performance while reducing annotation and runtime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469880" cy="86868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346"/>
                </a:solidFill>
                <a:latin typeface="Aptos"/>
              </a:defRPr>
            </a:pPr>
            <a:r>
              <a:t>OpenVoxel = 3D Object Grouping + Canonical Captioned Scene Map + Text-to-Text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42346"/>
                </a:solidFill>
                <a:latin typeface="Aptos"/>
              </a:defRPr>
            </a:pPr>
            <a:r>
              <a:t>Key message: The contribution is a clean reformulation: make the 3D scene readable, then let the MLLM reason over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6"/>
                </a:solidFill>
                <a:latin typeface="Aptos"/>
              </a:defRPr>
            </a:pPr>
            <a:r>
              <a:t>Appendix: Figure Insertion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393192"/>
          </a:xfrm>
          <a:prstGeom prst="rect">
            <a:avLst/>
          </a:prstGeom>
          <a:solidFill>
            <a:srgbClr val="2666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8760" y="1143000"/>
            <a:ext cx="1828800" cy="393192"/>
          </a:xfrm>
          <a:prstGeom prst="rect">
            <a:avLst/>
          </a:prstGeom>
          <a:solidFill>
            <a:srgbClr val="2666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Insert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143000"/>
            <a:ext cx="1143000" cy="393192"/>
          </a:xfrm>
          <a:prstGeom prst="rect">
            <a:avLst/>
          </a:prstGeom>
          <a:solidFill>
            <a:srgbClr val="2666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PDF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143000"/>
            <a:ext cx="7223760" cy="393192"/>
          </a:xfrm>
          <a:prstGeom prst="rect">
            <a:avLst/>
          </a:prstGeom>
          <a:solidFill>
            <a:srgbClr val="2666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Crop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9144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536192"/>
            <a:ext cx="18288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Figure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36192"/>
            <a:ext cx="11430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536192"/>
            <a:ext cx="722376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Full comparison: ReferSplat vs OpenVoxel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929384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929384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Figure 1 crop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929384"/>
            <a:ext cx="1143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929384"/>
            <a:ext cx="7223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ReferSplat part for motivation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322576"/>
            <a:ext cx="9144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322576"/>
            <a:ext cx="18288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Figure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322576"/>
            <a:ext cx="11430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322576"/>
            <a:ext cx="722376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Full pipeline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71576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271576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Figure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715768"/>
            <a:ext cx="1143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715768"/>
            <a:ext cx="7223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Grouping process diagram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108960"/>
            <a:ext cx="9144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3108960"/>
            <a:ext cx="18288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Figure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108960"/>
            <a:ext cx="11430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108960"/>
            <a:ext cx="722376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Captioning process diagram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502152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3502152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Figure 2 crop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502152"/>
            <a:ext cx="1143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502152"/>
            <a:ext cx="7223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Bottom query inference block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895344"/>
            <a:ext cx="9144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895344"/>
            <a:ext cx="18288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Table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3895344"/>
            <a:ext cx="11430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3895344"/>
            <a:ext cx="722376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Ref-LeRF RES mIoU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288536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4288536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Table 3 / Table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4288536"/>
            <a:ext cx="1143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p.7 / p.6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4288536"/>
            <a:ext cx="7223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OVS results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681728"/>
            <a:ext cx="9144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4681728"/>
            <a:ext cx="18288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Figure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4681728"/>
            <a:ext cx="114300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4681728"/>
            <a:ext cx="7223760" cy="393192"/>
          </a:xfrm>
          <a:prstGeom prst="rect">
            <a:avLst/>
          </a:prstGeom>
          <a:solidFill>
            <a:srgbClr val="FAFA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Qualitative ramen examples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074920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8760" y="5074920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Table 4 + Table 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60" y="5074920"/>
            <a:ext cx="1143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p.8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5074920"/>
            <a:ext cx="7223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E1E1E"/>
                </a:solidFill>
                <a:latin typeface="Aptos"/>
              </a:defRPr>
            </a:pPr>
            <a:r>
              <a:t>Ablation and runtime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Tip: crop at 150-200% PDF zoom and keep each figure/table large; avoid placing long paragraphs next to complex diagrams.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Source: Huang et al., OpenVoxel, CVPR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