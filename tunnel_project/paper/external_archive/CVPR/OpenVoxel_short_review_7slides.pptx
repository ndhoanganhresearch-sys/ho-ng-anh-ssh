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OpenVoxel: Training-Free 3D Scene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E5A"/>
                </a:solidFill>
              </a:defRPr>
            </a:pPr>
            <a:r>
              <a:t>Short paper review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42415"/>
            <a:ext cx="10972800" cy="502920"/>
          </a:xfrm>
          <a:prstGeom prst="roundRect">
            <a:avLst/>
          </a:prstGeom>
          <a:solidFill>
            <a:srgbClr val="E6F0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63F"/>
                </a:solidFill>
              </a:defRPr>
            </a:pPr>
            <a:r>
              <a:t>Key message: Build a text-readable 3D scene map, then retrieve objects with MLLM reasoning.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783080"/>
            <a:ext cx="5166360" cy="41605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A0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63F"/>
                </a:solidFill>
              </a:defRPr>
            </a:pPr>
            <a:r>
              <a:t>Figure 1</a:t>
            </a:r>
          </a:p>
          <a:p>
            <a:pPr algn="ctr">
              <a:defRPr sz="1200">
                <a:solidFill>
                  <a:srgbClr val="464E5A"/>
                </a:solidFill>
              </a:defRPr>
            </a:pPr>
            <a:r>
              <a:t>Comparison: ReferSplat vs. OpenVoxel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303520" cy="30175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464E5A"/>
                </a:solidFill>
              </a:defRPr>
            </a:pPr>
            <a:r>
              <a:t>Task: find and segment 3D objects using natural-language queries.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464E5A"/>
                </a:solidFill>
              </a:defRPr>
            </a:pPr>
            <a:r>
              <a:t>Previous methods often train CLIP/BERT-style language fields per scene.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464E5A"/>
                </a:solidFill>
              </a:defRPr>
            </a:pPr>
            <a:r>
              <a:t>OpenVoxel avoids extra training and stores object captions directly as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5074920" cy="502920"/>
          </a:xfrm>
          <a:prstGeom prst="roundRect">
            <a:avLst/>
          </a:prstGeom>
          <a:solidFill>
            <a:srgbClr val="EEF9F2"/>
          </a:solidFill>
          <a:ln w="12700">
            <a:solidFill>
              <a:srgbClr val="3A9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A966C"/>
                </a:solidFill>
              </a:defRPr>
            </a:pPr>
            <a:r>
              <a:t>Core formula: grouping + captioning + text-to-text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</a:defRPr>
            </a:pPr>
            <a:r>
              <a:t>Source: Huang et al., “OpenVoxel”, CVPR 2026 paper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Problem and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42415"/>
            <a:ext cx="10972800" cy="502920"/>
          </a:xfrm>
          <a:prstGeom prst="roundRect">
            <a:avLst/>
          </a:prstGeom>
          <a:solidFill>
            <a:srgbClr val="E6F0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63F"/>
                </a:solidFill>
              </a:defRPr>
            </a:pPr>
            <a:r>
              <a:t>Key message: Embedding-based 3D language fields are powerful, but slow and less flexible for complex descriptions.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017520" cy="502920"/>
          </a:xfrm>
          <a:prstGeom prst="roundRect">
            <a:avLst/>
          </a:prstGeom>
          <a:solidFill>
            <a:srgbClr val="EEF9F2"/>
          </a:solidFill>
          <a:ln w="12700">
            <a:solidFill>
              <a:srgbClr val="3A9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A966C"/>
                </a:solidFill>
              </a:defRPr>
            </a:pPr>
            <a:r>
              <a:t>What we want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3200400" cy="21031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Query with free text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Understand attributes, function, and relations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Return the correct 3D object mask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3017520" cy="502920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E68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68E3F"/>
                </a:solidFill>
              </a:defRPr>
            </a:pPr>
            <a:r>
              <a:t>Why it is hard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68880"/>
            <a:ext cx="3200400" cy="21031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Scene-specific training is expensive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Manual mask-caption annotation may be needed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Long referring expressions are ambiguous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828800"/>
            <a:ext cx="3017520" cy="50292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2B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B6FC2"/>
                </a:solidFill>
              </a:defRPr>
            </a:pPr>
            <a:r>
              <a:t>OpenVoxel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468880"/>
            <a:ext cx="3200400" cy="21031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No extra language-field training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Automatically group and caption objects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Use MLLM text reasoning over captions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</a:defRPr>
            </a:pPr>
            <a:r>
              <a:t>Source: Huang et al., “OpenVoxel”, CVPR 2026 paper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Overall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42415"/>
            <a:ext cx="10972800" cy="502920"/>
          </a:xfrm>
          <a:prstGeom prst="roundRect">
            <a:avLst/>
          </a:prstGeom>
          <a:solidFill>
            <a:srgbClr val="E6F0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63F"/>
                </a:solidFill>
              </a:defRPr>
            </a:pPr>
            <a:r>
              <a:t>Key message: OpenVoxel converts sparse voxels into object-level captions and searches them directly.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89920" cy="43891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A0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63F"/>
                </a:solidFill>
              </a:defRPr>
            </a:pPr>
            <a:r>
              <a:t>Figure 2</a:t>
            </a:r>
          </a:p>
          <a:p>
            <a:pPr algn="ctr">
              <a:defRPr sz="1200">
                <a:solidFill>
                  <a:srgbClr val="464E5A"/>
                </a:solidFill>
              </a:defRPr>
            </a:pPr>
            <a:r>
              <a:t>Main OpenVoxel pipeline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</a:defRPr>
            </a:pPr>
            <a:r>
              <a:t>Source: Huang et al., “OpenVoxel”, CVPR 2026 paper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How OpenVoxel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42415"/>
            <a:ext cx="10972800" cy="502920"/>
          </a:xfrm>
          <a:prstGeom prst="roundRect">
            <a:avLst/>
          </a:prstGeom>
          <a:solidFill>
            <a:srgbClr val="E6F0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63F"/>
                </a:solidFill>
              </a:defRPr>
            </a:pPr>
            <a:r>
              <a:t>Key message: The method is simple: group objects, caption them, then retrieve by 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3337560" cy="548640"/>
          </a:xfrm>
          <a:prstGeom prst="roundRect">
            <a:avLst/>
          </a:prstGeom>
          <a:solidFill>
            <a:srgbClr val="EEF9F2"/>
          </a:solidFill>
          <a:ln w="12700">
            <a:solidFill>
              <a:srgbClr val="3A9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A966C"/>
                </a:solidFill>
              </a:defRPr>
            </a:pPr>
            <a:r>
              <a:t>1. Voxel Grouping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3154680" cy="18288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464E5A"/>
                </a:solidFill>
              </a:defRPr>
            </a:pPr>
            <a:r>
              <a:t>Use SAM2 masks from multiple views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464E5A"/>
                </a:solidFill>
              </a:defRPr>
            </a:pPr>
            <a:r>
              <a:t>Lift 2D masks into 3D voxel space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464E5A"/>
                </a:solidFill>
              </a:defRPr>
            </a:pPr>
            <a:r>
              <a:t>Merge matched masks across 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572000"/>
            <a:ext cx="3154680" cy="11430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A0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63F"/>
                </a:solidFill>
              </a:defRPr>
            </a:pPr>
            <a:r>
              <a:t>Fig. 3 crop</a:t>
            </a:r>
          </a:p>
          <a:p>
            <a:pPr algn="ctr">
              <a:defRPr sz="1200">
                <a:solidFill>
                  <a:srgbClr val="464E5A"/>
                </a:solidFill>
              </a:defRPr>
            </a:pPr>
            <a:r>
              <a:t>Optional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337560" cy="5486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2B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B6FC2"/>
                </a:solidFill>
              </a:defRPr>
            </a:pPr>
            <a:r>
              <a:t>2. Caption Scene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606040"/>
            <a:ext cx="3154680" cy="18288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464E5A"/>
                </a:solidFill>
              </a:defRPr>
            </a:pPr>
            <a:r>
              <a:t>Render each 3D group as masks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464E5A"/>
                </a:solidFill>
              </a:defRPr>
            </a:pPr>
            <a:r>
              <a:t>Describe with DAM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464E5A"/>
                </a:solidFill>
              </a:defRPr>
            </a:pPr>
            <a:r>
              <a:t>Refine caption with Qwen3-VL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4572000"/>
            <a:ext cx="3154680" cy="11430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A0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63F"/>
                </a:solidFill>
              </a:defRPr>
            </a:pPr>
            <a:r>
              <a:t>Fig. 4 crop</a:t>
            </a:r>
          </a:p>
          <a:p>
            <a:pPr algn="ctr">
              <a:defRPr sz="1200">
                <a:solidFill>
                  <a:srgbClr val="464E5A"/>
                </a:solidFill>
              </a:defRPr>
            </a:pPr>
            <a:r>
              <a:t>Optional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828800"/>
            <a:ext cx="3337560" cy="548640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E68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68E3F"/>
                </a:solidFill>
              </a:defRPr>
            </a:pPr>
            <a:r>
              <a:t>3. Query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606040"/>
            <a:ext cx="3154680" cy="18288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464E5A"/>
                </a:solidFill>
              </a:defRPr>
            </a:pPr>
            <a:r>
              <a:t>Rewrite user query into canonical form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464E5A"/>
                </a:solidFill>
              </a:defRPr>
            </a:pPr>
            <a:r>
              <a:t>Compare with object captions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464E5A"/>
                </a:solidFill>
              </a:defRPr>
            </a:pPr>
            <a:r>
              <a:t>Render selected object mask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4572000"/>
            <a:ext cx="3154680" cy="11430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A0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63F"/>
                </a:solidFill>
              </a:defRPr>
            </a:pPr>
            <a:r>
              <a:t>Fig. 2 crop</a:t>
            </a:r>
          </a:p>
          <a:p>
            <a:pPr algn="ctr">
              <a:defRPr sz="1200">
                <a:solidFill>
                  <a:srgbClr val="464E5A"/>
                </a:solidFill>
              </a:defRPr>
            </a:pPr>
            <a:r>
              <a:t>Query 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</a:defRPr>
            </a:pPr>
            <a:r>
              <a:t>Source: Huang et al., “OpenVoxel”, CVPR 2026 paper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Main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42415"/>
            <a:ext cx="10972800" cy="502920"/>
          </a:xfrm>
          <a:prstGeom prst="roundRect">
            <a:avLst/>
          </a:prstGeom>
          <a:solidFill>
            <a:srgbClr val="E6F0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63F"/>
                </a:solidFill>
              </a:defRPr>
            </a:pPr>
            <a:r>
              <a:t>Key message: OpenVoxel is strongest on complex referring-expression segmentation.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5669280" cy="425196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A0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63F"/>
                </a:solidFill>
              </a:defRPr>
            </a:pPr>
            <a:r>
              <a:t>Table 1</a:t>
            </a:r>
          </a:p>
          <a:p>
            <a:pPr algn="ctr">
              <a:defRPr sz="1200">
                <a:solidFill>
                  <a:srgbClr val="464E5A"/>
                </a:solidFill>
              </a:defRPr>
            </a:pPr>
            <a:r>
              <a:t>Ref-LeRF RES mIoU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12280" y="1874519"/>
            <a:ext cx="2148840" cy="12344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8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C84E4E"/>
                </a:solidFill>
              </a:defRPr>
            </a:pPr>
            <a:r>
              <a:t>ReferSplat</a:t>
            </a:r>
          </a:p>
          <a:p>
            <a:pPr algn="ctr">
              <a:defRPr sz="2400" b="1">
                <a:solidFill>
                  <a:srgbClr val="12263F"/>
                </a:solidFill>
              </a:defRPr>
            </a:pPr>
            <a:r>
              <a:t>29.2 mIoU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874519"/>
            <a:ext cx="2148840" cy="12344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3A9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A966C"/>
                </a:solidFill>
              </a:defRPr>
            </a:pPr>
            <a:r>
              <a:t>OpenVoxel</a:t>
            </a:r>
          </a:p>
          <a:p>
            <a:pPr algn="ctr">
              <a:defRPr sz="2400" b="1">
                <a:solidFill>
                  <a:srgbClr val="12263F"/>
                </a:solidFill>
              </a:defRPr>
            </a:pPr>
            <a:r>
              <a:t>42.4 mIoU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3657600"/>
            <a:ext cx="4480560" cy="1737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464E5A"/>
                </a:solidFill>
              </a:defRPr>
            </a:pPr>
            <a:r>
              <a:t>No ground-truth mask-caption annotation.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464E5A"/>
                </a:solidFill>
              </a:defRPr>
            </a:pPr>
            <a:r>
              <a:t>Improves complex sentence-query segmentation.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464E5A"/>
                </a:solidFill>
              </a:defRPr>
            </a:pPr>
            <a:r>
              <a:t>Runtime is much shorter than training-based methods.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</a:defRPr>
            </a:pPr>
            <a:r>
              <a:t>Source: Huang et al., “OpenVoxel”, CVPR 2026 paper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Why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42415"/>
            <a:ext cx="10972800" cy="502920"/>
          </a:xfrm>
          <a:prstGeom prst="roundRect">
            <a:avLst/>
          </a:prstGeom>
          <a:solidFill>
            <a:srgbClr val="E6F0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63F"/>
                </a:solidFill>
              </a:defRPr>
            </a:pPr>
            <a:r>
              <a:t>Key message: The key advantage is replacing hidden embeddings with readable object captions.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120640" cy="502920"/>
          </a:xfrm>
          <a:prstGeom prst="roundRect">
            <a:avLst/>
          </a:prstGeom>
          <a:solidFill>
            <a:srgbClr val="EEF9F2"/>
          </a:solidFill>
          <a:ln w="12700">
            <a:solidFill>
              <a:srgbClr val="3A9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A966C"/>
                </a:solidFill>
              </a:defRPr>
            </a:pPr>
            <a:r>
              <a:t>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4846320" cy="2468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Training-free after SVR reconstruction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No manual object-description annotations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Scene map is human-readable and easier to debug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MLLM can reason over attributes, function, and relations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50292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C8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C84E4E"/>
                </a:solidFill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560320"/>
            <a:ext cx="4846320" cy="2468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Depends on SAM2 grouping quality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Depends on DAM / Qwen caption accuracy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Large scenes may create very long scene maps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Spatial reasoning can still be difficult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</a:defRPr>
            </a:pPr>
            <a:r>
              <a:t>Source: Huang et al., “OpenVoxel”, CVPR 2026 paper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Takeaway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42415"/>
            <a:ext cx="10972800" cy="502920"/>
          </a:xfrm>
          <a:prstGeom prst="roundRect">
            <a:avLst/>
          </a:prstGeom>
          <a:solidFill>
            <a:srgbClr val="E6F0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63F"/>
                </a:solidFill>
              </a:defRPr>
            </a:pPr>
            <a:r>
              <a:t>Key message: OpenVoxel reformulates 3D open-vocabulary understanding as text search over captioned 3D objects.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108960" cy="731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B4B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2263F"/>
                </a:solidFill>
              </a:defRPr>
            </a:pPr>
            <a:r>
              <a:t>Sparse Voxels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828800"/>
            <a:ext cx="3108960" cy="73152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2B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B6FC2"/>
                </a:solidFill>
              </a:defRPr>
            </a:pPr>
            <a:r>
              <a:t>Object Captions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828800"/>
            <a:ext cx="3108960" cy="731520"/>
          </a:xfrm>
          <a:prstGeom prst="roundRect">
            <a:avLst/>
          </a:prstGeom>
          <a:solidFill>
            <a:srgbClr val="EEF9F2"/>
          </a:solidFill>
          <a:ln w="12700">
            <a:solidFill>
              <a:srgbClr val="3A9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3A966C"/>
                </a:solidFill>
              </a:defRPr>
            </a:pPr>
            <a:r>
              <a:t>Query Mask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1648" y="1993392"/>
            <a:ext cx="411480" cy="411480"/>
          </a:xfrm>
          <a:prstGeom prst="rightArrow">
            <a:avLst/>
          </a:prstGeom>
          <a:solidFill>
            <a:srgbClr val="E68E3F"/>
          </a:solidFill>
          <a:ln>
            <a:solidFill>
              <a:srgbClr val="E68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653527" y="1993392"/>
            <a:ext cx="411480" cy="411480"/>
          </a:xfrm>
          <a:prstGeom prst="rightArrow">
            <a:avLst/>
          </a:prstGeom>
          <a:solidFill>
            <a:srgbClr val="E68E3F"/>
          </a:solidFill>
          <a:ln>
            <a:solidFill>
              <a:srgbClr val="E68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9966960" cy="16459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Best slide message: “Do not train a language field; build a captioned scene map and let an MLLM retrieve the right object.”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464E5A"/>
                </a:solidFill>
              </a:defRPr>
            </a:pPr>
            <a:r>
              <a:t>Suggested figures to insert: Fig. 1 for motivation, Fig. 2 for pipeline, Table 1 for main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5257800"/>
            <a:ext cx="6263640" cy="594360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E68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68E3F"/>
                </a:solidFill>
              </a:defRPr>
            </a:pPr>
            <a:r>
              <a:t>Final conclusion: fast, interpretable, and effective for complex 3D language queries.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</a:defRPr>
            </a:pPr>
            <a:r>
              <a:t>Source: Huang et al., “OpenVoxel”, CVPR 2026 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