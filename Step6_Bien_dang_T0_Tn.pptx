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max_abs_mm (đỉnh)</c:v>
                </c:pt>
              </c:strCache>
            </c:strRef>
          </c:tx>
          <c:spPr>
            <a:solidFill>
              <a:srgbClr val="D7263D"/>
            </a:solidFill>
            <a:ln w="38100" cap="flat">
              <a:solidFill>
                <a:srgbClr val="D726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7263D"/>
              </a:solidFill>
              <a:ln w="9525" cap="flat">
                <a:solidFill>
                  <a:srgbClr val="D726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T0</c:v>
                  </c:pt>
                  <c:pt idx="1">
                    <c:v>T1</c:v>
                  </c:pt>
                  <c:pt idx="2">
                    <c:v>T2</c:v>
                  </c:pt>
                  <c:pt idx="3">
                    <c:v>T3</c:v>
                  </c:pt>
                  <c:pt idx="4">
                    <c:v>T4</c:v>
                  </c:pt>
                  <c:pt idx="5">
                    <c:v>T5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6.3</c:v>
                </c:pt>
                <c:pt idx="2">
                  <c:v>12.6</c:v>
                </c:pt>
                <c:pt idx="3">
                  <c:v>19.9</c:v>
                </c:pt>
                <c:pt idx="4">
                  <c:v>29.7</c:v>
                </c:pt>
                <c:pt idx="5">
                  <c:v>44.5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p95_abs_mm (toàn cloud)</c:v>
                </c:pt>
              </c:strCache>
            </c:strRef>
          </c:tx>
          <c:spPr>
            <a:solidFill>
              <a:srgbClr val="64748B"/>
            </a:solidFill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T0</c:v>
                  </c:pt>
                  <c:pt idx="1">
                    <c:v>T1</c:v>
                  </c:pt>
                  <c:pt idx="2">
                    <c:v>T2</c:v>
                  </c:pt>
                  <c:pt idx="3">
                    <c:v>T3</c:v>
                  </c:pt>
                  <c:pt idx="4">
                    <c:v>T4</c:v>
                  </c:pt>
                  <c:pt idx="5">
                    <c:v>T5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0.6</c:v>
                </c:pt>
                <c:pt idx="2">
                  <c:v>3.4</c:v>
                </c:pt>
                <c:pt idx="3">
                  <c:v>7.5</c:v>
                </c:pt>
                <c:pt idx="4">
                  <c:v>12.9</c:v>
                </c:pt>
                <c:pt idx="5">
                  <c:v>20.4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median_mm (toàn cloud)</c:v>
                </c:pt>
              </c:strCache>
            </c:strRef>
          </c:tx>
          <c:spPr>
            <a:solidFill>
              <a:srgbClr val="B6C2CE"/>
            </a:solidFill>
            <a:ln w="38100" cap="flat">
              <a:solidFill>
                <a:srgbClr val="B6C2C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6C2CE"/>
              </a:solidFill>
              <a:ln w="9525" cap="flat">
                <a:solidFill>
                  <a:srgbClr val="B6C2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T0</c:v>
                  </c:pt>
                  <c:pt idx="1">
                    <c:v>T1</c:v>
                  </c:pt>
                  <c:pt idx="2">
                    <c:v>T2</c:v>
                  </c:pt>
                  <c:pt idx="3">
                    <c:v>T3</c:v>
                  </c:pt>
                  <c:pt idx="4">
                    <c:v>T4</c:v>
                  </c:pt>
                  <c:pt idx="5">
                    <c:v>T5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displacement (mm)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Đo được (max_abs)</c:v>
                </c:pt>
              </c:strCache>
            </c:strRef>
          </c:tx>
          <c:spPr>
            <a:solidFill>
              <a:srgbClr val="0F2A43"/>
            </a:solidFill>
            <a:ln w="38100" cap="flat">
              <a:solidFill>
                <a:srgbClr val="0F2A43"/>
              </a:solidFill>
              <a:prstDash val="solid,dash,sysDot,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2A43"/>
              </a:solidFill>
              <a:ln w="9525" cap="flat">
                <a:solidFill>
                  <a:srgbClr val="0F2A4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T0</c:v>
                  </c:pt>
                  <c:pt idx="1">
                    <c:v>T1</c:v>
                  </c:pt>
                  <c:pt idx="2">
                    <c:v>T2</c:v>
                  </c:pt>
                  <c:pt idx="3">
                    <c:v>T3</c:v>
                  </c:pt>
                  <c:pt idx="4">
                    <c:v>T4</c:v>
                  </c:pt>
                  <c:pt idx="5">
                    <c:v>T5</c:v>
                  </c:pt>
                  <c:pt idx="6">
                    <c:v>T6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6.3</c:v>
                </c:pt>
                <c:pt idx="2">
                  <c:v>12.6</c:v>
                </c:pt>
                <c:pt idx="3">
                  <c:v>19.9</c:v>
                </c:pt>
                <c:pt idx="4">
                  <c:v>29.7</c:v>
                </c:pt>
                <c:pt idx="5">
                  <c:v>44.5</c:v>
                </c:pt>
                <c:pt idx="6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Ngoại suy</c:v>
                </c:pt>
              </c:strCache>
            </c:strRef>
          </c:tx>
          <c:spPr>
            <a:solidFill>
              <a:srgbClr val="14B8A6"/>
            </a:solidFill>
            <a:ln w="38100" cap="flat">
              <a:solidFill>
                <a:srgbClr val="14B8A6"/>
              </a:solidFill>
              <a:prstDash val="solid,dash,sysDot,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T0</c:v>
                  </c:pt>
                  <c:pt idx="1">
                    <c:v>T1</c:v>
                  </c:pt>
                  <c:pt idx="2">
                    <c:v>T2</c:v>
                  </c:pt>
                  <c:pt idx="3">
                    <c:v>T3</c:v>
                  </c:pt>
                  <c:pt idx="4">
                    <c:v>T4</c:v>
                  </c:pt>
                  <c:pt idx="5">
                    <c:v>T5</c:v>
                  </c:pt>
                  <c:pt idx="6">
                    <c:v>T6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44.5</c:v>
                </c:pt>
                <c:pt idx="6">
                  <c:v>59.4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CAUTION 10mm</c:v>
                </c:pt>
              </c:strCache>
            </c:strRef>
          </c:tx>
          <c:spPr>
            <a:solidFill>
              <a:srgbClr val="E0A100"/>
            </a:solidFill>
            <a:ln w="38100" cap="flat">
              <a:solidFill>
                <a:srgbClr val="E0A100"/>
              </a:solidFill>
              <a:prstDash val="solid,dash,sysDot,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A100"/>
              </a:solidFill>
              <a:ln w="9525" cap="flat">
                <a:solidFill>
                  <a:srgbClr val="E0A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T0</c:v>
                  </c:pt>
                  <c:pt idx="1">
                    <c:v>T1</c:v>
                  </c:pt>
                  <c:pt idx="2">
                    <c:v>T2</c:v>
                  </c:pt>
                  <c:pt idx="3">
                    <c:v>T3</c:v>
                  </c:pt>
                  <c:pt idx="4">
                    <c:v>T4</c:v>
                  </c:pt>
                  <c:pt idx="5">
                    <c:v>T5</c:v>
                  </c:pt>
                  <c:pt idx="6">
                    <c:v>T6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CRITICAL 25mm</c:v>
                </c:pt>
              </c:strCache>
            </c:strRef>
          </c:tx>
          <c:spPr>
            <a:solidFill>
              <a:srgbClr val="D7263D"/>
            </a:solidFill>
            <a:ln w="38100" cap="flat">
              <a:solidFill>
                <a:srgbClr val="D7263D"/>
              </a:solidFill>
              <a:prstDash val="solid,dash,sysDot,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7263D"/>
              </a:solidFill>
              <a:ln w="9525" cap="flat">
                <a:solidFill>
                  <a:srgbClr val="D726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T0</c:v>
                  </c:pt>
                  <c:pt idx="1">
                    <c:v>T1</c:v>
                  </c:pt>
                  <c:pt idx="2">
                    <c:v>T2</c:v>
                  </c:pt>
                  <c:pt idx="3">
                    <c:v>T3</c:v>
                  </c:pt>
                  <c:pt idx="4">
                    <c:v>T4</c:v>
                  </c:pt>
                  <c:pt idx="5">
                    <c:v>T5</c:v>
                  </c:pt>
                  <c:pt idx="6">
                    <c:v>T6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displacement (mm)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mặt cắt</c:v>
                </c:pt>
              </c:strCache>
            </c:strRef>
          </c:tx>
          <c:spPr>
            <a:solidFill>
              <a:srgbClr val="2EA8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A8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A1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7263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OK</c:v>
                  </c:pt>
                  <c:pt idx="1">
                    <c:v>CAUTION</c:v>
                  </c:pt>
                  <c:pt idx="2">
                    <c:v>CRITICAL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9</c:v>
                </c:pt>
                <c:pt idx="2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1088136"/>
            <a:ext cx="5852160" cy="4681728"/>
          </a:xfrm>
          <a:prstGeom prst="ellipse">
            <a:avLst/>
          </a:prstGeom>
          <a:solidFill>
            <a:srgbClr val="0F2A43"/>
          </a:solidFill>
          <a:ln w="25400">
            <a:solidFill>
              <a:srgbClr val="163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1600200"/>
            <a:ext cx="4572000" cy="3657600"/>
          </a:xfrm>
          <a:prstGeom prst="ellipse">
            <a:avLst/>
          </a:prstGeom>
          <a:solidFill>
            <a:srgbClr val="0F2A43"/>
          </a:solidFill>
          <a:ln w="25400">
            <a:solidFill>
              <a:srgbClr val="16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2112264"/>
            <a:ext cx="3291840" cy="2633472"/>
          </a:xfrm>
          <a:prstGeom prst="ellipse">
            <a:avLst/>
          </a:prstGeom>
          <a:solidFill>
            <a:srgbClr val="0F2A43"/>
          </a:solidFill>
          <a:ln w="25400">
            <a:solidFill>
              <a:srgbClr val="163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2624328"/>
            <a:ext cx="2011680" cy="1609344"/>
          </a:xfrm>
          <a:prstGeom prst="ellipse">
            <a:avLst/>
          </a:prstGeom>
          <a:solidFill>
            <a:srgbClr val="0F2A43"/>
          </a:solidFill>
          <a:ln w="381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TUNNEL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6 — Phân tích biến dạng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 thời gian (T0 → Tn)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hoạt động thế nào và kết quả nghĩa là gì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M3C2 displacement</a:t>
            </a:r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4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&amp; forecast</a:t>
            </a:r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4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theo section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6 nằm ở đâu &amp; giải quyết điều gì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448671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4486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Load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8479" y="1508760"/>
            <a:ext cx="1448671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8479" y="1508760"/>
            <a:ext cx="14486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Làm sạch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56878" y="1508760"/>
            <a:ext cx="1448671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56878" y="1508760"/>
            <a:ext cx="14486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Đăng ký T0/Tn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15277" y="1508760"/>
            <a:ext cx="1448671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15277" y="1508760"/>
            <a:ext cx="14486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Tìm tuyến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73675" y="1508760"/>
            <a:ext cx="1448671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73675" y="1508760"/>
            <a:ext cx="14486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Mặt cắt 2D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32074" y="1508760"/>
            <a:ext cx="1448671" cy="640080"/>
          </a:xfrm>
          <a:prstGeom prst="roundRect">
            <a:avLst>
              <a:gd name="adj" fmla="val 857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32074" y="1508760"/>
            <a:ext cx="14486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Biến dạng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990473" y="1508760"/>
            <a:ext cx="1448671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90473" y="1508760"/>
            <a:ext cx="14486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Cảnh báo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286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chỉ chạy khi đã có T0 + Tn (đã làm sạch &amp; đăng ký về cùng hệ toạ độ).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880360"/>
            <a:ext cx="51800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2880360"/>
            <a:ext cx="91440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044952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Đo chuyển vị bề mặt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" y="3447288"/>
            <a:ext cx="4722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đám mây Tn với mốc T0 để biết mỗi điểm/section đã dịch chuyển bao nhiêu mm.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68796" y="2880360"/>
            <a:ext cx="51800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68796" y="2880360"/>
            <a:ext cx="91440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6643116" y="3044952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 dõi xu hướng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43116" y="3447288"/>
            <a:ext cx="4722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epoch (T0…Tn) → đường biến dạng theo thời gian, thấy được tốc độ tăng.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" y="4572000"/>
            <a:ext cx="51800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4572000"/>
            <a:ext cx="91440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736592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Dự báo ngưỡng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14400" y="5138928"/>
            <a:ext cx="4722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Ngoại suy xu hướng để ước tính khi nào chạm CAUTION / CRITICAL.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368796" y="4572000"/>
            <a:ext cx="51800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68796" y="4572000"/>
            <a:ext cx="91440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6643116" y="4736592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Khoanh vùng cảnh báo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643116" y="5138928"/>
            <a:ext cx="4722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từng mặt cắt OK / CAUTION / CRITICAL, gắn đúng chainage cục bộ.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 NỀN TẢNG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T0, Tn và vì sao phải đăng ký trước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80076" cy="1828800"/>
          </a:xfrm>
          <a:prstGeom prst="roundRect">
            <a:avLst>
              <a:gd name="adj" fmla="val 4000"/>
            </a:avLst>
          </a:prstGeom>
          <a:solidFill>
            <a:srgbClr val="0F2A4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8308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— MỐC THAM CHIẾU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quét gốc, coi là tunnel “sạch / chưa biến dạng”. Mọi chuyển vị được đo TƯƠNG ĐỐI so với T0.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68796" y="1554480"/>
            <a:ext cx="5180076" cy="1828800"/>
          </a:xfrm>
          <a:prstGeom prst="roundRect">
            <a:avLst>
              <a:gd name="adj" fmla="val 4000"/>
            </a:avLst>
          </a:prstGeom>
          <a:solidFill>
            <a:srgbClr val="14B8A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88836" y="178308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— EPOCH GIÁM SÁT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88836" y="219456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quét sau (tháng/quý). So với T0 để lấy lún đỉnh, hội tụ, ô-van, lệch tâm tại thời điểm 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1090879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794760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Đăng ký (registration) phải làm TRƯỚC Step 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4206240"/>
            <a:ext cx="10268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lần quét thường ở hệ toạ độ khác nhau (đặt máy khác). Nếu không đưa Tn về đúng khung của T0, hiệu số sẽ là sai số đặt máy chứ không phải biến dạng.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trọng: registration dùng trimmed-ICP / target cố định để căn theo phần ỔN ĐỊNH, KHÔNG được triệt tiêu biến dạng cục bộ.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chứng: test register_epochs giữ lún cục bộ 32.6 mm / GT 60 mm (không bị “nuốt” về 0).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CON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Các bước trong Step 6: 6.1 → 6.5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452878" cy="3291840"/>
          </a:xfrm>
          <a:prstGeom prst="roundRect">
            <a:avLst>
              <a:gd name="adj" fmla="val 29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5039" y="2011680"/>
            <a:ext cx="822960" cy="82296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6" name="Text 4"/>
          <p:cNvSpPr/>
          <p:nvPr/>
        </p:nvSpPr>
        <p:spPr>
          <a:xfrm>
            <a:off x="1455039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087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epochs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520440"/>
            <a:ext cx="205054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 T0 (tham chiếu) và Tn (giám sát). Có thể nạp cả chuỗi T0…T5.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29534" y="29718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58718" y="1691640"/>
            <a:ext cx="2452878" cy="3291840"/>
          </a:xfrm>
          <a:prstGeom prst="roundRect">
            <a:avLst>
              <a:gd name="adj" fmla="val 29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3677" y="2011680"/>
            <a:ext cx="822960" cy="82296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2" name="Text 10"/>
          <p:cNvSpPr/>
          <p:nvPr/>
        </p:nvSpPr>
        <p:spPr>
          <a:xfrm>
            <a:off x="4273677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41598" y="3017520"/>
            <a:ext cx="2087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 chart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9886" y="3520440"/>
            <a:ext cx="205054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Vẽ xu hướng biến dạng theo từng epoch (p95 và đỉnh max_abs).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8172" y="29718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77356" y="1691640"/>
            <a:ext cx="2452878" cy="3291840"/>
          </a:xfrm>
          <a:prstGeom prst="roundRect">
            <a:avLst>
              <a:gd name="adj" fmla="val 29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92315" y="2011680"/>
            <a:ext cx="822960" cy="82296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8" name="Text 16"/>
          <p:cNvSpPr/>
          <p:nvPr/>
        </p:nvSpPr>
        <p:spPr>
          <a:xfrm>
            <a:off x="7092315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60236" y="3017520"/>
            <a:ext cx="2087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M3C2 map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8524" y="3520440"/>
            <a:ext cx="205054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chuyển vị có dấu T0→Tn theo pháp tuyến bề mặt + ngưỡng phát hiện (LoD).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66810" y="29718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95994" y="1691640"/>
            <a:ext cx="2452878" cy="3291840"/>
          </a:xfrm>
          <a:prstGeom prst="roundRect">
            <a:avLst>
              <a:gd name="adj" fmla="val 29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10953" y="2011680"/>
            <a:ext cx="822960" cy="82296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4" name="Text 22"/>
          <p:cNvSpPr/>
          <p:nvPr/>
        </p:nvSpPr>
        <p:spPr>
          <a:xfrm>
            <a:off x="9910953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78874" y="3017520"/>
            <a:ext cx="2087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97162" y="3520440"/>
            <a:ext cx="205054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Ngoại suy xu hướng → dự báo thời điểm chạm CAUTION / CRITICAL.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Mẹo: với 2 scan (T0/Tn), 6.2 tự thêm baseline T0 = 0 mm rồi nối tới Tn để đường trend có ≥ 2 điểm.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— CÁCH TÍNH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M3C2: chuyển vị có dấu + ngưỡng phát hiện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766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92808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80136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Pháp tuyến bề mặt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1122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mỗi corepoint, ước lượng pháp tuyến cục bộ trong bán kính normal_radius.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6766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71800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880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Khoảng cách có dấu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1912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Chiếu sai khác T0→Tn lên pháp tuyến trong hình trụ cyl_radius → distance_mm (âm = lún vào).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6766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50792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50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9593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LoD (mức phát hiện)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2702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lod_mm = độ bất định do nhám/nhiễu. Chỉ |distance| &gt; LoD mới coi là biến dạng THẬT.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928616"/>
            <a:ext cx="6766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129784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129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503834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significant mask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3492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dấu các điểm vượt LoD → loại nhiễu, tránh báo động giả.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0" y="1691640"/>
            <a:ext cx="3776472" cy="3657600"/>
          </a:xfrm>
          <a:prstGeom prst="roundRect">
            <a:avLst>
              <a:gd name="adj" fmla="val 2000"/>
            </a:avLst>
          </a:prstGeom>
          <a:solidFill>
            <a:srgbClr val="0F2A4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4672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con số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0" y="2286000"/>
            <a:ext cx="322783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distance_mm &lt; 0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bề mặt dịch VÀO trong (lún/hội tụ).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|distance| ≤ LoD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vùng nhiễu → KHÔNG kết luận.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quality_warning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&gt;50% corepoint không có điểm Tn lân cận (quét thiếu) → cảnh báo độ phủ.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THẬT — DỮ LIỆU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Bản đồ biến dạng M3C2: T0 → T5</a:t>
            </a:r>
            <a:endParaRPr lang="en-US" sz="2800" dirty="0"/>
          </a:p>
        </p:txBody>
      </p:sp>
      <p:pic>
        <p:nvPicPr>
          <p:cNvPr id="4" name="Image 0" descr="step6_figures/m3c2_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400800" cy="3310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56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Đám mây 3D tô màu theo chuyển vị (PyVista off-screen)</a:t>
            </a:r>
            <a:endParaRPr lang="en-US" sz="1100" dirty="0"/>
          </a:p>
        </p:txBody>
      </p:sp>
      <p:pic>
        <p:nvPicPr>
          <p:cNvPr id="6" name="Image 1" descr="step6_figures/m3c2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00200"/>
            <a:ext cx="4572000" cy="18105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178040" y="365760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406640" y="37947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vùng hư hỏng cục bộ (đúng ground truth):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Lún đỉnh @ chainage ~20 m  (xanh, đỉnh)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Hội tụ vách @ ~45 m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Hư hỏng cục bộ @ ~65 m (từ T3)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15.456 corepoint · method = M3C2 · đỉnh chuyển vị thật −44.5 mm. Không phải minh hoạ — chạy từ dataset time_series_deformation.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 CHÍNH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tham số biến dạng &amp; ngưỡng cảnh báo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18007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109728" cy="1783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2880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Crown settlement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249424"/>
            <a:ext cx="46314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Lún đỉnh — Hạ thấp của đỉnh hầm so với T0.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286207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BF1D2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620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 </a:t>
            </a:r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 mm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34640" y="286207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7D7DC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8620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</a:t>
            </a:r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25 mm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68796" y="1645920"/>
            <a:ext cx="518007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68796" y="1645920"/>
            <a:ext cx="109728" cy="1783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688836" y="182880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Lateral convergence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88836" y="2249424"/>
            <a:ext cx="46314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tụ ngang (dW) — Thu hẹp bề rộng giữa hai vách.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88836" y="286207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BF1D2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8836" y="28620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 </a:t>
            </a:r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 mm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63356" y="286207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7D7DC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63356" y="28620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</a:t>
            </a:r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25 mm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518007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749040"/>
            <a:ext cx="109728" cy="1783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93192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Ovality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4352544"/>
            <a:ext cx="46314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ô-van — Mức méo khỏi hình tròn lý tưởng.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0120" y="496519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BF1D2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9651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 </a:t>
            </a:r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0.5 %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834640" y="496519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7D7DC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0" y="49651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</a:t>
            </a:r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1.0 %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68796" y="3749040"/>
            <a:ext cx="518007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68796" y="3749040"/>
            <a:ext cx="109728" cy="1783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6688836" y="393192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Eccentricity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88836" y="4352544"/>
            <a:ext cx="46314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Lệch tâm — Dịch tâm mặt cắt so với trục.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88836" y="496519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BF1D2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88836" y="49651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 </a:t>
            </a:r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 mm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563356" y="496519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7D7DC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63356" y="49651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</a:t>
            </a:r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25 mm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— ĐỒ THỊ XU HƯỚNG (SỐ ĐO THẬT)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 vs p95 vs đỉnh max_abs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45920"/>
            <a:ext cx="3776472" cy="4206240"/>
          </a:xfrm>
          <a:prstGeom prst="roundRect">
            <a:avLst>
              <a:gd name="adj" fmla="val 19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182880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Vì sao theo dõi max_abs?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01000" y="2286000"/>
            <a:ext cx="331927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dạng thường CỤC BỘ (một section).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toàn cloud bị pha loãng → có thể không bao giờ vượt ngưỡng dù section đó đã nguy hiểm.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max_abs (đỉnh) bám đúng điểm xấu nhất → cảnh báo sớm.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đo THẬT (T5): max_abs = 44.5 mm, p95 = 20.4 mm, nhưng median ≈ 0 mm.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toàn cloud không nhúc nhích dù đỉnh đã 44.5 mm — minh chứng vì sao không dùng median.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— DỰ BÁO (TRÊN SỐ ĐO THẬT)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Ngoại suy max_abs tới ngưỡng an toàn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45920"/>
            <a:ext cx="3776472" cy="4206240"/>
          </a:xfrm>
          <a:prstGeom prst="roundRect">
            <a:avLst>
              <a:gd name="adj" fmla="val 1937"/>
            </a:avLst>
          </a:prstGeom>
          <a:solidFill>
            <a:srgbClr val="0F2A4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182880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trả về (số THẬT)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01000" y="2286000"/>
            <a:ext cx="331927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= +14.94 mm/đơn vị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tăng tức thời tại T5.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1.00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hướng rất khớp → đáng tin (R²&lt;0.5 sẽ gắn cờ low_confidence).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vượt CAUTION &amp; CRITICAL tại T5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ngoại suy T6 ≈ 59 mm nếu giữ tốc độ.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CẢNH BÁO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Ngưỡng theo mặt cắt (so với T0)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834640"/>
                <a:gridCol w="1234440"/>
                <a:gridCol w="1234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số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Ý nghĩa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0A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8A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 / dH / dR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Thay đổi rộng / cao / bán kính vs T0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 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25 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Thay đổi độ ô-van vs T0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1.0 %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Thay đổi lệch tâm vs T0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 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25 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Xâm phạm giới hạn tĩnh không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 phạm = 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45920"/>
            <a:ext cx="3730752" cy="39319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0" y="1828800"/>
            <a:ext cx="3273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“Local gate” — chống báo tràn lan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046720" y="2286000"/>
            <a:ext cx="32735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dOval, dEcc, đơn-scan: 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báo khi vừa vượt ngưỡng VỪA là dị thường cục bộ (v ≥ trung vị + 3·MAD). Loại bỏ lệch hệ thống do registration sơn đỏ cả hầm.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dW, dH, dR: 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theo ngưỡng tuyệt đối (không local gate) — thay đổi kích thước thật là biến dạng thật, dù trải rộng.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một bộ phân loại dùng chung cho 2D / ruler / 3D / dashboard → mọi view nhất quán.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KẾT QUẢ — VÍ DỤ THẬT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complex_warning (80 mặt cắt)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737360"/>
            <a:ext cx="47823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995160" y="184708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92.0 mm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098280" y="19202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crown_max đo được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098280" y="230428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≈ 90 mm — khớp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66560" y="3063240"/>
            <a:ext cx="47823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995160" y="31729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098280" y="32461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dải biến dạng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98280" y="363016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 section trong dải GT bị flag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766560" y="4389120"/>
            <a:ext cx="47823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95160" y="44988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9098280" y="45720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mặt cắt CRITICAL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098280" y="495604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khoanh đúng vùng hư hỏng cục bộ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&amp; LƯU 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Đọc kết quả cho đúng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938528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Dấu của chuyển vị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Âm = vào trong (lún/hội tụ), dương = ra ngoài. Luôn đọc kèm chainage để biết VỊ TRÍ.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98264" y="1737360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26864" y="1965960"/>
            <a:ext cx="365760" cy="36576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0" name="Text 8"/>
          <p:cNvSpPr/>
          <p:nvPr/>
        </p:nvSpPr>
        <p:spPr>
          <a:xfrm>
            <a:off x="5129784" y="1938528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LoD là bộ lọc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72584" y="2606040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dưới LoD nằm trong nhiễu — đừng kết luận biến dạng từ chúng.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6448" y="1737360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85048" y="1965960"/>
            <a:ext cx="365760" cy="365760"/>
          </a:xfrm>
          <a:prstGeom prst="ellipse">
            <a:avLst/>
          </a:prstGeom>
          <a:solidFill>
            <a:srgbClr val="E0A100"/>
          </a:solidFill>
          <a:ln/>
        </p:spPr>
      </p:sp>
      <p:sp>
        <p:nvSpPr>
          <p:cNvPr id="14" name="Text 12"/>
          <p:cNvSpPr/>
          <p:nvPr/>
        </p:nvSpPr>
        <p:spPr>
          <a:xfrm>
            <a:off x="8887968" y="1938528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Cảnh báo độ phủ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0768" y="2606040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quality_warning báo khi Tn quét thiếu (&gt;50% không có lân cận) — số liệu khi đó không đáng tin.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06908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041648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Registration giữ biến dạng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căn theo phần ổn định; biến dạng cục bộ KHÔNG bị triệt tiêu (đã kiểm chứng).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98264" y="3840480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4069080"/>
            <a:ext cx="365760" cy="36576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2" name="Text 20"/>
          <p:cNvSpPr/>
          <p:nvPr/>
        </p:nvSpPr>
        <p:spPr>
          <a:xfrm>
            <a:off x="5129784" y="4041648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Cục bộ &gt; toàn cục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72584" y="4709160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đỉnh max_abs và cảnh báo theo section, không dựa percentile toàn cloud.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6448" y="3840480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85048" y="4069080"/>
            <a:ext cx="365760" cy="365760"/>
          </a:xfrm>
          <a:prstGeom prst="ellipse">
            <a:avLst/>
          </a:prstGeom>
          <a:solidFill>
            <a:srgbClr val="E0A100"/>
          </a:solidFill>
          <a:ln/>
        </p:spPr>
      </p:sp>
      <p:sp>
        <p:nvSpPr>
          <p:cNvPr id="26" name="Text 24"/>
          <p:cNvSpPr/>
          <p:nvPr/>
        </p:nvSpPr>
        <p:spPr>
          <a:xfrm>
            <a:off x="8887968" y="4041648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cần R²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30768" y="4709160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tin dự báo ngưỡng khi R² ≥ 0.5 và đủ ≥ 3 epoch.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6 trong một câu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Tn với mốc T0 để đo chuyển vị bề mặt (M3C2 + LoD), dựng xu hướng &amp; dự báo theo thời gian, rồi khoanh CAUTION/CRITICAL theo từng mặt cắt cục bộ.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3008376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971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sạch + đăng ký T0/Tn trước khi chạy 6.x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666744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63016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M3C2: chỉ tin điểm vượt LoD; xem quality_warning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325112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428853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theo dõi đỉnh max_abs (bắt defect cục bộ)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4983480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494690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forecast: cần ≥ 3 epoch và R² ≥ 0.5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5641848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641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56052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gắn đúng chainage; mọi view dùng chung bộ phân loại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6 — Phan tich bien dang T0-&gt;Tn</dc:title>
  <dc:subject>PptxGenJS Presentation</dc:subject>
  <dc:creator>SSL Tunnel Analysis</dc:creator>
  <cp:lastModifiedBy>SSL Tunnel Analysis</cp:lastModifiedBy>
  <cp:revision>1</cp:revision>
  <dcterms:created xsi:type="dcterms:W3CDTF">2026-06-17T18:58:52Z</dcterms:created>
  <dcterms:modified xsi:type="dcterms:W3CDTF">2026-06-17T18:58:52Z</dcterms:modified>
</cp:coreProperties>
</file>